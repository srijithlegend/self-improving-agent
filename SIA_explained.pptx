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1202ff20-c2a5-999e-b984-f3d218277bdc}">
          <p14:sldIdLst>
            <p14:sldId id="256"/>
            <p14:sldId id="257"/>
            <p14:sldId id="258"/>
            <p14:sldId id="259"/>
          </p14:sldIdLst>
        </p14:section>
        <p14:section name="How it learns" id="{9156ab1f-9aa1-692c-4589-f86eaa604977}">
          <p14:sldIdLst>
            <p14:sldId id="260"/>
            <p14:sldId id="261"/>
            <p14:sldId id="262"/>
            <p14:sldId id="263"/>
            <p14:sldId id="264"/>
            <p14:sldId id="265"/>
            <p14:sldId id="266"/>
          </p14:sldIdLst>
        </p14:section>
        <p14:section name="Results" id="{4f1f8120-6505-9789-2881-214cad49e46e}">
          <p14:sldIdLst>
            <p14:sldId id="267"/>
            <p14:sldId id="268"/>
            <p14:sldId id="269"/>
            <p14:sldId id="270"/>
            <p14:sldId id="271"/>
          </p14:sldIdLst>
        </p14:section>
        <p14:section name="Make it better" id="{a96dce14-9f13-33f6-0d1b-f79e84e758ad}">
          <p14:sldIdLst>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Eval score on the same 6 examples</a:t>
            </a:r>
          </a:p>
        </c:rich>
      </c:tx>
      <c:layout/>
      <c:overlay val="0"/>
    </c:title>
    <c:autoTitleDeleted val="0"/>
    <c:plotArea>
      <c:layout/>
      <c:barChart>
        <c:barDir val="col"/>
        <c:grouping val="clustered"/>
        <c:varyColors val="0"/>
        <c:ser>
          <c:idx val="0"/>
          <c:order val="0"/>
          <c:tx>
            <c:strRef>
              <c:f>Sheet1!$B$1</c:f>
              <c:strCache>
                <c:ptCount val="1"/>
                <c:pt idx="0">
                  <c:v>Run 1</c:v>
                </c:pt>
              </c:strCache>
            </c:strRef>
          </c:tx>
          <c:spPr>
            <a:solidFill>
              <a:srgbClr val="5E6B80"/>
            </a:solidFill>
            <a:effectLst/>
          </c:spPr>
          <c:invertIfNegative val="0"/>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Baseline (nothing learned)</c:v>
                  </c:pt>
                  <c:pt idx="1">
                    <c:v>With learned lessons</c:v>
                  </c:pt>
                  <c:pt idx="2">
                    <c:v>Candidate playbook</c:v>
                  </c:pt>
                </c:lvl>
              </c:multiLvlStrCache>
            </c:multiLvlStrRef>
          </c:cat>
          <c:val>
            <c:numRef>
              <c:f>Sheet1!$B$2:$B$4</c:f>
              <c:numCache>
                <c:formatCode>General</c:formatCode>
                <c:ptCount val="3"/>
                <c:pt idx="0">
                  <c:v>0.6</c:v>
                </c:pt>
                <c:pt idx="1">
                  <c:v>0.73</c:v>
                </c:pt>
                <c:pt idx="2">
                  <c:v>0.65</c:v>
                </c:pt>
              </c:numCache>
            </c:numRef>
          </c:val>
        </c:ser>
        <c:ser>
          <c:idx val="1"/>
          <c:order val="1"/>
          <c:tx>
            <c:strRef>
              <c:f>Sheet1!$C$1</c:f>
              <c:strCache>
                <c:ptCount val="1"/>
                <c:pt idx="0">
                  <c:v>Run 2</c:v>
                </c:pt>
              </c:strCache>
            </c:strRef>
          </c:tx>
          <c:spPr>
            <a:solidFill>
              <a:srgbClr val="E39B2D"/>
            </a:solidFill>
            <a:effectLst/>
          </c:spPr>
          <c:invertIfNegative val="0"/>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Baseline (nothing learned)</c:v>
                  </c:pt>
                  <c:pt idx="1">
                    <c:v>With learned lessons</c:v>
                  </c:pt>
                  <c:pt idx="2">
                    <c:v>Candidate playbook</c:v>
                  </c:pt>
                </c:lvl>
              </c:multiLvlStrCache>
            </c:multiLvlStrRef>
          </c:cat>
          <c:val>
            <c:numRef>
              <c:f>Sheet1!$C$2:$C$4</c:f>
              <c:numCache>
                <c:formatCode>General</c:formatCode>
                <c:ptCount val="3"/>
                <c:pt idx="0">
                  <c:v>0.95</c:v>
                </c:pt>
                <c:pt idx="1">
                  <c:v>0.53</c:v>
                </c:pt>
                <c:pt idx="2">
                  <c:v>0.67</c:v>
                </c:pt>
              </c:numCache>
            </c:numRef>
          </c:val>
        </c:ser>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8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6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80"/>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5E6B8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E"/>
                </a:solidFill>
                <a:latin typeface="+mn-lt"/>
              </a:defRPr>
            </a:pPr>
            <a:r>
              <a:rPr sz="1400" b="0" i="0" u="none" strike="noStrike">
                <a:solidFill>
                  <a:srgbClr val="16202E"/>
                </a:solidFill>
                <a:latin typeface="+mn-lt"/>
              </a:rPr>
              <a:t>Average score, same agent, same session</a:t>
            </a:r>
          </a:p>
        </c:rich>
      </c:tx>
      <c:layout/>
      <c:overlay val="0"/>
    </c:title>
    <c:autoTitleDeleted val="0"/>
    <c:plotArea>
      <c:layout/>
      <c:barChart>
        <c:barDir val="col"/>
        <c:grouping val="clustered"/>
        <c:varyColors val="0"/>
        <c:ser>
          <c:idx val="0"/>
          <c:order val="0"/>
          <c:tx>
            <c:strRef>
              <c:f>Sheet1!$B$1</c:f>
              <c:strCache>
                <c:ptCount val="1"/>
                <c:pt idx="0">
                  <c:v>Practice: self-graded, no answer key</c:v>
                </c:pt>
              </c:strCache>
            </c:strRef>
          </c:tx>
          <c:spPr>
            <a:solidFill>
              <a:srgbClr val="9FB7D3"/>
            </a:solidFill>
            <a:effectLst/>
          </c:spPr>
          <c:invertIfNegative val="0"/>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cat>
            <c:multiLvlStrRef>
              <c:f>Sheet1!$A$2:$A$3</c:f>
              <c:multiLvlStrCache>
                <c:ptCount val="2"/>
                <c:lvl>
                  <c:pt idx="0">
                    <c:v>Run 1</c:v>
                  </c:pt>
                  <c:pt idx="1">
                    <c:v>Run 2</c:v>
                  </c:pt>
                </c:lvl>
              </c:multiLvlStrCache>
            </c:multiLvlStrRef>
          </c:cat>
          <c:val>
            <c:numRef>
              <c:f>Sheet1!$B$2:$B$3</c:f>
              <c:numCache>
                <c:formatCode>General</c:formatCode>
                <c:ptCount val="2"/>
                <c:pt idx="0">
                  <c:v>0.93</c:v>
                </c:pt>
                <c:pt idx="1">
                  <c:v>0.92</c:v>
                </c:pt>
              </c:numCache>
            </c:numRef>
          </c:val>
        </c:ser>
        <c:ser>
          <c:idx val="1"/>
          <c:order val="1"/>
          <c:tx>
            <c:strRef>
              <c:f>Sheet1!$C$1</c:f>
              <c:strCache>
                <c:ptCount val="1"/>
                <c:pt idx="0">
                  <c:v>Eval: graded against a hand-checked answer</c:v>
                </c:pt>
              </c:strCache>
            </c:strRef>
          </c:tx>
          <c:spPr>
            <a:solidFill>
              <a:srgbClr val="C8463D"/>
            </a:solidFill>
            <a:effectLst/>
          </c:spPr>
          <c:invertIfNegative val="0"/>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cat>
            <c:multiLvlStrRef>
              <c:f>Sheet1!$A$2:$A$3</c:f>
              <c:multiLvlStrCache>
                <c:ptCount val="2"/>
                <c:lvl>
                  <c:pt idx="0">
                    <c:v>Run 1</c:v>
                  </c:pt>
                  <c:pt idx="1">
                    <c:v>Run 2</c:v>
                  </c:pt>
                </c:lvl>
              </c:multiLvlStrCache>
            </c:multiLvlStrRef>
          </c:cat>
          <c:val>
            <c:numRef>
              <c:f>Sheet1!$C$2:$C$3</c:f>
              <c:numCache>
                <c:formatCode>General</c:formatCode>
                <c:ptCount val="2"/>
                <c:pt idx="0">
                  <c:v>0.73</c:v>
                </c:pt>
                <c:pt idx="1">
                  <c:v>0.53</c:v>
                </c:pt>
              </c:numCache>
            </c:numRef>
          </c:val>
        </c:ser>
        <c:dLbls>
          <c:numFmt formatCode="0.00" sourceLinked="0"/>
          <c:txPr>
            <a:bodyPr/>
            <a:lstStyle/>
            <a:p>
              <a:pPr>
                <a:defRPr b="0" i="0" strike="noStrike" sz="1200" u="none">
                  <a:solidFill>
                    <a:srgbClr val="16202E"/>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E6B8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9525" cap="flat">
              <a:solidFill>
                <a:srgbClr val="E3E6EB"/>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80"/>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200">
              <a:solidFill>
                <a:srgbClr val="5E6B8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SIA is your product: an API where a customer creates an AI agent for any field, and the agent gets better with use. This deck explains it in plain terms, shows the real numbers from your two live demo runs, and ends with a concrete plan to make the improvement real and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a normal AI model can't learn after training unless you fine-tune it, which is expensive and provider-specific. SIA sidesteps that. It keeps a growing set of notes (lessons), a strategy document (playbook) and the customer's documents, and pastes the relevant parts into the prompt each time. Better notes mean better answers. Because it's all text, it works with any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 from the customer's side. They set the agent up once (steps 1 and 2), then use it. Every run, rating, study session and improve call feeds the learning. The /run response includes the answer, a self-assigned score, which lessons were used and how many model calls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api.py handles the web side: who you are, which agent you own, and turning errors into HTTP codes. agent.py is the brain of the product: every learning step lives there. store.py keeps everything in one SQLite file, with FTS5 full-text search so the agent can find relevant document chunks and lessons by keyword. llm.py talks to any provider over plain HTTP and retries when free tiers are overloaded.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mechanics. Everything comes back to one idea: the prompt the agent sees is assembled fresh for every task, and learning means changing what goes into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by build_system() in agent.py, in exactly this order. Layers 1, 2 and 6 never change. Layer 5 is looked up fresh per task by keyword search. Layers 3 and 4 are what SIA writes for itself: that's the learning. The flip side: if a lesson is wrong, SIA confidently applies a wrong rule. This is why lesson quality and the scores that rank lessons matter so much (see the diagnosis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Agent.run(). The agent writes an answer, then asks the model to act as a strict reviewer. If the score is below 0.75 it rewrites the answer using the reviewer's complaints, up to max_revisions times (default 2), and keeps whichever attempt scored best. Weak spot: during normal runs the reviewer is the same model and usually has no answer key, so it tends to be generous. That inflated score is then used to credit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Lessons are SIA's long-term memory: short rules like 'add three business days when a refund over $1,000 needs finance approval'. Each lesson keeps a running record of the scores of the tasks it was used in. The formula is a Bayesian average: it pretends every new lesson already had 2 uses scoring 0.7, so one bad result doesn't kill a good lesson. The weakness: credit goes to every lesson in the prompt equally, whether or not it mattered, and the scores come from self-grading.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is the best signal SIA has, because a human, not the model, says what good looks like. Self-study is clever because it needs no human, but every part of it (question, answer key, answer, grade) comes from the same model. If the model misreads the document, it writes a wrong answer key and then rewards itself for matching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improve() is the consolidation step, like a person rewriting their own checklist after a month of work. It's the only place SIA makes a big change at once, so it's gated: old and new playbooks answer the same examples and the new one must win by more than the noise. 'One standard error' means: if the gain is smaller than how much the per-example gains bounce around, refuse it. Note it always tests on the same examples it reads failures from, with no separate held-out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from examples/demo.py. The policy has proration, a fee with a floor and cap, an EU override, an abuse override, finance approval over $1,000 and a mandatory 5-line format. That's a good test because one slip anywhere makes the answer wrong. The lesson shown is real, from your README: the loop does extract correct, reusable rules from the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honest part. The machinery runs end to end. Whether it improves is a different question, and your README already answers it carefully.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slowly, because it's the most important one. Same 6 questions, same policy, nothing learned, and the score was 0.60 once and 0.95 the next time. Any change smaller than about 0.35 is invisible under that noise, so these runs can't show whether SIA improves. You've already made fixes (grading at temperature 0, trials, 12 examples, the standard-error rule), but they haven't been re-run and reported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averages are computed from the per-task scores in your README: run 1 (0.8, 1.0, 1.0, 1.0, 1.0, 0.8) averages 0.93, run 2 (0.8, 1.0, 0.9, 1.0, 1.0, 0.8) averages 0.92. The eval numbers are the 'with learned lessons' rows. The questions differ, so treat this as a strong hint, not proof. To confirm it, grade the same practice answers twice, once without and once with the answer key,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are the root causes behind the last two slides. None of them is a coding bug: the code does what the spec says. They're measurement design problems, and they're the difference between 'the loop runs' and 'the loop improves'. On reason 5: if a candidate is truly no better, a gain above one standard error happens by chance roughly 16% of the time (one-sided). The extra +0.02 margin helps only when the noise is tiny.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where it's due: the product engineering is in good shape. Security defaults are right, multi-tenancy is enforced on every route, and the README doesn't overclaim. The work left is mostly in measurement, not plumbing.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 matters. Every feature you add on top of a noisy evaluation is a feature you can't prove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Checkers are the biggest single win for structured domains like the refund demo: a regex can tell you with certainty whether AMOUNT is $424.00, while an LLM grader is a guess. Dev/holdout is the same idea as train/test in ML. A stricter bar costs nothing but patience. A separate grader breaks the self-grading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A/B testing is the cleanest fix for 'credit is correlation': it's a randomized experiment inside the product. P3 items (jobs, Postgres, billing) only matter once you have users; your README already says so. Lesson poisoning matters as soon as a customer exposes feedback to their own end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ablation turns parts off one at a time to see what each contributes. If B and C don't beat A on the holdout with separated confidence intervals, the learning isn't helping yet, and you'll know which part to fix. The call count is rough: about 67 calls per demo run, plus extra examples and trials.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handy while reading the code: these are the nouns in store.py and agent.py.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remember one thing: an agent can only improve as reliably as you can measure it. Your loop already writes sensible lessons. Make the score trustworthy and you'll find out, for real, whether they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931920"/>
            <a:ext cx="7315200" cy="10058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0"/>
            <a:ext cx="868680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611880"/>
            <a:ext cx="8686800" cy="8229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SIA · how it works and how to make it better</a:t>
            </a:r>
            <a:endParaRPr lang="en-US" sz="10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4.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4.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737360"/>
          </a:xfrm>
          <a:prstGeom prst="rect">
            <a:avLst/>
          </a:prstGeom>
          <a:noFill/>
          <a:ln/>
        </p:spPr>
        <p:txBody>
          <a:bodyPr wrap="square" lIns="0" tIns="0" rIns="0" bIns="0" rtlCol="0" anchor="b"/>
          <a:lstStyle/>
          <a:p>
            <a:pPr algn="l" indent="0" marL="0">
              <a:buNone/>
            </a:pPr>
            <a:r>
              <a:rPr lang="en-US" sz="4400" b="1" dirty="0">
                <a:solidFill>
                  <a:schemeClr val="bg1"/>
                </a:solidFill>
              </a:rPr>
              <a:t>SIA: the Self-Improving Agent API</a:t>
            </a:r>
            <a:endParaRPr lang="en-US" sz="4400" dirty="0"/>
          </a:p>
        </p:txBody>
      </p:sp>
      <p:sp>
        <p:nvSpPr>
          <p:cNvPr id="3" name="Text 0"/>
          <p:cNvSpPr/>
          <p:nvPr>
            <p:ph idx="101" type="body" hasCustomPrompt="1"/>
          </p:nvPr>
        </p:nvSpPr>
        <p:spPr>
          <a:xfrm>
            <a:off x="548640" y="3931920"/>
            <a:ext cx="7315200" cy="1005840"/>
          </a:xfrm>
          <a:prstGeom prst="rect">
            <a:avLst/>
          </a:prstGeom>
          <a:noFill/>
          <a:ln/>
        </p:spPr>
        <p:txBody>
          <a:bodyPr wrap="square" lIns="0" tIns="0" rIns="0" bIns="0" rtlCol="0" anchor="t"/>
          <a:lstStyle/>
          <a:p>
            <a:pPr algn="l" indent="0" marL="0">
              <a:buNone/>
            </a:pPr>
            <a:r>
              <a:rPr lang="en-US" sz="2000" dirty="0">
                <a:solidFill>
                  <a:schemeClr val="accent5"/>
                </a:solidFill>
              </a:rPr>
              <a:t>What it does, how it learns, what the real runs show, and how to make it better</a:t>
            </a:r>
            <a:endParaRPr lang="en-US" sz="2000" dirty="0"/>
          </a:p>
        </p:txBody>
      </p:sp>
      <p:sp>
        <p:nvSpPr>
          <p:cNvPr id="4" name="Text 2"/>
          <p:cNvSpPr txBox="1"/>
          <p:nvPr/>
        </p:nvSpPr>
        <p:spPr>
          <a:xfrm>
            <a:off x="548640" y="5943600"/>
            <a:ext cx="5486400" cy="365760"/>
          </a:xfrm>
          <a:prstGeom prst="rect">
            <a:avLst/>
          </a:prstGeom>
          <a:noFill/>
          <a:ln/>
        </p:spPr>
        <p:txBody>
          <a:bodyPr wrap="square" lIns="0" tIns="0" rIns="0" bIns="0" rtlCol="0" anchor="t"/>
          <a:lstStyle/>
          <a:p>
            <a:pPr indent="0" marL="0">
              <a:buNone/>
            </a:pPr>
            <a:r>
              <a:rPr lang="en-US" sz="1400" dirty="0">
                <a:solidFill>
                  <a:schemeClr val="accent4"/>
                </a:solidFill>
              </a:rPr>
              <a:t>Srijith · October 2026</a:t>
            </a:r>
            <a:endParaRPr lang="en-US" sz="1400" dirty="0"/>
          </a:p>
        </p:txBody>
      </p:sp>
      <p:sp>
        <p:nvSpPr>
          <p:cNvPr id="5" name="Loop motif circle"/>
          <p:cNvSpPr/>
          <p:nvPr/>
        </p:nvSpPr>
        <p:spPr>
          <a:xfrm>
            <a:off x="9052560" y="2103120"/>
            <a:ext cx="2286000" cy="2286000"/>
          </a:xfrm>
          <a:prstGeom prst="ellipse">
            <a:avLst/>
          </a:prstGeom>
          <a:solidFill>
            <a:schemeClr val="accent1"/>
          </a:solidFill>
          <a:ln w="12700">
            <a:solidFill>
              <a:schemeClr val="accent1"/>
            </a:solidFill>
            <a:prstDash val="solid"/>
          </a:ln>
        </p:spPr>
      </p:sp>
      <p:pic>
        <p:nvPicPr>
          <p:cNvPr id="6" name="Loop motif icon" descr="preencoded.png">    </p:cNvPr>
          <p:cNvPicPr>
            <a:picLocks noChangeAspect="1"/>
          </p:cNvPicPr>
          <p:nvPr/>
        </p:nvPicPr>
        <p:blipFill>
          <a:blip r:embed="rId1"/>
          <a:stretch>
            <a:fillRect/>
          </a:stretch>
        </p:blipFill>
        <p:spPr>
          <a:xfrm>
            <a:off x="9669780" y="2720340"/>
            <a:ext cx="1051560" cy="1051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SIA in one sentence</a:t>
            </a:r>
            <a:endParaRPr lang="en-US" sz="3400" dirty="0"/>
          </a:p>
        </p:txBody>
      </p:sp>
      <p:sp>
        <p:nvSpPr>
          <p:cNvPr id="3" name="Text 1"/>
          <p:cNvSpPr txBox="1"/>
          <p:nvPr/>
        </p:nvSpPr>
        <p:spPr>
          <a:xfrm>
            <a:off x="548640" y="1417320"/>
            <a:ext cx="11064240" cy="1188720"/>
          </a:xfrm>
          <a:prstGeom prst="rect">
            <a:avLst/>
          </a:prstGeom>
          <a:noFill/>
          <a:ln/>
        </p:spPr>
        <p:txBody>
          <a:bodyPr wrap="square" lIns="0" tIns="0" rIns="0" bIns="0" rtlCol="0" anchor="t"/>
          <a:lstStyle/>
          <a:p>
            <a:pPr indent="0" marL="0">
              <a:buNone/>
            </a:pPr>
            <a:r>
              <a:rPr lang="en-US" sz="2400" dirty="0">
                <a:solidFill>
                  <a:schemeClr val="tx2"/>
                </a:solidFill>
              </a:rPr>
              <a:t>An API that lets anyone create an AI agent for any field, then makes it better over time by rewriting </a:t>
            </a:r>
            <a:pPr indent="0" marL="0">
              <a:buNone/>
            </a:pPr>
            <a:r>
              <a:rPr lang="en-US" sz="2400" b="1" dirty="0">
                <a:solidFill>
                  <a:schemeClr val="accent1"/>
                </a:solidFill>
              </a:rPr>
              <a:t>what the agent reads</a:t>
            </a:r>
            <a:pPr indent="0" marL="0">
              <a:buNone/>
            </a:pPr>
            <a:r>
              <a:rPr lang="en-US" sz="2400" dirty="0">
                <a:solidFill>
                  <a:schemeClr val="tx2"/>
                </a:solidFill>
              </a:rPr>
              <a:t> (its notes, its playbook and its documents), never the model itself.</a:t>
            </a:r>
            <a:endParaRPr lang="en-US" sz="2400" dirty="0"/>
          </a:p>
        </p:txBody>
      </p:sp>
      <p:sp>
        <p:nvSpPr>
          <p:cNvPr id="4" name="Stat card 1"/>
          <p:cNvSpPr/>
          <p:nvPr/>
        </p:nvSpPr>
        <p:spPr>
          <a:xfrm>
            <a:off x="548640" y="3017520"/>
            <a:ext cx="3474720" cy="2926080"/>
          </a:xfrm>
          <a:prstGeom prst="roundRect">
            <a:avLst>
              <a:gd name="adj" fmla="val 2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68680" y="3154680"/>
            <a:ext cx="2834640" cy="1097280"/>
          </a:xfrm>
          <a:prstGeom prst="rect">
            <a:avLst/>
          </a:prstGeom>
          <a:noFill/>
          <a:ln/>
        </p:spPr>
        <p:txBody>
          <a:bodyPr wrap="square" lIns="0" tIns="0" rIns="0" bIns="0" rtlCol="0" anchor="ctr"/>
          <a:lstStyle/>
          <a:p>
            <a:pPr indent="0" marL="0">
              <a:buNone/>
            </a:pPr>
            <a:r>
              <a:rPr lang="en-US" sz="6600" b="1" dirty="0">
                <a:solidFill>
                  <a:schemeClr val="accent1"/>
                </a:solidFill>
              </a:rPr>
              <a:t>5</a:t>
            </a:r>
            <a:endParaRPr lang="en-US" sz="6600" dirty="0"/>
          </a:p>
        </p:txBody>
      </p:sp>
      <p:sp>
        <p:nvSpPr>
          <p:cNvPr id="6" name="Text 4"/>
          <p:cNvSpPr txBox="1"/>
          <p:nvPr/>
        </p:nvSpPr>
        <p:spPr>
          <a:xfrm>
            <a:off x="868680" y="4297680"/>
            <a:ext cx="2834640" cy="411480"/>
          </a:xfrm>
          <a:prstGeom prst="rect">
            <a:avLst/>
          </a:prstGeom>
          <a:noFill/>
          <a:ln/>
        </p:spPr>
        <p:txBody>
          <a:bodyPr wrap="square" lIns="0" tIns="0" rIns="0" bIns="0" rtlCol="0" anchor="t"/>
          <a:lstStyle/>
          <a:p>
            <a:pPr indent="0" marL="0">
              <a:buNone/>
            </a:pPr>
            <a:r>
              <a:rPr lang="en-US" sz="1800" b="1" dirty="0">
                <a:solidFill>
                  <a:schemeClr val="tx1"/>
                </a:solidFill>
              </a:rPr>
              <a:t>learning signals</a:t>
            </a:r>
            <a:endParaRPr lang="en-US" sz="1800" dirty="0"/>
          </a:p>
        </p:txBody>
      </p:sp>
      <p:sp>
        <p:nvSpPr>
          <p:cNvPr id="7" name="Text 5"/>
          <p:cNvSpPr txBox="1"/>
          <p:nvPr/>
        </p:nvSpPr>
        <p:spPr>
          <a:xfrm>
            <a:off x="868680" y="4754880"/>
            <a:ext cx="2834640" cy="1051560"/>
          </a:xfrm>
          <a:prstGeom prst="rect">
            <a:avLst/>
          </a:prstGeom>
          <a:noFill/>
          <a:ln/>
        </p:spPr>
        <p:txBody>
          <a:bodyPr wrap="square" lIns="0" tIns="0" rIns="0" bIns="0" rtlCol="0" anchor="t"/>
          <a:lstStyle/>
          <a:p>
            <a:pPr indent="0" marL="0">
              <a:buNone/>
            </a:pPr>
            <a:r>
              <a:rPr lang="en-US" sz="1400" dirty="0">
                <a:solidFill>
                  <a:schemeClr val="accent4"/>
                </a:solidFill>
              </a:rPr>
              <a:t>self-critique, lessons, human feedback, self-study, playbook rewrites</a:t>
            </a:r>
            <a:endParaRPr lang="en-US" sz="1400" dirty="0"/>
          </a:p>
        </p:txBody>
      </p:sp>
      <p:sp>
        <p:nvSpPr>
          <p:cNvPr id="8" name="Stat card 2"/>
          <p:cNvSpPr/>
          <p:nvPr/>
        </p:nvSpPr>
        <p:spPr>
          <a:xfrm>
            <a:off x="4315968" y="3017520"/>
            <a:ext cx="3474720" cy="2926080"/>
          </a:xfrm>
          <a:prstGeom prst="roundRect">
            <a:avLst>
              <a:gd name="adj" fmla="val 2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4636008" y="3154680"/>
            <a:ext cx="2834640" cy="1097280"/>
          </a:xfrm>
          <a:prstGeom prst="rect">
            <a:avLst/>
          </a:prstGeom>
          <a:noFill/>
          <a:ln/>
        </p:spPr>
        <p:txBody>
          <a:bodyPr wrap="square" lIns="0" tIns="0" rIns="0" bIns="0" rtlCol="0" anchor="ctr"/>
          <a:lstStyle/>
          <a:p>
            <a:pPr indent="0" marL="0">
              <a:buNone/>
            </a:pPr>
            <a:r>
              <a:rPr lang="en-US" sz="6600" b="1" dirty="0">
                <a:solidFill>
                  <a:schemeClr val="accent1"/>
                </a:solidFill>
              </a:rPr>
              <a:t>9</a:t>
            </a:r>
            <a:endParaRPr lang="en-US" sz="6600" dirty="0"/>
          </a:p>
        </p:txBody>
      </p:sp>
      <p:sp>
        <p:nvSpPr>
          <p:cNvPr id="10" name="Text 8"/>
          <p:cNvSpPr txBox="1"/>
          <p:nvPr/>
        </p:nvSpPr>
        <p:spPr>
          <a:xfrm>
            <a:off x="4636008" y="4297680"/>
            <a:ext cx="2834640" cy="411480"/>
          </a:xfrm>
          <a:prstGeom prst="rect">
            <a:avLst/>
          </a:prstGeom>
          <a:noFill/>
          <a:ln/>
        </p:spPr>
        <p:txBody>
          <a:bodyPr wrap="square" lIns="0" tIns="0" rIns="0" bIns="0" rtlCol="0" anchor="t"/>
          <a:lstStyle/>
          <a:p>
            <a:pPr indent="0" marL="0">
              <a:buNone/>
            </a:pPr>
            <a:r>
              <a:rPr lang="en-US" sz="1800" b="1" dirty="0">
                <a:solidFill>
                  <a:schemeClr val="tx1"/>
                </a:solidFill>
              </a:rPr>
              <a:t>LLM providers</a:t>
            </a:r>
            <a:endParaRPr lang="en-US" sz="1800" dirty="0"/>
          </a:p>
        </p:txBody>
      </p:sp>
      <p:sp>
        <p:nvSpPr>
          <p:cNvPr id="11" name="Text 9"/>
          <p:cNvSpPr txBox="1"/>
          <p:nvPr/>
        </p:nvSpPr>
        <p:spPr>
          <a:xfrm>
            <a:off x="4636008" y="4754880"/>
            <a:ext cx="2834640" cy="1051560"/>
          </a:xfrm>
          <a:prstGeom prst="rect">
            <a:avLst/>
          </a:prstGeom>
          <a:noFill/>
          <a:ln/>
        </p:spPr>
        <p:txBody>
          <a:bodyPr wrap="square" lIns="0" tIns="0" rIns="0" bIns="0" rtlCol="0" anchor="t"/>
          <a:lstStyle/>
          <a:p>
            <a:pPr indent="0" marL="0">
              <a:buNone/>
            </a:pPr>
            <a:r>
              <a:rPr lang="en-US" sz="1400" dirty="0">
                <a:solidFill>
                  <a:schemeClr val="accent4"/>
                </a:solidFill>
              </a:rPr>
              <a:t>Gemini (default, free), Claude, OpenAI, Groq, OpenRouter, Together, Mistral, DeepSeek, Ollama</a:t>
            </a:r>
            <a:endParaRPr lang="en-US" sz="1400" dirty="0"/>
          </a:p>
        </p:txBody>
      </p:sp>
      <p:sp>
        <p:nvSpPr>
          <p:cNvPr id="12" name="Stat card 3"/>
          <p:cNvSpPr/>
          <p:nvPr/>
        </p:nvSpPr>
        <p:spPr>
          <a:xfrm>
            <a:off x="8083296" y="3017520"/>
            <a:ext cx="3474720" cy="2926080"/>
          </a:xfrm>
          <a:prstGeom prst="roundRect">
            <a:avLst>
              <a:gd name="adj" fmla="val 25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8403336" y="3154680"/>
            <a:ext cx="2834640" cy="1097280"/>
          </a:xfrm>
          <a:prstGeom prst="rect">
            <a:avLst/>
          </a:prstGeom>
          <a:noFill/>
          <a:ln/>
        </p:spPr>
        <p:txBody>
          <a:bodyPr wrap="square" lIns="0" tIns="0" rIns="0" bIns="0" rtlCol="0" anchor="ctr"/>
          <a:lstStyle/>
          <a:p>
            <a:pPr indent="0" marL="0">
              <a:buNone/>
            </a:pPr>
            <a:r>
              <a:rPr lang="en-US" sz="6600" b="1" dirty="0">
                <a:solidFill>
                  <a:schemeClr val="accent1"/>
                </a:solidFill>
              </a:rPr>
              <a:t>0</a:t>
            </a:r>
            <a:endParaRPr lang="en-US" sz="6600" dirty="0"/>
          </a:p>
        </p:txBody>
      </p:sp>
      <p:sp>
        <p:nvSpPr>
          <p:cNvPr id="14" name="Text 12"/>
          <p:cNvSpPr txBox="1"/>
          <p:nvPr/>
        </p:nvSpPr>
        <p:spPr>
          <a:xfrm>
            <a:off x="8403336" y="4297680"/>
            <a:ext cx="2834640" cy="411480"/>
          </a:xfrm>
          <a:prstGeom prst="rect">
            <a:avLst/>
          </a:prstGeom>
          <a:noFill/>
          <a:ln/>
        </p:spPr>
        <p:txBody>
          <a:bodyPr wrap="square" lIns="0" tIns="0" rIns="0" bIns="0" rtlCol="0" anchor="t"/>
          <a:lstStyle/>
          <a:p>
            <a:pPr indent="0" marL="0">
              <a:buNone/>
            </a:pPr>
            <a:r>
              <a:rPr lang="en-US" sz="1800" b="1" dirty="0">
                <a:solidFill>
                  <a:schemeClr val="tx1"/>
                </a:solidFill>
              </a:rPr>
              <a:t>model weights changed</a:t>
            </a:r>
            <a:endParaRPr lang="en-US" sz="1800" dirty="0"/>
          </a:p>
        </p:txBody>
      </p:sp>
      <p:sp>
        <p:nvSpPr>
          <p:cNvPr id="15" name="Text 13"/>
          <p:cNvSpPr txBox="1"/>
          <p:nvPr/>
        </p:nvSpPr>
        <p:spPr>
          <a:xfrm>
            <a:off x="8403336" y="4754880"/>
            <a:ext cx="2834640" cy="1051560"/>
          </a:xfrm>
          <a:prstGeom prst="rect">
            <a:avLst/>
          </a:prstGeom>
          <a:noFill/>
          <a:ln/>
        </p:spPr>
        <p:txBody>
          <a:bodyPr wrap="square" lIns="0" tIns="0" rIns="0" bIns="0" rtlCol="0" anchor="t"/>
          <a:lstStyle/>
          <a:p>
            <a:pPr indent="0" marL="0">
              <a:buNone/>
            </a:pPr>
            <a:r>
              <a:rPr lang="en-US" sz="1400" dirty="0">
                <a:solidFill>
                  <a:schemeClr val="accent4"/>
                </a:solidFill>
              </a:rPr>
              <a:t>no fine-tuning, so it works with any model behind any API</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What a customer does with it</a:t>
            </a:r>
            <a:endParaRPr lang="en-US" sz="3400" dirty="0"/>
          </a:p>
        </p:txBody>
      </p:sp>
      <p:sp>
        <p:nvSpPr>
          <p:cNvPr id="3" name="Journey line"/>
          <p:cNvSpPr/>
          <p:nvPr/>
        </p:nvSpPr>
        <p:spPr>
          <a:xfrm>
            <a:off x="1472946" y="2057400"/>
            <a:ext cx="9243060" cy="0"/>
          </a:xfrm>
          <a:prstGeom prst="line">
            <a:avLst/>
          </a:prstGeom>
          <a:noFill/>
          <a:ln w="25400">
            <a:solidFill>
              <a:schemeClr val="accent5"/>
            </a:solidFill>
            <a:prstDash val="dash"/>
          </a:ln>
        </p:spPr>
      </p:sp>
      <p:sp>
        <p:nvSpPr>
          <p:cNvPr id="4" name="Step 1 circle"/>
          <p:cNvSpPr/>
          <p:nvPr/>
        </p:nvSpPr>
        <p:spPr>
          <a:xfrm>
            <a:off x="970026" y="1554480"/>
            <a:ext cx="1005840" cy="1005840"/>
          </a:xfrm>
          <a:prstGeom prst="ellipse">
            <a:avLst/>
          </a:prstGeom>
          <a:solidFill>
            <a:schemeClr val="accent4"/>
          </a:solidFill>
          <a:ln w="12700">
            <a:solidFill>
              <a:schemeClr val="accent4"/>
            </a:solidFill>
            <a:prstDash val="solid"/>
          </a:ln>
        </p:spPr>
      </p:sp>
      <p:pic>
        <p:nvPicPr>
          <p:cNvPr id="5" name="Step 1 icon" descr="preencoded.png">    </p:cNvPr>
          <p:cNvPicPr>
            <a:picLocks noChangeAspect="1"/>
          </p:cNvPicPr>
          <p:nvPr/>
        </p:nvPicPr>
        <p:blipFill>
          <a:blip r:embed="rId1"/>
          <a:stretch>
            <a:fillRect/>
          </a:stretch>
        </p:blipFill>
        <p:spPr>
          <a:xfrm>
            <a:off x="1241603" y="1826057"/>
            <a:ext cx="462686" cy="462686"/>
          </a:xfrm>
          <a:prstGeom prst="rect">
            <a:avLst/>
          </a:prstGeom>
        </p:spPr>
      </p:pic>
      <p:sp>
        <p:nvSpPr>
          <p:cNvPr id="6" name="Text 3"/>
          <p:cNvSpPr txBox="1"/>
          <p:nvPr/>
        </p:nvSpPr>
        <p:spPr>
          <a:xfrm>
            <a:off x="640080" y="2743200"/>
            <a:ext cx="1665732" cy="411480"/>
          </a:xfrm>
          <a:prstGeom prst="rect">
            <a:avLst/>
          </a:prstGeom>
          <a:noFill/>
          <a:ln/>
        </p:spPr>
        <p:txBody>
          <a:bodyPr wrap="square" lIns="0" tIns="0" rIns="0" bIns="0" rtlCol="0" anchor="t"/>
          <a:lstStyle/>
          <a:p>
            <a:pPr algn="ctr" indent="0" marL="0">
              <a:buNone/>
            </a:pPr>
            <a:r>
              <a:rPr lang="en-US" sz="1900" b="1" dirty="0">
                <a:solidFill>
                  <a:schemeClr val="tx1"/>
                </a:solidFill>
              </a:rPr>
              <a:t>1. Create</a:t>
            </a:r>
            <a:endParaRPr lang="en-US" sz="1900" dirty="0"/>
          </a:p>
        </p:txBody>
      </p:sp>
      <p:sp>
        <p:nvSpPr>
          <p:cNvPr id="7" name="Text 4"/>
          <p:cNvSpPr txBox="1"/>
          <p:nvPr/>
        </p:nvSpPr>
        <p:spPr>
          <a:xfrm>
            <a:off x="658368" y="3200400"/>
            <a:ext cx="1629156" cy="1005840"/>
          </a:xfrm>
          <a:prstGeom prst="rect">
            <a:avLst/>
          </a:prstGeom>
          <a:noFill/>
          <a:ln/>
        </p:spPr>
        <p:txBody>
          <a:bodyPr wrap="square" lIns="0" tIns="0" rIns="0" bIns="0" rtlCol="0" anchor="t"/>
          <a:lstStyle/>
          <a:p>
            <a:pPr algn="ctr" indent="0" marL="0">
              <a:buNone/>
            </a:pPr>
            <a:r>
              <a:rPr lang="en-US" sz="1400" dirty="0">
                <a:solidFill>
                  <a:schemeClr val="accent4"/>
                </a:solidFill>
              </a:rPr>
              <a:t>an agent for a field, with instructions and a rubric</a:t>
            </a:r>
            <a:endParaRPr lang="en-US" sz="1400" dirty="0"/>
          </a:p>
        </p:txBody>
      </p:sp>
      <p:sp>
        <p:nvSpPr>
          <p:cNvPr id="8" name="Text 5"/>
          <p:cNvSpPr txBox="1"/>
          <p:nvPr/>
        </p:nvSpPr>
        <p:spPr>
          <a:xfrm>
            <a:off x="594360" y="4251960"/>
            <a:ext cx="1757172" cy="320040"/>
          </a:xfrm>
          <a:prstGeom prst="rect">
            <a:avLst/>
          </a:prstGeom>
          <a:noFill/>
          <a:ln/>
        </p:spPr>
        <p:txBody>
          <a:bodyPr wrap="square" lIns="0" tIns="0" rIns="0" bIns="0" rtlCol="0" anchor="t"/>
          <a:lstStyle/>
          <a:p>
            <a:pPr algn="ctr" indent="0" marL="0">
              <a:buNone/>
            </a:pPr>
            <a:r>
              <a:rPr lang="en-US" sz="1200" dirty="0">
                <a:solidFill>
                  <a:schemeClr val="accent2"/>
                </a:solidFill>
                <a:latin typeface="Courier New" pitchFamily="34" charset="0"/>
                <a:ea typeface="Courier New" pitchFamily="34" charset="-122"/>
                <a:cs typeface="Courier New" pitchFamily="34" charset="-120"/>
              </a:rPr>
              <a:t>POST /agents</a:t>
            </a:r>
            <a:endParaRPr lang="en-US" sz="1200" dirty="0"/>
          </a:p>
        </p:txBody>
      </p:sp>
      <p:sp>
        <p:nvSpPr>
          <p:cNvPr id="9" name="Step 2 circle"/>
          <p:cNvSpPr/>
          <p:nvPr/>
        </p:nvSpPr>
        <p:spPr>
          <a:xfrm>
            <a:off x="2818638" y="1554480"/>
            <a:ext cx="1005840" cy="1005840"/>
          </a:xfrm>
          <a:prstGeom prst="ellipse">
            <a:avLst/>
          </a:prstGeom>
          <a:solidFill>
            <a:schemeClr val="accent4"/>
          </a:solidFill>
          <a:ln w="12700">
            <a:solidFill>
              <a:schemeClr val="accent4"/>
            </a:solidFill>
            <a:prstDash val="solid"/>
          </a:ln>
        </p:spPr>
      </p:sp>
      <p:pic>
        <p:nvPicPr>
          <p:cNvPr id="10" name="Step 2 icon" descr="preencoded.png">    </p:cNvPr>
          <p:cNvPicPr>
            <a:picLocks noChangeAspect="1"/>
          </p:cNvPicPr>
          <p:nvPr/>
        </p:nvPicPr>
        <p:blipFill>
          <a:blip r:embed="rId2"/>
          <a:stretch>
            <a:fillRect/>
          </a:stretch>
        </p:blipFill>
        <p:spPr>
          <a:xfrm>
            <a:off x="3090215" y="1826057"/>
            <a:ext cx="462686" cy="462686"/>
          </a:xfrm>
          <a:prstGeom prst="rect">
            <a:avLst/>
          </a:prstGeom>
        </p:spPr>
      </p:pic>
      <p:sp>
        <p:nvSpPr>
          <p:cNvPr id="11" name="Text 7"/>
          <p:cNvSpPr txBox="1"/>
          <p:nvPr/>
        </p:nvSpPr>
        <p:spPr>
          <a:xfrm>
            <a:off x="2488692" y="2743200"/>
            <a:ext cx="1665732" cy="411480"/>
          </a:xfrm>
          <a:prstGeom prst="rect">
            <a:avLst/>
          </a:prstGeom>
          <a:noFill/>
          <a:ln/>
        </p:spPr>
        <p:txBody>
          <a:bodyPr wrap="square" lIns="0" tIns="0" rIns="0" bIns="0" rtlCol="0" anchor="t"/>
          <a:lstStyle/>
          <a:p>
            <a:pPr algn="ctr" indent="0" marL="0">
              <a:buNone/>
            </a:pPr>
            <a:r>
              <a:rPr lang="en-US" sz="1900" b="1" dirty="0">
                <a:solidFill>
                  <a:schemeClr val="tx1"/>
                </a:solidFill>
              </a:rPr>
              <a:t>2. Teach</a:t>
            </a:r>
            <a:endParaRPr lang="en-US" sz="1900" dirty="0"/>
          </a:p>
        </p:txBody>
      </p:sp>
      <p:sp>
        <p:nvSpPr>
          <p:cNvPr id="12" name="Text 8"/>
          <p:cNvSpPr txBox="1"/>
          <p:nvPr/>
        </p:nvSpPr>
        <p:spPr>
          <a:xfrm>
            <a:off x="2506980" y="3200400"/>
            <a:ext cx="1629156" cy="1005840"/>
          </a:xfrm>
          <a:prstGeom prst="rect">
            <a:avLst/>
          </a:prstGeom>
          <a:noFill/>
          <a:ln/>
        </p:spPr>
        <p:txBody>
          <a:bodyPr wrap="square" lIns="0" tIns="0" rIns="0" bIns="0" rtlCol="0" anchor="t"/>
          <a:lstStyle/>
          <a:p>
            <a:pPr algn="ctr" indent="0" marL="0">
              <a:buNone/>
            </a:pPr>
            <a:r>
              <a:rPr lang="en-US" sz="1400" dirty="0">
                <a:solidFill>
                  <a:schemeClr val="accent4"/>
                </a:solidFill>
              </a:rPr>
              <a:t>with documents and graded examples</a:t>
            </a:r>
            <a:endParaRPr lang="en-US" sz="1400" dirty="0"/>
          </a:p>
        </p:txBody>
      </p:sp>
      <p:sp>
        <p:nvSpPr>
          <p:cNvPr id="13" name="Text 9"/>
          <p:cNvSpPr txBox="1"/>
          <p:nvPr/>
        </p:nvSpPr>
        <p:spPr>
          <a:xfrm>
            <a:off x="2442972" y="4251960"/>
            <a:ext cx="1757172" cy="320040"/>
          </a:xfrm>
          <a:prstGeom prst="rect">
            <a:avLst/>
          </a:prstGeom>
          <a:noFill/>
          <a:ln/>
        </p:spPr>
        <p:txBody>
          <a:bodyPr wrap="square" lIns="0" tIns="0" rIns="0" bIns="0" rtlCol="0" anchor="t"/>
          <a:lstStyle/>
          <a:p>
            <a:pPr algn="ctr" indent="0" marL="0">
              <a:buNone/>
            </a:pPr>
            <a:r>
              <a:rPr lang="en-US" sz="1200" dirty="0">
                <a:solidFill>
                  <a:schemeClr val="accent2"/>
                </a:solidFill>
                <a:latin typeface="Courier New" pitchFamily="34" charset="0"/>
                <a:ea typeface="Courier New" pitchFamily="34" charset="-122"/>
                <a:cs typeface="Courier New" pitchFamily="34" charset="-120"/>
              </a:rPr>
              <a:t>/knowledge  /examples</a:t>
            </a:r>
            <a:endParaRPr lang="en-US" sz="1200" dirty="0"/>
          </a:p>
        </p:txBody>
      </p:sp>
      <p:sp>
        <p:nvSpPr>
          <p:cNvPr id="14" name="Step 3 circle"/>
          <p:cNvSpPr/>
          <p:nvPr/>
        </p:nvSpPr>
        <p:spPr>
          <a:xfrm>
            <a:off x="4667250" y="1554480"/>
            <a:ext cx="1005840" cy="1005840"/>
          </a:xfrm>
          <a:prstGeom prst="ellipse">
            <a:avLst/>
          </a:prstGeom>
          <a:solidFill>
            <a:schemeClr val="accent1"/>
          </a:solidFill>
          <a:ln w="12700">
            <a:solidFill>
              <a:schemeClr val="accent1"/>
            </a:solidFill>
            <a:prstDash val="solid"/>
          </a:ln>
        </p:spPr>
      </p:sp>
      <p:pic>
        <p:nvPicPr>
          <p:cNvPr id="15" name="Step 3 icon" descr="preencoded.png">    </p:cNvPr>
          <p:cNvPicPr>
            <a:picLocks noChangeAspect="1"/>
          </p:cNvPicPr>
          <p:nvPr/>
        </p:nvPicPr>
        <p:blipFill>
          <a:blip r:embed="rId3"/>
          <a:stretch>
            <a:fillRect/>
          </a:stretch>
        </p:blipFill>
        <p:spPr>
          <a:xfrm>
            <a:off x="4938827" y="1826057"/>
            <a:ext cx="462686" cy="462686"/>
          </a:xfrm>
          <a:prstGeom prst="rect">
            <a:avLst/>
          </a:prstGeom>
        </p:spPr>
      </p:pic>
      <p:sp>
        <p:nvSpPr>
          <p:cNvPr id="16" name="Text 11"/>
          <p:cNvSpPr txBox="1"/>
          <p:nvPr/>
        </p:nvSpPr>
        <p:spPr>
          <a:xfrm>
            <a:off x="4337304" y="2743200"/>
            <a:ext cx="1665732" cy="411480"/>
          </a:xfrm>
          <a:prstGeom prst="rect">
            <a:avLst/>
          </a:prstGeom>
          <a:noFill/>
          <a:ln/>
        </p:spPr>
        <p:txBody>
          <a:bodyPr wrap="square" lIns="0" tIns="0" rIns="0" bIns="0" rtlCol="0" anchor="t"/>
          <a:lstStyle/>
          <a:p>
            <a:pPr algn="ctr" indent="0" marL="0">
              <a:buNone/>
            </a:pPr>
            <a:r>
              <a:rPr lang="en-US" sz="1900" b="1" dirty="0">
                <a:solidFill>
                  <a:schemeClr val="tx1"/>
                </a:solidFill>
              </a:rPr>
              <a:t>3. Run</a:t>
            </a:r>
            <a:endParaRPr lang="en-US" sz="1900" dirty="0"/>
          </a:p>
        </p:txBody>
      </p:sp>
      <p:sp>
        <p:nvSpPr>
          <p:cNvPr id="17" name="Text 12"/>
          <p:cNvSpPr txBox="1"/>
          <p:nvPr/>
        </p:nvSpPr>
        <p:spPr>
          <a:xfrm>
            <a:off x="4355592" y="3200400"/>
            <a:ext cx="1629156" cy="1005840"/>
          </a:xfrm>
          <a:prstGeom prst="rect">
            <a:avLst/>
          </a:prstGeom>
          <a:noFill/>
          <a:ln/>
        </p:spPr>
        <p:txBody>
          <a:bodyPr wrap="square" lIns="0" tIns="0" rIns="0" bIns="0" rtlCol="0" anchor="t"/>
          <a:lstStyle/>
          <a:p>
            <a:pPr algn="ctr" indent="0" marL="0">
              <a:buNone/>
            </a:pPr>
            <a:r>
              <a:rPr lang="en-US" sz="1400" dirty="0">
                <a:solidFill>
                  <a:schemeClr val="accent4"/>
                </a:solidFill>
              </a:rPr>
              <a:t>tasks; it critiques and revises itself</a:t>
            </a:r>
            <a:endParaRPr lang="en-US" sz="1400" dirty="0"/>
          </a:p>
        </p:txBody>
      </p:sp>
      <p:sp>
        <p:nvSpPr>
          <p:cNvPr id="18" name="Text 13"/>
          <p:cNvSpPr txBox="1"/>
          <p:nvPr/>
        </p:nvSpPr>
        <p:spPr>
          <a:xfrm>
            <a:off x="4291584" y="4251960"/>
            <a:ext cx="1757172" cy="320040"/>
          </a:xfrm>
          <a:prstGeom prst="rect">
            <a:avLst/>
          </a:prstGeom>
          <a:noFill/>
          <a:ln/>
        </p:spPr>
        <p:txBody>
          <a:bodyPr wrap="square" lIns="0" tIns="0" rIns="0" bIns="0" rtlCol="0" anchor="t"/>
          <a:lstStyle/>
          <a:p>
            <a:pPr algn="ctr" indent="0" marL="0">
              <a:buNone/>
            </a:pPr>
            <a:r>
              <a:rPr lang="en-US" sz="1200" dirty="0">
                <a:solidFill>
                  <a:schemeClr val="accent2"/>
                </a:solidFill>
                <a:latin typeface="Courier New" pitchFamily="34" charset="0"/>
                <a:ea typeface="Courier New" pitchFamily="34" charset="-122"/>
                <a:cs typeface="Courier New" pitchFamily="34" charset="-120"/>
              </a:rPr>
              <a:t>/run</a:t>
            </a:r>
            <a:endParaRPr lang="en-US" sz="1200" dirty="0"/>
          </a:p>
        </p:txBody>
      </p:sp>
      <p:sp>
        <p:nvSpPr>
          <p:cNvPr id="19" name="Step 4 circle"/>
          <p:cNvSpPr/>
          <p:nvPr/>
        </p:nvSpPr>
        <p:spPr>
          <a:xfrm>
            <a:off x="6515862" y="1554480"/>
            <a:ext cx="1005840" cy="1005840"/>
          </a:xfrm>
          <a:prstGeom prst="ellipse">
            <a:avLst/>
          </a:prstGeom>
          <a:solidFill>
            <a:schemeClr val="accent1"/>
          </a:solidFill>
          <a:ln w="12700">
            <a:solidFill>
              <a:schemeClr val="accent1"/>
            </a:solidFill>
            <a:prstDash val="solid"/>
          </a:ln>
        </p:spPr>
      </p:sp>
      <p:pic>
        <p:nvPicPr>
          <p:cNvPr id="20" name="Step 4 icon" descr="preencoded.png">    </p:cNvPr>
          <p:cNvPicPr>
            <a:picLocks noChangeAspect="1"/>
          </p:cNvPicPr>
          <p:nvPr/>
        </p:nvPicPr>
        <p:blipFill>
          <a:blip r:embed="rId4"/>
          <a:stretch>
            <a:fillRect/>
          </a:stretch>
        </p:blipFill>
        <p:spPr>
          <a:xfrm>
            <a:off x="6787439" y="1826057"/>
            <a:ext cx="462686" cy="462686"/>
          </a:xfrm>
          <a:prstGeom prst="rect">
            <a:avLst/>
          </a:prstGeom>
        </p:spPr>
      </p:pic>
      <p:sp>
        <p:nvSpPr>
          <p:cNvPr id="21" name="Text 15"/>
          <p:cNvSpPr txBox="1"/>
          <p:nvPr/>
        </p:nvSpPr>
        <p:spPr>
          <a:xfrm>
            <a:off x="6185916" y="2743200"/>
            <a:ext cx="1665732" cy="411480"/>
          </a:xfrm>
          <a:prstGeom prst="rect">
            <a:avLst/>
          </a:prstGeom>
          <a:noFill/>
          <a:ln/>
        </p:spPr>
        <p:txBody>
          <a:bodyPr wrap="square" lIns="0" tIns="0" rIns="0" bIns="0" rtlCol="0" anchor="t"/>
          <a:lstStyle/>
          <a:p>
            <a:pPr algn="ctr" indent="0" marL="0">
              <a:buNone/>
            </a:pPr>
            <a:r>
              <a:rPr lang="en-US" sz="1900" b="1" dirty="0">
                <a:solidFill>
                  <a:schemeClr val="tx1"/>
                </a:solidFill>
              </a:rPr>
              <a:t>4. Rate</a:t>
            </a:r>
            <a:endParaRPr lang="en-US" sz="1900" dirty="0"/>
          </a:p>
        </p:txBody>
      </p:sp>
      <p:sp>
        <p:nvSpPr>
          <p:cNvPr id="22" name="Text 16"/>
          <p:cNvSpPr txBox="1"/>
          <p:nvPr/>
        </p:nvSpPr>
        <p:spPr>
          <a:xfrm>
            <a:off x="6204204" y="3200400"/>
            <a:ext cx="1629156" cy="1005840"/>
          </a:xfrm>
          <a:prstGeom prst="rect">
            <a:avLst/>
          </a:prstGeom>
          <a:noFill/>
          <a:ln/>
        </p:spPr>
        <p:txBody>
          <a:bodyPr wrap="square" lIns="0" tIns="0" rIns="0" bIns="0" rtlCol="0" anchor="t"/>
          <a:lstStyle/>
          <a:p>
            <a:pPr algn="ctr" indent="0" marL="0">
              <a:buNone/>
            </a:pPr>
            <a:r>
              <a:rPr lang="en-US" sz="1400" dirty="0">
                <a:solidFill>
                  <a:schemeClr val="accent4"/>
                </a:solidFill>
              </a:rPr>
              <a:t>answers 1–5 and send corrections</a:t>
            </a:r>
            <a:endParaRPr lang="en-US" sz="1400" dirty="0"/>
          </a:p>
        </p:txBody>
      </p:sp>
      <p:sp>
        <p:nvSpPr>
          <p:cNvPr id="23" name="Text 17"/>
          <p:cNvSpPr txBox="1"/>
          <p:nvPr/>
        </p:nvSpPr>
        <p:spPr>
          <a:xfrm>
            <a:off x="6140196" y="4251960"/>
            <a:ext cx="1757172" cy="320040"/>
          </a:xfrm>
          <a:prstGeom prst="rect">
            <a:avLst/>
          </a:prstGeom>
          <a:noFill/>
          <a:ln/>
        </p:spPr>
        <p:txBody>
          <a:bodyPr wrap="square" lIns="0" tIns="0" rIns="0" bIns="0" rtlCol="0" anchor="t"/>
          <a:lstStyle/>
          <a:p>
            <a:pPr algn="ctr" indent="0" marL="0">
              <a:buNone/>
            </a:pPr>
            <a:r>
              <a:rPr lang="en-US" sz="1200" dirty="0">
                <a:solidFill>
                  <a:schemeClr val="accent2"/>
                </a:solidFill>
                <a:latin typeface="Courier New" pitchFamily="34" charset="0"/>
                <a:ea typeface="Courier New" pitchFamily="34" charset="-122"/>
                <a:cs typeface="Courier New" pitchFamily="34" charset="-120"/>
              </a:rPr>
              <a:t>/feedback</a:t>
            </a:r>
            <a:endParaRPr lang="en-US" sz="1200" dirty="0"/>
          </a:p>
        </p:txBody>
      </p:sp>
      <p:sp>
        <p:nvSpPr>
          <p:cNvPr id="24" name="Step 5 circle"/>
          <p:cNvSpPr/>
          <p:nvPr/>
        </p:nvSpPr>
        <p:spPr>
          <a:xfrm>
            <a:off x="8364474" y="1554480"/>
            <a:ext cx="1005840" cy="1005840"/>
          </a:xfrm>
          <a:prstGeom prst="ellipse">
            <a:avLst/>
          </a:prstGeom>
          <a:solidFill>
            <a:schemeClr val="accent1"/>
          </a:solidFill>
          <a:ln w="12700">
            <a:solidFill>
              <a:schemeClr val="accent1"/>
            </a:solidFill>
            <a:prstDash val="solid"/>
          </a:ln>
        </p:spPr>
      </p:sp>
      <p:pic>
        <p:nvPicPr>
          <p:cNvPr id="25" name="Step 5 icon" descr="preencoded.png">    </p:cNvPr>
          <p:cNvPicPr>
            <a:picLocks noChangeAspect="1"/>
          </p:cNvPicPr>
          <p:nvPr/>
        </p:nvPicPr>
        <p:blipFill>
          <a:blip r:embed="rId5"/>
          <a:stretch>
            <a:fillRect/>
          </a:stretch>
        </p:blipFill>
        <p:spPr>
          <a:xfrm>
            <a:off x="8636051" y="1826057"/>
            <a:ext cx="462686" cy="462686"/>
          </a:xfrm>
          <a:prstGeom prst="rect">
            <a:avLst/>
          </a:prstGeom>
        </p:spPr>
      </p:pic>
      <p:sp>
        <p:nvSpPr>
          <p:cNvPr id="26" name="Text 19"/>
          <p:cNvSpPr txBox="1"/>
          <p:nvPr/>
        </p:nvSpPr>
        <p:spPr>
          <a:xfrm>
            <a:off x="8034528" y="2743200"/>
            <a:ext cx="1665732" cy="411480"/>
          </a:xfrm>
          <a:prstGeom prst="rect">
            <a:avLst/>
          </a:prstGeom>
          <a:noFill/>
          <a:ln/>
        </p:spPr>
        <p:txBody>
          <a:bodyPr wrap="square" lIns="0" tIns="0" rIns="0" bIns="0" rtlCol="0" anchor="t"/>
          <a:lstStyle/>
          <a:p>
            <a:pPr algn="ctr" indent="0" marL="0">
              <a:buNone/>
            </a:pPr>
            <a:r>
              <a:rPr lang="en-US" sz="1900" b="1" dirty="0">
                <a:solidFill>
                  <a:schemeClr val="tx1"/>
                </a:solidFill>
              </a:rPr>
              <a:t>5. Study</a:t>
            </a:r>
            <a:endParaRPr lang="en-US" sz="1900" dirty="0"/>
          </a:p>
        </p:txBody>
      </p:sp>
      <p:sp>
        <p:nvSpPr>
          <p:cNvPr id="27" name="Text 20"/>
          <p:cNvSpPr txBox="1"/>
          <p:nvPr/>
        </p:nvSpPr>
        <p:spPr>
          <a:xfrm>
            <a:off x="8052816" y="3200400"/>
            <a:ext cx="1629156" cy="1005840"/>
          </a:xfrm>
          <a:prstGeom prst="rect">
            <a:avLst/>
          </a:prstGeom>
          <a:noFill/>
          <a:ln/>
        </p:spPr>
        <p:txBody>
          <a:bodyPr wrap="square" lIns="0" tIns="0" rIns="0" bIns="0" rtlCol="0" anchor="t"/>
          <a:lstStyle/>
          <a:p>
            <a:pPr algn="ctr" indent="0" marL="0">
              <a:buNone/>
            </a:pPr>
            <a:r>
              <a:rPr lang="en-US" sz="1400" dirty="0">
                <a:solidFill>
                  <a:schemeClr val="accent4"/>
                </a:solidFill>
              </a:rPr>
              <a:t>it quizzes itself on its documents</a:t>
            </a:r>
            <a:endParaRPr lang="en-US" sz="1400" dirty="0"/>
          </a:p>
        </p:txBody>
      </p:sp>
      <p:sp>
        <p:nvSpPr>
          <p:cNvPr id="28" name="Text 21"/>
          <p:cNvSpPr txBox="1"/>
          <p:nvPr/>
        </p:nvSpPr>
        <p:spPr>
          <a:xfrm>
            <a:off x="7988808" y="4251960"/>
            <a:ext cx="1757172" cy="320040"/>
          </a:xfrm>
          <a:prstGeom prst="rect">
            <a:avLst/>
          </a:prstGeom>
          <a:noFill/>
          <a:ln/>
        </p:spPr>
        <p:txBody>
          <a:bodyPr wrap="square" lIns="0" tIns="0" rIns="0" bIns="0" rtlCol="0" anchor="t"/>
          <a:lstStyle/>
          <a:p>
            <a:pPr algn="ctr" indent="0" marL="0">
              <a:buNone/>
            </a:pPr>
            <a:r>
              <a:rPr lang="en-US" sz="1200" dirty="0">
                <a:solidFill>
                  <a:schemeClr val="accent2"/>
                </a:solidFill>
                <a:latin typeface="Courier New" pitchFamily="34" charset="0"/>
                <a:ea typeface="Courier New" pitchFamily="34" charset="-122"/>
                <a:cs typeface="Courier New" pitchFamily="34" charset="-120"/>
              </a:rPr>
              <a:t>/study</a:t>
            </a:r>
            <a:endParaRPr lang="en-US" sz="1200" dirty="0"/>
          </a:p>
        </p:txBody>
      </p:sp>
      <p:sp>
        <p:nvSpPr>
          <p:cNvPr id="29" name="Step 6 circle"/>
          <p:cNvSpPr/>
          <p:nvPr/>
        </p:nvSpPr>
        <p:spPr>
          <a:xfrm>
            <a:off x="10213086" y="1554480"/>
            <a:ext cx="1005840" cy="1005840"/>
          </a:xfrm>
          <a:prstGeom prst="ellipse">
            <a:avLst/>
          </a:prstGeom>
          <a:solidFill>
            <a:schemeClr val="accent1"/>
          </a:solidFill>
          <a:ln w="12700">
            <a:solidFill>
              <a:schemeClr val="accent1"/>
            </a:solidFill>
            <a:prstDash val="solid"/>
          </a:ln>
        </p:spPr>
      </p:sp>
      <p:pic>
        <p:nvPicPr>
          <p:cNvPr id="30" name="Step 6 icon" descr="preencoded.png">    </p:cNvPr>
          <p:cNvPicPr>
            <a:picLocks noChangeAspect="1"/>
          </p:cNvPicPr>
          <p:nvPr/>
        </p:nvPicPr>
        <p:blipFill>
          <a:blip r:embed="rId6"/>
          <a:stretch>
            <a:fillRect/>
          </a:stretch>
        </p:blipFill>
        <p:spPr>
          <a:xfrm>
            <a:off x="10484663" y="1826057"/>
            <a:ext cx="462686" cy="462686"/>
          </a:xfrm>
          <a:prstGeom prst="rect">
            <a:avLst/>
          </a:prstGeom>
        </p:spPr>
      </p:pic>
      <p:sp>
        <p:nvSpPr>
          <p:cNvPr id="31" name="Text 23"/>
          <p:cNvSpPr txBox="1"/>
          <p:nvPr/>
        </p:nvSpPr>
        <p:spPr>
          <a:xfrm>
            <a:off x="9883140" y="2743200"/>
            <a:ext cx="1665732" cy="411480"/>
          </a:xfrm>
          <a:prstGeom prst="rect">
            <a:avLst/>
          </a:prstGeom>
          <a:noFill/>
          <a:ln/>
        </p:spPr>
        <p:txBody>
          <a:bodyPr wrap="square" lIns="0" tIns="0" rIns="0" bIns="0" rtlCol="0" anchor="t"/>
          <a:lstStyle/>
          <a:p>
            <a:pPr algn="ctr" indent="0" marL="0">
              <a:buNone/>
            </a:pPr>
            <a:r>
              <a:rPr lang="en-US" sz="1900" b="1" dirty="0">
                <a:solidFill>
                  <a:schemeClr val="tx1"/>
                </a:solidFill>
              </a:rPr>
              <a:t>6. Improve</a:t>
            </a:r>
            <a:endParaRPr lang="en-US" sz="1900" dirty="0"/>
          </a:p>
        </p:txBody>
      </p:sp>
      <p:sp>
        <p:nvSpPr>
          <p:cNvPr id="32" name="Text 24"/>
          <p:cNvSpPr txBox="1"/>
          <p:nvPr/>
        </p:nvSpPr>
        <p:spPr>
          <a:xfrm>
            <a:off x="9901428" y="3200400"/>
            <a:ext cx="1629156" cy="1005840"/>
          </a:xfrm>
          <a:prstGeom prst="rect">
            <a:avLst/>
          </a:prstGeom>
          <a:noFill/>
          <a:ln/>
        </p:spPr>
        <p:txBody>
          <a:bodyPr wrap="square" lIns="0" tIns="0" rIns="0" bIns="0" rtlCol="0" anchor="t"/>
          <a:lstStyle/>
          <a:p>
            <a:pPr algn="ctr" indent="0" marL="0">
              <a:buNone/>
            </a:pPr>
            <a:r>
              <a:rPr lang="en-US" sz="1400" dirty="0">
                <a:solidFill>
                  <a:schemeClr val="accent4"/>
                </a:solidFill>
              </a:rPr>
              <a:t>it rewrites its playbook if that scores higher</a:t>
            </a:r>
            <a:endParaRPr lang="en-US" sz="1400" dirty="0"/>
          </a:p>
        </p:txBody>
      </p:sp>
      <p:sp>
        <p:nvSpPr>
          <p:cNvPr id="33" name="Text 25"/>
          <p:cNvSpPr txBox="1"/>
          <p:nvPr/>
        </p:nvSpPr>
        <p:spPr>
          <a:xfrm>
            <a:off x="9837420" y="4251960"/>
            <a:ext cx="1757172" cy="320040"/>
          </a:xfrm>
          <a:prstGeom prst="rect">
            <a:avLst/>
          </a:prstGeom>
          <a:noFill/>
          <a:ln/>
        </p:spPr>
        <p:txBody>
          <a:bodyPr wrap="square" lIns="0" tIns="0" rIns="0" bIns="0" rtlCol="0" anchor="t"/>
          <a:lstStyle/>
          <a:p>
            <a:pPr algn="ctr" indent="0" marL="0">
              <a:buNone/>
            </a:pPr>
            <a:r>
              <a:rPr lang="en-US" sz="1200" dirty="0">
                <a:solidFill>
                  <a:schemeClr val="accent2"/>
                </a:solidFill>
                <a:latin typeface="Courier New" pitchFamily="34" charset="0"/>
                <a:ea typeface="Courier New" pitchFamily="34" charset="-122"/>
                <a:cs typeface="Courier New" pitchFamily="34" charset="-120"/>
              </a:rPr>
              <a:t>/improve</a:t>
            </a:r>
            <a:endParaRPr lang="en-US" sz="1200" dirty="0"/>
          </a:p>
        </p:txBody>
      </p:sp>
      <p:sp>
        <p:nvSpPr>
          <p:cNvPr id="34" name="Repeat callout"/>
          <p:cNvSpPr/>
          <p:nvPr/>
        </p:nvSpPr>
        <p:spPr>
          <a:xfrm>
            <a:off x="548640" y="4983480"/>
            <a:ext cx="11091672" cy="960120"/>
          </a:xfrm>
          <a:prstGeom prst="roundRect">
            <a:avLst>
              <a:gd name="adj" fmla="val 761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5" name="Text 27"/>
          <p:cNvSpPr txBox="1"/>
          <p:nvPr/>
        </p:nvSpPr>
        <p:spPr>
          <a:xfrm>
            <a:off x="868680" y="4983480"/>
            <a:ext cx="10424160" cy="960120"/>
          </a:xfrm>
          <a:prstGeom prst="rect">
            <a:avLst/>
          </a:prstGeom>
          <a:noFill/>
          <a:ln/>
        </p:spPr>
        <p:txBody>
          <a:bodyPr wrap="square" lIns="0" tIns="0" rIns="0" bIns="0" rtlCol="0" anchor="ctr"/>
          <a:lstStyle/>
          <a:p>
            <a:pPr indent="0" marL="0">
              <a:buNone/>
            </a:pPr>
            <a:r>
              <a:rPr lang="en-US" sz="1600" b="1" dirty="0">
                <a:solidFill>
                  <a:schemeClr val="tx1"/>
                </a:solidFill>
              </a:rPr>
              <a:t>Steps 3–6 repeat for as long as the agent is used. </a:t>
            </a:r>
            <a:pPr indent="0" marL="0">
              <a:buNone/>
            </a:pPr>
            <a:r>
              <a:rPr lang="en-US" sz="1600" dirty="0">
                <a:solidFill>
                  <a:schemeClr val="accent4"/>
                </a:solidFill>
              </a:rPr>
              <a:t>Grey = set up once by the customer. Amber = where learning happens.</a:t>
            </a:r>
            <a:endParaRPr lang="en-US" sz="16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Four Python files do all the work</a:t>
            </a:r>
            <a:endParaRPr lang="en-US" sz="3400" dirty="0"/>
          </a:p>
        </p:txBody>
      </p:sp>
      <p:sp>
        <p:nvSpPr>
          <p:cNvPr id="3" name="Customer box"/>
          <p:cNvSpPr/>
          <p:nvPr/>
        </p:nvSpPr>
        <p:spPr>
          <a:xfrm>
            <a:off x="548640" y="1463040"/>
            <a:ext cx="301752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77240" y="1600200"/>
            <a:ext cx="2560320" cy="365760"/>
          </a:xfrm>
          <a:prstGeom prst="rect">
            <a:avLst/>
          </a:prstGeom>
          <a:noFill/>
          <a:ln/>
        </p:spPr>
        <p:txBody>
          <a:bodyPr wrap="square" lIns="0" tIns="0" rIns="0" bIns="0" rtlCol="0" anchor="t"/>
          <a:lstStyle/>
          <a:p>
            <a:pPr indent="0" marL="0">
              <a:buNone/>
            </a:pPr>
            <a:r>
              <a:rPr lang="en-US" sz="1800" b="1" dirty="0">
                <a:solidFill>
                  <a:schemeClr val="tx1"/>
                </a:solidFill>
              </a:rPr>
              <a:t>Customer app</a:t>
            </a:r>
            <a:endParaRPr lang="en-US" sz="1800" dirty="0"/>
          </a:p>
        </p:txBody>
      </p:sp>
      <p:sp>
        <p:nvSpPr>
          <p:cNvPr id="5" name="Text 3"/>
          <p:cNvSpPr txBox="1"/>
          <p:nvPr/>
        </p:nvSpPr>
        <p:spPr>
          <a:xfrm>
            <a:off x="777240" y="2011680"/>
            <a:ext cx="2560320" cy="594360"/>
          </a:xfrm>
          <a:prstGeom prst="rect">
            <a:avLst/>
          </a:prstGeom>
          <a:noFill/>
          <a:ln/>
        </p:spPr>
        <p:txBody>
          <a:bodyPr wrap="square" lIns="0" tIns="0" rIns="0" bIns="0" rtlCol="0" anchor="t"/>
          <a:lstStyle/>
          <a:p>
            <a:pPr indent="0" marL="0">
              <a:buNone/>
            </a:pPr>
            <a:r>
              <a:rPr lang="en-US" sz="1400" dirty="0">
                <a:solidFill>
                  <a:schemeClr val="tx1"/>
                </a:solidFill>
              </a:rPr>
              <a:t>SIA key + their own LLM key in each request</a:t>
            </a:r>
            <a:endParaRPr lang="en-US" sz="1400" dirty="0"/>
          </a:p>
        </p:txBody>
      </p:sp>
      <p:sp>
        <p:nvSpPr>
          <p:cNvPr id="6" name="API box"/>
          <p:cNvSpPr/>
          <p:nvPr/>
        </p:nvSpPr>
        <p:spPr>
          <a:xfrm>
            <a:off x="4434840" y="1463040"/>
            <a:ext cx="3291840" cy="1234440"/>
          </a:xfrm>
          <a:prstGeom prst="roundRect">
            <a:avLst>
              <a:gd name="adj" fmla="val 5926"/>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4663440" y="1600200"/>
            <a:ext cx="2834640" cy="365760"/>
          </a:xfrm>
          <a:prstGeom prst="rect">
            <a:avLst/>
          </a:prstGeom>
          <a:noFill/>
          <a:ln/>
        </p:spPr>
        <p:txBody>
          <a:bodyPr wrap="square" lIns="0" tIns="0" rIns="0" bIns="0" rtlCol="0" anchor="t"/>
          <a:lstStyle/>
          <a:p>
            <a:pPr indent="0" marL="0">
              <a:buNone/>
            </a:pPr>
            <a:r>
              <a:rPr lang="en-US" sz="1800" b="1" dirty="0">
                <a:solidFill>
                  <a:schemeClr val="bg1"/>
                </a:solidFill>
              </a:rPr>
              <a:t>api.py</a:t>
            </a:r>
            <a:endParaRPr lang="en-US" sz="1800" dirty="0"/>
          </a:p>
        </p:txBody>
      </p:sp>
      <p:sp>
        <p:nvSpPr>
          <p:cNvPr id="8" name="Text 6"/>
          <p:cNvSpPr txBox="1"/>
          <p:nvPr/>
        </p:nvSpPr>
        <p:spPr>
          <a:xfrm>
            <a:off x="4663440" y="2011680"/>
            <a:ext cx="2834640" cy="594360"/>
          </a:xfrm>
          <a:prstGeom prst="rect">
            <a:avLst/>
          </a:prstGeom>
          <a:noFill/>
          <a:ln/>
        </p:spPr>
        <p:txBody>
          <a:bodyPr wrap="square" lIns="0" tIns="0" rIns="0" bIns="0" rtlCol="0" anchor="t"/>
          <a:lstStyle/>
          <a:p>
            <a:pPr indent="0" marL="0">
              <a:buNone/>
            </a:pPr>
            <a:r>
              <a:rPr lang="en-US" sz="1400" dirty="0">
                <a:solidFill>
                  <a:schemeClr val="bg1"/>
                </a:solidFill>
              </a:rPr>
              <a:t>FastAPI routes, auth, tenant isolation, error codes</a:t>
            </a:r>
            <a:endParaRPr lang="en-US" sz="1400" dirty="0"/>
          </a:p>
        </p:txBody>
      </p:sp>
      <p:sp>
        <p:nvSpPr>
          <p:cNvPr id="9" name="Agent box"/>
          <p:cNvSpPr/>
          <p:nvPr/>
        </p:nvSpPr>
        <p:spPr>
          <a:xfrm>
            <a:off x="4434840" y="3200400"/>
            <a:ext cx="3291840" cy="1463040"/>
          </a:xfrm>
          <a:prstGeom prst="roundRect">
            <a:avLst>
              <a:gd name="adj" fmla="val 5000"/>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4663440" y="3337560"/>
            <a:ext cx="2834640" cy="365760"/>
          </a:xfrm>
          <a:prstGeom prst="rect">
            <a:avLst/>
          </a:prstGeom>
          <a:noFill/>
          <a:ln/>
        </p:spPr>
        <p:txBody>
          <a:bodyPr wrap="square" lIns="0" tIns="0" rIns="0" bIns="0" rtlCol="0" anchor="t"/>
          <a:lstStyle/>
          <a:p>
            <a:pPr indent="0" marL="0">
              <a:buNone/>
            </a:pPr>
            <a:r>
              <a:rPr lang="en-US" sz="1800" b="1" dirty="0">
                <a:solidFill>
                  <a:schemeClr val="tx1"/>
                </a:solidFill>
              </a:rPr>
              <a:t>agent.py</a:t>
            </a:r>
            <a:endParaRPr lang="en-US" sz="1800" dirty="0"/>
          </a:p>
        </p:txBody>
      </p:sp>
      <p:sp>
        <p:nvSpPr>
          <p:cNvPr id="11" name="Text 9"/>
          <p:cNvSpPr txBox="1"/>
          <p:nvPr/>
        </p:nvSpPr>
        <p:spPr>
          <a:xfrm>
            <a:off x="4663440" y="3749040"/>
            <a:ext cx="2834640" cy="822960"/>
          </a:xfrm>
          <a:prstGeom prst="rect">
            <a:avLst/>
          </a:prstGeom>
          <a:noFill/>
          <a:ln/>
        </p:spPr>
        <p:txBody>
          <a:bodyPr wrap="square" lIns="0" tIns="0" rIns="0" bIns="0" rtlCol="0" anchor="t"/>
          <a:lstStyle/>
          <a:p>
            <a:pPr indent="0" marL="0">
              <a:buNone/>
            </a:pPr>
            <a:r>
              <a:rPr lang="en-US" sz="1400" dirty="0">
                <a:solidFill>
                  <a:schemeClr val="tx1"/>
                </a:solidFill>
              </a:rPr>
              <a:t>The learning loop: run, critique, reflect, feedback, study, improve</a:t>
            </a:r>
            <a:endParaRPr lang="en-US" sz="1400" dirty="0"/>
          </a:p>
        </p:txBody>
      </p:sp>
      <p:sp>
        <p:nvSpPr>
          <p:cNvPr id="12" name="Store box"/>
          <p:cNvSpPr/>
          <p:nvPr/>
        </p:nvSpPr>
        <p:spPr>
          <a:xfrm>
            <a:off x="548640" y="3200400"/>
            <a:ext cx="3017520" cy="2834640"/>
          </a:xfrm>
          <a:prstGeom prst="roundRect">
            <a:avLst>
              <a:gd name="adj" fmla="val 258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777240" y="3337560"/>
            <a:ext cx="2560320" cy="365760"/>
          </a:xfrm>
          <a:prstGeom prst="rect">
            <a:avLst/>
          </a:prstGeom>
          <a:noFill/>
          <a:ln/>
        </p:spPr>
        <p:txBody>
          <a:bodyPr wrap="square" lIns="0" tIns="0" rIns="0" bIns="0" rtlCol="0" anchor="t"/>
          <a:lstStyle/>
          <a:p>
            <a:pPr indent="0" marL="0">
              <a:buNone/>
            </a:pPr>
            <a:r>
              <a:rPr lang="en-US" sz="1800" b="1" dirty="0">
                <a:solidFill>
                  <a:schemeClr val="tx1"/>
                </a:solidFill>
              </a:rPr>
              <a:t>store.py</a:t>
            </a:r>
            <a:endParaRPr lang="en-US" sz="1800" dirty="0"/>
          </a:p>
        </p:txBody>
      </p:sp>
      <p:sp>
        <p:nvSpPr>
          <p:cNvPr id="14" name="Text 12"/>
          <p:cNvSpPr txBox="1"/>
          <p:nvPr/>
        </p:nvSpPr>
        <p:spPr>
          <a:xfrm>
            <a:off x="777240" y="3749040"/>
            <a:ext cx="2560320" cy="2194560"/>
          </a:xfrm>
          <a:prstGeom prst="rect">
            <a:avLst/>
          </a:prstGeom>
          <a:noFill/>
          <a:ln/>
        </p:spPr>
        <p:txBody>
          <a:bodyPr wrap="square" lIns="0" tIns="0" rIns="0" bIns="0" rtlCol="0" anchor="t"/>
          <a:lstStyle/>
          <a:p>
            <a:pPr indent="0" marL="0">
              <a:buNone/>
            </a:pPr>
            <a:r>
              <a:rPr lang="en-US" sz="1400" dirty="0">
                <a:solidFill>
                  <a:schemeClr val="tx1"/>
                </a:solidFill>
              </a:rPr>
              <a:t>SQLite + FTS5 search</a:t>
            </a:r>
            <a:endParaRPr lang="en-US" sz="1400" dirty="0"/>
          </a:p>
          <a:p>
            <a:pPr indent="0" marL="0">
              <a:buNone/>
            </a:pPr>
            <a:r>
              <a:rPr lang="en-US" sz="1400" dirty="0">
                <a:solidFill>
                  <a:schemeClr val="tx1"/>
                </a:solidFill>
              </a:rPr>
              <a:t>7 tables: tenants, agents, docs/chunks, lessons, playbooks, episodes, examples</a:t>
            </a:r>
            <a:endParaRPr lang="en-US" sz="1400" dirty="0"/>
          </a:p>
        </p:txBody>
      </p:sp>
      <p:sp>
        <p:nvSpPr>
          <p:cNvPr id="15" name="LLM box"/>
          <p:cNvSpPr/>
          <p:nvPr/>
        </p:nvSpPr>
        <p:spPr>
          <a:xfrm>
            <a:off x="8595360" y="3200400"/>
            <a:ext cx="3044952" cy="1463040"/>
          </a:xfrm>
          <a:prstGeom prst="roundRect">
            <a:avLst>
              <a:gd name="adj" fmla="val 5000"/>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8823960" y="3337560"/>
            <a:ext cx="2587752" cy="365760"/>
          </a:xfrm>
          <a:prstGeom prst="rect">
            <a:avLst/>
          </a:prstGeom>
          <a:noFill/>
          <a:ln/>
        </p:spPr>
        <p:txBody>
          <a:bodyPr wrap="square" lIns="0" tIns="0" rIns="0" bIns="0" rtlCol="0" anchor="t"/>
          <a:lstStyle/>
          <a:p>
            <a:pPr indent="0" marL="0">
              <a:buNone/>
            </a:pPr>
            <a:r>
              <a:rPr lang="en-US" sz="1800" b="1" dirty="0">
                <a:solidFill>
                  <a:schemeClr val="bg1"/>
                </a:solidFill>
              </a:rPr>
              <a:t>llm.py</a:t>
            </a:r>
            <a:endParaRPr lang="en-US" sz="1800" dirty="0"/>
          </a:p>
        </p:txBody>
      </p:sp>
      <p:sp>
        <p:nvSpPr>
          <p:cNvPr id="17" name="Text 15"/>
          <p:cNvSpPr txBox="1"/>
          <p:nvPr/>
        </p:nvSpPr>
        <p:spPr>
          <a:xfrm>
            <a:off x="8823960" y="3749040"/>
            <a:ext cx="2587752" cy="822960"/>
          </a:xfrm>
          <a:prstGeom prst="rect">
            <a:avLst/>
          </a:prstGeom>
          <a:noFill/>
          <a:ln/>
        </p:spPr>
        <p:txBody>
          <a:bodyPr wrap="square" lIns="0" tIns="0" rIns="0" bIns="0" rtlCol="0" anchor="t"/>
          <a:lstStyle/>
          <a:p>
            <a:pPr indent="0" marL="0">
              <a:buNone/>
            </a:pPr>
            <a:r>
              <a:rPr lang="en-US" sz="1400" dirty="0">
                <a:solidFill>
                  <a:schemeClr val="bg1"/>
                </a:solidFill>
              </a:rPr>
              <a:t>Raw HTTP, retries with backoff, model fallback chain</a:t>
            </a:r>
            <a:endParaRPr lang="en-US" sz="1400" dirty="0"/>
          </a:p>
        </p:txBody>
      </p:sp>
      <p:sp>
        <p:nvSpPr>
          <p:cNvPr id="18" name="Provider box"/>
          <p:cNvSpPr/>
          <p:nvPr/>
        </p:nvSpPr>
        <p:spPr>
          <a:xfrm>
            <a:off x="8595360" y="5074920"/>
            <a:ext cx="3044952" cy="960120"/>
          </a:xfrm>
          <a:prstGeom prst="roundRect">
            <a:avLst>
              <a:gd name="adj" fmla="val 761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8823960" y="5212080"/>
            <a:ext cx="2587752" cy="365760"/>
          </a:xfrm>
          <a:prstGeom prst="rect">
            <a:avLst/>
          </a:prstGeom>
          <a:noFill/>
          <a:ln/>
        </p:spPr>
        <p:txBody>
          <a:bodyPr wrap="square" lIns="0" tIns="0" rIns="0" bIns="0" rtlCol="0" anchor="t"/>
          <a:lstStyle/>
          <a:p>
            <a:pPr indent="0" marL="0">
              <a:buNone/>
            </a:pPr>
            <a:r>
              <a:rPr lang="en-US" sz="1800" b="1" dirty="0">
                <a:solidFill>
                  <a:schemeClr val="tx1"/>
                </a:solidFill>
              </a:rPr>
              <a:t>Any LLM</a:t>
            </a:r>
            <a:endParaRPr lang="en-US" sz="1800" dirty="0"/>
          </a:p>
        </p:txBody>
      </p:sp>
      <p:sp>
        <p:nvSpPr>
          <p:cNvPr id="20" name="Text 18"/>
          <p:cNvSpPr txBox="1"/>
          <p:nvPr/>
        </p:nvSpPr>
        <p:spPr>
          <a:xfrm>
            <a:off x="8823960" y="5623560"/>
            <a:ext cx="2587752" cy="320040"/>
          </a:xfrm>
          <a:prstGeom prst="rect">
            <a:avLst/>
          </a:prstGeom>
          <a:noFill/>
          <a:ln/>
        </p:spPr>
        <p:txBody>
          <a:bodyPr wrap="square" lIns="0" tIns="0" rIns="0" bIns="0" rtlCol="0" anchor="t"/>
          <a:lstStyle/>
          <a:p>
            <a:pPr indent="0" marL="0">
              <a:buNone/>
            </a:pPr>
            <a:r>
              <a:rPr lang="en-US" sz="1400" dirty="0">
                <a:solidFill>
                  <a:schemeClr val="tx1"/>
                </a:solidFill>
              </a:rPr>
              <a:t>Gemini · Claude · OpenAI-compatible</a:t>
            </a:r>
            <a:endParaRPr lang="en-US" sz="1400" dirty="0"/>
          </a:p>
        </p:txBody>
      </p:sp>
      <p:sp>
        <p:nvSpPr>
          <p:cNvPr id="21" name="Customer to API"/>
          <p:cNvSpPr/>
          <p:nvPr/>
        </p:nvSpPr>
        <p:spPr>
          <a:xfrm>
            <a:off x="3566160" y="2075688"/>
            <a:ext cx="868680" cy="0"/>
          </a:xfrm>
          <a:prstGeom prst="line">
            <a:avLst/>
          </a:prstGeom>
          <a:noFill/>
          <a:ln w="25400">
            <a:solidFill>
              <a:schemeClr val="accent4"/>
            </a:solidFill>
            <a:prstDash val="solid"/>
            <a:tailEnd type="triangle"/>
          </a:ln>
        </p:spPr>
      </p:sp>
      <p:sp>
        <p:nvSpPr>
          <p:cNvPr id="22" name="API to agent"/>
          <p:cNvSpPr/>
          <p:nvPr/>
        </p:nvSpPr>
        <p:spPr>
          <a:xfrm>
            <a:off x="6080760" y="2697480"/>
            <a:ext cx="0" cy="502920"/>
          </a:xfrm>
          <a:prstGeom prst="line">
            <a:avLst/>
          </a:prstGeom>
          <a:noFill/>
          <a:ln w="25400">
            <a:solidFill>
              <a:schemeClr val="accent4"/>
            </a:solidFill>
            <a:prstDash val="solid"/>
            <a:tailEnd type="triangle"/>
          </a:ln>
        </p:spPr>
      </p:sp>
      <p:sp>
        <p:nvSpPr>
          <p:cNvPr id="23" name="Agent to store"/>
          <p:cNvSpPr/>
          <p:nvPr/>
        </p:nvSpPr>
        <p:spPr>
          <a:xfrm flipH="1">
            <a:off x="3566160" y="3931920"/>
            <a:ext cx="868680" cy="0"/>
          </a:xfrm>
          <a:prstGeom prst="line">
            <a:avLst/>
          </a:prstGeom>
          <a:noFill/>
          <a:ln w="25400">
            <a:solidFill>
              <a:schemeClr val="accent4"/>
            </a:solidFill>
            <a:prstDash val="solid"/>
            <a:tailEnd type="triangle"/>
          </a:ln>
        </p:spPr>
      </p:sp>
      <p:sp>
        <p:nvSpPr>
          <p:cNvPr id="24" name="Agent to LLM"/>
          <p:cNvSpPr/>
          <p:nvPr/>
        </p:nvSpPr>
        <p:spPr>
          <a:xfrm>
            <a:off x="7726680" y="3931920"/>
            <a:ext cx="868680" cy="0"/>
          </a:xfrm>
          <a:prstGeom prst="line">
            <a:avLst/>
          </a:prstGeom>
          <a:noFill/>
          <a:ln w="25400">
            <a:solidFill>
              <a:schemeClr val="accent4"/>
            </a:solidFill>
            <a:prstDash val="solid"/>
            <a:tailEnd type="triangle"/>
          </a:ln>
        </p:spPr>
      </p:sp>
      <p:sp>
        <p:nvSpPr>
          <p:cNvPr id="25" name="LLM to provider"/>
          <p:cNvSpPr/>
          <p:nvPr/>
        </p:nvSpPr>
        <p:spPr>
          <a:xfrm>
            <a:off x="10113264" y="4663440"/>
            <a:ext cx="0" cy="411480"/>
          </a:xfrm>
          <a:prstGeom prst="line">
            <a:avLst/>
          </a:prstGeom>
          <a:noFill/>
          <a:ln w="25400">
            <a:solidFill>
              <a:schemeClr val="accent4"/>
            </a:solidFill>
            <a:prstDash val="solid"/>
            <a:tailEnd type="triangle"/>
          </a:ln>
        </p:spPr>
      </p:sp>
      <p:sp>
        <p:nvSpPr>
          <p:cNvPr id="26" name="Key circle"/>
          <p:cNvSpPr/>
          <p:nvPr/>
        </p:nvSpPr>
        <p:spPr>
          <a:xfrm>
            <a:off x="8595360" y="1508760"/>
            <a:ext cx="548640" cy="548640"/>
          </a:xfrm>
          <a:prstGeom prst="ellipse">
            <a:avLst/>
          </a:prstGeom>
          <a:solidFill>
            <a:schemeClr val="accent2"/>
          </a:solidFill>
          <a:ln w="12700">
            <a:solidFill>
              <a:schemeClr val="accent2"/>
            </a:solidFill>
            <a:prstDash val="solid"/>
          </a:ln>
        </p:spPr>
      </p:sp>
      <p:pic>
        <p:nvPicPr>
          <p:cNvPr id="27" name="Key icon" descr="preencoded.png">    </p:cNvPr>
          <p:cNvPicPr>
            <a:picLocks noChangeAspect="1"/>
          </p:cNvPicPr>
          <p:nvPr/>
        </p:nvPicPr>
        <p:blipFill>
          <a:blip r:embed="rId1"/>
          <a:stretch>
            <a:fillRect/>
          </a:stretch>
        </p:blipFill>
        <p:spPr>
          <a:xfrm>
            <a:off x="8743493" y="1656893"/>
            <a:ext cx="252374" cy="252374"/>
          </a:xfrm>
          <a:prstGeom prst="rect">
            <a:avLst/>
          </a:prstGeom>
        </p:spPr>
      </p:pic>
      <p:sp>
        <p:nvSpPr>
          <p:cNvPr id="28" name="Text 25"/>
          <p:cNvSpPr txBox="1"/>
          <p:nvPr/>
        </p:nvSpPr>
        <p:spPr>
          <a:xfrm>
            <a:off x="9281160" y="1463040"/>
            <a:ext cx="2377440" cy="1234440"/>
          </a:xfrm>
          <a:prstGeom prst="rect">
            <a:avLst/>
          </a:prstGeom>
          <a:noFill/>
          <a:ln/>
        </p:spPr>
        <p:txBody>
          <a:bodyPr wrap="square" lIns="0" tIns="0" rIns="0" bIns="0" rtlCol="0" anchor="ctr"/>
          <a:lstStyle/>
          <a:p>
            <a:pPr indent="0" marL="0">
              <a:buNone/>
            </a:pPr>
            <a:r>
              <a:rPr lang="en-US" sz="1400" dirty="0">
                <a:solidFill>
                  <a:schemeClr val="tx2"/>
                </a:solidFill>
              </a:rPr>
              <a:t>The LLM key is used for that one request and never stored or logged.</a:t>
            </a:r>
            <a:endParaRPr lang="en-US" sz="1400" dirty="0"/>
          </a:p>
        </p:txBody>
      </p:sp>
      <p:sp>
        <p:nvSpPr>
          <p:cNvPr id="29" name="Text 26"/>
          <p:cNvSpPr txBox="1"/>
          <p:nvPr/>
        </p:nvSpPr>
        <p:spPr>
          <a:xfrm>
            <a:off x="4434840" y="5257800"/>
            <a:ext cx="3840480" cy="548640"/>
          </a:xfrm>
          <a:prstGeom prst="rect">
            <a:avLst/>
          </a:prstGeom>
          <a:noFill/>
          <a:ln/>
        </p:spPr>
        <p:txBody>
          <a:bodyPr wrap="square" lIns="0" tIns="0" rIns="0" bIns="0" rtlCol="0" anchor="t"/>
          <a:lstStyle/>
          <a:p>
            <a:pPr indent="0" marL="0">
              <a:buNone/>
            </a:pPr>
            <a:r>
              <a:rPr lang="en-US" sz="1400" i="1" dirty="0">
                <a:solidFill>
                  <a:schemeClr val="accent4"/>
                </a:solidFill>
              </a:rPr>
              <a:t>915 lines of Python in sia/  ·  12 offline tests pass</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0"/>
            <a:ext cx="8686800" cy="1188720"/>
          </a:xfrm>
          <a:prstGeom prst="rect">
            <a:avLst/>
          </a:prstGeom>
          <a:noFill/>
          <a:ln/>
        </p:spPr>
        <p:txBody>
          <a:bodyPr wrap="square" lIns="0" tIns="0" rIns="0" bIns="0" rtlCol="0" anchor="b"/>
          <a:lstStyle/>
          <a:p>
            <a:pPr algn="l" indent="0" marL="0">
              <a:buNone/>
            </a:pPr>
            <a:r>
              <a:rPr lang="en-US" sz="4000" b="1" dirty="0">
                <a:solidFill>
                  <a:schemeClr val="bg1"/>
                </a:solidFill>
              </a:rPr>
              <a:t>How it learns</a:t>
            </a:r>
            <a:endParaRPr lang="en-US" sz="4000" dirty="0"/>
          </a:p>
        </p:txBody>
      </p:sp>
      <p:sp>
        <p:nvSpPr>
          <p:cNvPr id="3" name="Text 0"/>
          <p:cNvSpPr/>
          <p:nvPr>
            <p:ph idx="101" type="body" hasCustomPrompt="1"/>
          </p:nvPr>
        </p:nvSpPr>
        <p:spPr>
          <a:xfrm>
            <a:off x="548640" y="3611880"/>
            <a:ext cx="8686800" cy="822960"/>
          </a:xfrm>
          <a:prstGeom prst="rect">
            <a:avLst/>
          </a:prstGeom>
          <a:noFill/>
          <a:ln/>
        </p:spPr>
        <p:txBody>
          <a:bodyPr wrap="square" lIns="0" tIns="0" rIns="0" bIns="0" rtlCol="0" anchor="t"/>
          <a:lstStyle/>
          <a:p>
            <a:pPr algn="l" indent="0" marL="0">
              <a:buNone/>
            </a:pPr>
            <a:r>
              <a:rPr lang="en-US" sz="2000" dirty="0">
                <a:solidFill>
                  <a:schemeClr val="accent6"/>
                </a:solidFill>
              </a:rPr>
              <a:t>One prompt, three loops, two outside signals</a:t>
            </a:r>
            <a:endParaRPr lang="en-US" sz="20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Everything it learns ends up as text in one prompt</a:t>
            </a:r>
            <a:endParaRPr lang="en-US" sz="3400" dirty="0"/>
          </a:p>
        </p:txBody>
      </p:sp>
      <p:sp>
        <p:nvSpPr>
          <p:cNvPr id="3" name="Layer 1"/>
          <p:cNvSpPr/>
          <p:nvPr/>
        </p:nvSpPr>
        <p:spPr>
          <a:xfrm>
            <a:off x="548640" y="1463040"/>
            <a:ext cx="5852160" cy="621792"/>
          </a:xfrm>
          <a:prstGeom prst="roundRect">
            <a:avLst>
              <a:gd name="adj" fmla="val 8824"/>
            </a:avLst>
          </a:prstGeom>
          <a:solidFill>
            <a:schemeClr val="accent5"/>
          </a:solidFill>
          <a:ln w="12700">
            <a:solidFill>
              <a:schemeClr val="accent5"/>
            </a:solidFill>
            <a:prstDash val="solid"/>
          </a:ln>
        </p:spPr>
      </p:sp>
      <p:sp>
        <p:nvSpPr>
          <p:cNvPr id="4" name="Text 2"/>
          <p:cNvSpPr txBox="1"/>
          <p:nvPr/>
        </p:nvSpPr>
        <p:spPr>
          <a:xfrm>
            <a:off x="731520" y="1463040"/>
            <a:ext cx="365760" cy="621792"/>
          </a:xfrm>
          <a:prstGeom prst="rect">
            <a:avLst/>
          </a:prstGeom>
          <a:noFill/>
          <a:ln/>
        </p:spPr>
        <p:txBody>
          <a:bodyPr wrap="square" lIns="0" tIns="0" rIns="0" bIns="0" rtlCol="0" anchor="ctr"/>
          <a:lstStyle/>
          <a:p>
            <a:pPr indent="0" marL="0">
              <a:buNone/>
            </a:pPr>
            <a:r>
              <a:rPr lang="en-US" sz="1800" b="1" dirty="0">
                <a:solidFill>
                  <a:schemeClr val="tx1"/>
                </a:solidFill>
              </a:rPr>
              <a:t>1</a:t>
            </a:r>
            <a:endParaRPr lang="en-US" sz="1800" dirty="0"/>
          </a:p>
        </p:txBody>
      </p:sp>
      <p:sp>
        <p:nvSpPr>
          <p:cNvPr id="5" name="Text 3"/>
          <p:cNvSpPr txBox="1"/>
          <p:nvPr/>
        </p:nvSpPr>
        <p:spPr>
          <a:xfrm>
            <a:off x="1143000" y="1463040"/>
            <a:ext cx="4114800" cy="621792"/>
          </a:xfrm>
          <a:prstGeom prst="rect">
            <a:avLst/>
          </a:prstGeom>
          <a:noFill/>
          <a:ln/>
        </p:spPr>
        <p:txBody>
          <a:bodyPr wrap="square" lIns="0" tIns="0" rIns="0" bIns="0" rtlCol="0" anchor="ctr"/>
          <a:lstStyle/>
          <a:p>
            <a:pPr indent="0" marL="0">
              <a:buNone/>
            </a:pPr>
            <a:r>
              <a:rPr lang="en-US" sz="1600" dirty="0">
                <a:solidFill>
                  <a:schemeClr val="tx1"/>
                </a:solidFill>
              </a:rPr>
              <a:t>You are an expert in {domain}</a:t>
            </a:r>
            <a:endParaRPr lang="en-US" sz="1600" dirty="0"/>
          </a:p>
        </p:txBody>
      </p:sp>
      <p:sp>
        <p:nvSpPr>
          <p:cNvPr id="6" name="Text 4"/>
          <p:cNvSpPr txBox="1"/>
          <p:nvPr/>
        </p:nvSpPr>
        <p:spPr>
          <a:xfrm>
            <a:off x="5303520" y="1463040"/>
            <a:ext cx="914400" cy="621792"/>
          </a:xfrm>
          <a:prstGeom prst="rect">
            <a:avLst/>
          </a:prstGeom>
          <a:noFill/>
          <a:ln/>
        </p:spPr>
        <p:txBody>
          <a:bodyPr wrap="square" lIns="0" tIns="0" rIns="0" bIns="0" rtlCol="0" anchor="ctr"/>
          <a:lstStyle/>
          <a:p>
            <a:pPr algn="r" indent="0" marL="0">
              <a:buNone/>
            </a:pPr>
            <a:r>
              <a:rPr lang="en-US" sz="1200" i="1" dirty="0">
                <a:solidFill>
                  <a:schemeClr val="tx2"/>
                </a:solidFill>
              </a:rPr>
              <a:t>fixed</a:t>
            </a:r>
            <a:endParaRPr lang="en-US" sz="1200" dirty="0"/>
          </a:p>
        </p:txBody>
      </p:sp>
      <p:sp>
        <p:nvSpPr>
          <p:cNvPr id="7" name="Layer 2"/>
          <p:cNvSpPr/>
          <p:nvPr/>
        </p:nvSpPr>
        <p:spPr>
          <a:xfrm>
            <a:off x="548640" y="2212848"/>
            <a:ext cx="5852160" cy="621792"/>
          </a:xfrm>
          <a:prstGeom prst="roundRect">
            <a:avLst>
              <a:gd name="adj" fmla="val 8824"/>
            </a:avLst>
          </a:prstGeom>
          <a:solidFill>
            <a:schemeClr val="accent5"/>
          </a:solidFill>
          <a:ln w="12700">
            <a:solidFill>
              <a:schemeClr val="accent5"/>
            </a:solidFill>
            <a:prstDash val="solid"/>
          </a:ln>
        </p:spPr>
      </p:sp>
      <p:sp>
        <p:nvSpPr>
          <p:cNvPr id="8" name="Text 6"/>
          <p:cNvSpPr txBox="1"/>
          <p:nvPr/>
        </p:nvSpPr>
        <p:spPr>
          <a:xfrm>
            <a:off x="731520" y="2212848"/>
            <a:ext cx="365760" cy="621792"/>
          </a:xfrm>
          <a:prstGeom prst="rect">
            <a:avLst/>
          </a:prstGeom>
          <a:noFill/>
          <a:ln/>
        </p:spPr>
        <p:txBody>
          <a:bodyPr wrap="square" lIns="0" tIns="0" rIns="0" bIns="0" rtlCol="0" anchor="ctr"/>
          <a:lstStyle/>
          <a:p>
            <a:pPr indent="0" marL="0">
              <a:buNone/>
            </a:pPr>
            <a:r>
              <a:rPr lang="en-US" sz="1800" b="1" dirty="0">
                <a:solidFill>
                  <a:schemeClr val="tx1"/>
                </a:solidFill>
              </a:rPr>
              <a:t>2</a:t>
            </a:r>
            <a:endParaRPr lang="en-US" sz="1800" dirty="0"/>
          </a:p>
        </p:txBody>
      </p:sp>
      <p:sp>
        <p:nvSpPr>
          <p:cNvPr id="9" name="Text 7"/>
          <p:cNvSpPr txBox="1"/>
          <p:nvPr/>
        </p:nvSpPr>
        <p:spPr>
          <a:xfrm>
            <a:off x="1143000" y="2212848"/>
            <a:ext cx="4114800" cy="621792"/>
          </a:xfrm>
          <a:prstGeom prst="rect">
            <a:avLst/>
          </a:prstGeom>
          <a:noFill/>
          <a:ln/>
        </p:spPr>
        <p:txBody>
          <a:bodyPr wrap="square" lIns="0" tIns="0" rIns="0" bIns="0" rtlCol="0" anchor="ctr"/>
          <a:lstStyle/>
          <a:p>
            <a:pPr indent="0" marL="0">
              <a:buNone/>
            </a:pPr>
            <a:r>
              <a:rPr lang="en-US" sz="1600" dirty="0">
                <a:solidFill>
                  <a:schemeClr val="tx1"/>
                </a:solidFill>
              </a:rPr>
              <a:t>Customer's instructions</a:t>
            </a:r>
            <a:endParaRPr lang="en-US" sz="1600" dirty="0"/>
          </a:p>
        </p:txBody>
      </p:sp>
      <p:sp>
        <p:nvSpPr>
          <p:cNvPr id="10" name="Text 8"/>
          <p:cNvSpPr txBox="1"/>
          <p:nvPr/>
        </p:nvSpPr>
        <p:spPr>
          <a:xfrm>
            <a:off x="5303520" y="2212848"/>
            <a:ext cx="914400" cy="621792"/>
          </a:xfrm>
          <a:prstGeom prst="rect">
            <a:avLst/>
          </a:prstGeom>
          <a:noFill/>
          <a:ln/>
        </p:spPr>
        <p:txBody>
          <a:bodyPr wrap="square" lIns="0" tIns="0" rIns="0" bIns="0" rtlCol="0" anchor="ctr"/>
          <a:lstStyle/>
          <a:p>
            <a:pPr algn="r" indent="0" marL="0">
              <a:buNone/>
            </a:pPr>
            <a:r>
              <a:rPr lang="en-US" sz="1200" i="1" dirty="0">
                <a:solidFill>
                  <a:schemeClr val="tx2"/>
                </a:solidFill>
              </a:rPr>
              <a:t>fixed</a:t>
            </a:r>
            <a:endParaRPr lang="en-US" sz="1200" dirty="0"/>
          </a:p>
        </p:txBody>
      </p:sp>
      <p:sp>
        <p:nvSpPr>
          <p:cNvPr id="11" name="Layer 3"/>
          <p:cNvSpPr/>
          <p:nvPr/>
        </p:nvSpPr>
        <p:spPr>
          <a:xfrm>
            <a:off x="548640" y="2962656"/>
            <a:ext cx="5852160" cy="621792"/>
          </a:xfrm>
          <a:prstGeom prst="roundRect">
            <a:avLst>
              <a:gd name="adj" fmla="val 8824"/>
            </a:avLst>
          </a:prstGeom>
          <a:solidFill>
            <a:schemeClr val="accent1"/>
          </a:solidFill>
          <a:ln w="12700">
            <a:solidFill>
              <a:schemeClr val="accent1"/>
            </a:solidFill>
            <a:prstDash val="solid"/>
          </a:ln>
        </p:spPr>
      </p:sp>
      <p:sp>
        <p:nvSpPr>
          <p:cNvPr id="12" name="Text 10"/>
          <p:cNvSpPr txBox="1"/>
          <p:nvPr/>
        </p:nvSpPr>
        <p:spPr>
          <a:xfrm>
            <a:off x="731520" y="2962656"/>
            <a:ext cx="365760" cy="621792"/>
          </a:xfrm>
          <a:prstGeom prst="rect">
            <a:avLst/>
          </a:prstGeom>
          <a:noFill/>
          <a:ln/>
        </p:spPr>
        <p:txBody>
          <a:bodyPr wrap="square" lIns="0" tIns="0" rIns="0" bIns="0" rtlCol="0" anchor="ctr"/>
          <a:lstStyle/>
          <a:p>
            <a:pPr indent="0" marL="0">
              <a:buNone/>
            </a:pPr>
            <a:r>
              <a:rPr lang="en-US" sz="1800" b="1" dirty="0">
                <a:solidFill>
                  <a:schemeClr val="bg1"/>
                </a:solidFill>
              </a:rPr>
              <a:t>3</a:t>
            </a:r>
            <a:endParaRPr lang="en-US" sz="1800" dirty="0"/>
          </a:p>
        </p:txBody>
      </p:sp>
      <p:sp>
        <p:nvSpPr>
          <p:cNvPr id="13" name="Text 11"/>
          <p:cNvSpPr txBox="1"/>
          <p:nvPr/>
        </p:nvSpPr>
        <p:spPr>
          <a:xfrm>
            <a:off x="1143000" y="2962656"/>
            <a:ext cx="4114800" cy="621792"/>
          </a:xfrm>
          <a:prstGeom prst="rect">
            <a:avLst/>
          </a:prstGeom>
          <a:noFill/>
          <a:ln/>
        </p:spPr>
        <p:txBody>
          <a:bodyPr wrap="square" lIns="0" tIns="0" rIns="0" bIns="0" rtlCol="0" anchor="ctr"/>
          <a:lstStyle/>
          <a:p>
            <a:pPr indent="0" marL="0">
              <a:buNone/>
            </a:pPr>
            <a:r>
              <a:rPr lang="en-US" sz="1600" b="1" dirty="0">
                <a:solidFill>
                  <a:schemeClr val="bg1"/>
                </a:solidFill>
              </a:rPr>
              <a:t>Playbook: strategy rewritten by improve()</a:t>
            </a:r>
            <a:endParaRPr lang="en-US" sz="1600" dirty="0"/>
          </a:p>
        </p:txBody>
      </p:sp>
      <p:sp>
        <p:nvSpPr>
          <p:cNvPr id="14" name="Text 12"/>
          <p:cNvSpPr txBox="1"/>
          <p:nvPr/>
        </p:nvSpPr>
        <p:spPr>
          <a:xfrm>
            <a:off x="5303520" y="2962656"/>
            <a:ext cx="914400" cy="621792"/>
          </a:xfrm>
          <a:prstGeom prst="rect">
            <a:avLst/>
          </a:prstGeom>
          <a:noFill/>
          <a:ln/>
        </p:spPr>
        <p:txBody>
          <a:bodyPr wrap="square" lIns="0" tIns="0" rIns="0" bIns="0" rtlCol="0" anchor="ctr"/>
          <a:lstStyle/>
          <a:p>
            <a:pPr algn="r" indent="0" marL="0">
              <a:buNone/>
            </a:pPr>
            <a:r>
              <a:rPr lang="en-US" sz="1200" i="1" dirty="0">
                <a:solidFill>
                  <a:schemeClr val="bg1"/>
                </a:solidFill>
              </a:rPr>
              <a:t>learned</a:t>
            </a:r>
            <a:endParaRPr lang="en-US" sz="1200" dirty="0"/>
          </a:p>
        </p:txBody>
      </p:sp>
      <p:sp>
        <p:nvSpPr>
          <p:cNvPr id="15" name="Layer 4"/>
          <p:cNvSpPr/>
          <p:nvPr/>
        </p:nvSpPr>
        <p:spPr>
          <a:xfrm>
            <a:off x="548640" y="3712464"/>
            <a:ext cx="5852160" cy="621792"/>
          </a:xfrm>
          <a:prstGeom prst="roundRect">
            <a:avLst>
              <a:gd name="adj" fmla="val 8824"/>
            </a:avLst>
          </a:prstGeom>
          <a:solidFill>
            <a:schemeClr val="accent1"/>
          </a:solidFill>
          <a:ln w="12700">
            <a:solidFill>
              <a:schemeClr val="accent1"/>
            </a:solidFill>
            <a:prstDash val="solid"/>
          </a:ln>
        </p:spPr>
      </p:sp>
      <p:sp>
        <p:nvSpPr>
          <p:cNvPr id="16" name="Text 14"/>
          <p:cNvSpPr txBox="1"/>
          <p:nvPr/>
        </p:nvSpPr>
        <p:spPr>
          <a:xfrm>
            <a:off x="731520" y="3712464"/>
            <a:ext cx="365760" cy="621792"/>
          </a:xfrm>
          <a:prstGeom prst="rect">
            <a:avLst/>
          </a:prstGeom>
          <a:noFill/>
          <a:ln/>
        </p:spPr>
        <p:txBody>
          <a:bodyPr wrap="square" lIns="0" tIns="0" rIns="0" bIns="0" rtlCol="0" anchor="ctr"/>
          <a:lstStyle/>
          <a:p>
            <a:pPr indent="0" marL="0">
              <a:buNone/>
            </a:pPr>
            <a:r>
              <a:rPr lang="en-US" sz="1800" b="1" dirty="0">
                <a:solidFill>
                  <a:schemeClr val="bg1"/>
                </a:solidFill>
              </a:rPr>
              <a:t>4</a:t>
            </a:r>
            <a:endParaRPr lang="en-US" sz="1800" dirty="0"/>
          </a:p>
        </p:txBody>
      </p:sp>
      <p:sp>
        <p:nvSpPr>
          <p:cNvPr id="17" name="Text 15"/>
          <p:cNvSpPr txBox="1"/>
          <p:nvPr/>
        </p:nvSpPr>
        <p:spPr>
          <a:xfrm>
            <a:off x="1143000" y="3712464"/>
            <a:ext cx="4114800" cy="621792"/>
          </a:xfrm>
          <a:prstGeom prst="rect">
            <a:avLst/>
          </a:prstGeom>
          <a:noFill/>
          <a:ln/>
        </p:spPr>
        <p:txBody>
          <a:bodyPr wrap="square" lIns="0" tIns="0" rIns="0" bIns="0" rtlCol="0" anchor="ctr"/>
          <a:lstStyle/>
          <a:p>
            <a:pPr indent="0" marL="0">
              <a:buNone/>
            </a:pPr>
            <a:r>
              <a:rPr lang="en-US" sz="1600" b="1" dirty="0">
                <a:solidFill>
                  <a:schemeClr val="bg1"/>
                </a:solidFill>
              </a:rPr>
              <a:t>Lessons: up to 6 relevant + proven notes</a:t>
            </a:r>
            <a:endParaRPr lang="en-US" sz="1600" dirty="0"/>
          </a:p>
        </p:txBody>
      </p:sp>
      <p:sp>
        <p:nvSpPr>
          <p:cNvPr id="18" name="Text 16"/>
          <p:cNvSpPr txBox="1"/>
          <p:nvPr/>
        </p:nvSpPr>
        <p:spPr>
          <a:xfrm>
            <a:off x="5303520" y="3712464"/>
            <a:ext cx="914400" cy="621792"/>
          </a:xfrm>
          <a:prstGeom prst="rect">
            <a:avLst/>
          </a:prstGeom>
          <a:noFill/>
          <a:ln/>
        </p:spPr>
        <p:txBody>
          <a:bodyPr wrap="square" lIns="0" tIns="0" rIns="0" bIns="0" rtlCol="0" anchor="ctr"/>
          <a:lstStyle/>
          <a:p>
            <a:pPr algn="r" indent="0" marL="0">
              <a:buNone/>
            </a:pPr>
            <a:r>
              <a:rPr lang="en-US" sz="1200" i="1" dirty="0">
                <a:solidFill>
                  <a:schemeClr val="bg1"/>
                </a:solidFill>
              </a:rPr>
              <a:t>learned</a:t>
            </a:r>
            <a:endParaRPr lang="en-US" sz="1200" dirty="0"/>
          </a:p>
        </p:txBody>
      </p:sp>
      <p:sp>
        <p:nvSpPr>
          <p:cNvPr id="19" name="Layer 5"/>
          <p:cNvSpPr/>
          <p:nvPr/>
        </p:nvSpPr>
        <p:spPr>
          <a:xfrm>
            <a:off x="548640" y="4462272"/>
            <a:ext cx="5852160" cy="621792"/>
          </a:xfrm>
          <a:prstGeom prst="roundRect">
            <a:avLst>
              <a:gd name="adj" fmla="val 8824"/>
            </a:avLst>
          </a:prstGeom>
          <a:solidFill>
            <a:schemeClr val="accent2"/>
          </a:solidFill>
          <a:ln w="12700">
            <a:solidFill>
              <a:schemeClr val="accent2"/>
            </a:solidFill>
            <a:prstDash val="solid"/>
          </a:ln>
        </p:spPr>
      </p:sp>
      <p:sp>
        <p:nvSpPr>
          <p:cNvPr id="20" name="Text 18"/>
          <p:cNvSpPr txBox="1"/>
          <p:nvPr/>
        </p:nvSpPr>
        <p:spPr>
          <a:xfrm>
            <a:off x="731520" y="4462272"/>
            <a:ext cx="365760" cy="621792"/>
          </a:xfrm>
          <a:prstGeom prst="rect">
            <a:avLst/>
          </a:prstGeom>
          <a:noFill/>
          <a:ln/>
        </p:spPr>
        <p:txBody>
          <a:bodyPr wrap="square" lIns="0" tIns="0" rIns="0" bIns="0" rtlCol="0" anchor="ctr"/>
          <a:lstStyle/>
          <a:p>
            <a:pPr indent="0" marL="0">
              <a:buNone/>
            </a:pPr>
            <a:r>
              <a:rPr lang="en-US" sz="1800" b="1" dirty="0">
                <a:solidFill>
                  <a:schemeClr val="bg1"/>
                </a:solidFill>
              </a:rPr>
              <a:t>5</a:t>
            </a:r>
            <a:endParaRPr lang="en-US" sz="1800" dirty="0"/>
          </a:p>
        </p:txBody>
      </p:sp>
      <p:sp>
        <p:nvSpPr>
          <p:cNvPr id="21" name="Text 19"/>
          <p:cNvSpPr txBox="1"/>
          <p:nvPr/>
        </p:nvSpPr>
        <p:spPr>
          <a:xfrm>
            <a:off x="1143000" y="4462272"/>
            <a:ext cx="4114800" cy="621792"/>
          </a:xfrm>
          <a:prstGeom prst="rect">
            <a:avLst/>
          </a:prstGeom>
          <a:noFill/>
          <a:ln/>
        </p:spPr>
        <p:txBody>
          <a:bodyPr wrap="square" lIns="0" tIns="0" rIns="0" bIns="0" rtlCol="0" anchor="ctr"/>
          <a:lstStyle/>
          <a:p>
            <a:pPr indent="0" marL="0">
              <a:buNone/>
            </a:pPr>
            <a:r>
              <a:rPr lang="en-US" sz="1600" b="1" dirty="0">
                <a:solidFill>
                  <a:schemeClr val="bg1"/>
                </a:solidFill>
              </a:rPr>
              <a:t>Knowledge: top 5 matching document chunks</a:t>
            </a:r>
            <a:endParaRPr lang="en-US" sz="1600" dirty="0"/>
          </a:p>
        </p:txBody>
      </p:sp>
      <p:sp>
        <p:nvSpPr>
          <p:cNvPr id="22" name="Text 20"/>
          <p:cNvSpPr txBox="1"/>
          <p:nvPr/>
        </p:nvSpPr>
        <p:spPr>
          <a:xfrm>
            <a:off x="5303520" y="4462272"/>
            <a:ext cx="914400" cy="621792"/>
          </a:xfrm>
          <a:prstGeom prst="rect">
            <a:avLst/>
          </a:prstGeom>
          <a:noFill/>
          <a:ln/>
        </p:spPr>
        <p:txBody>
          <a:bodyPr wrap="square" lIns="0" tIns="0" rIns="0" bIns="0" rtlCol="0" anchor="ctr"/>
          <a:lstStyle/>
          <a:p>
            <a:pPr algn="r" indent="0" marL="0">
              <a:buNone/>
            </a:pPr>
            <a:r>
              <a:rPr lang="en-US" sz="1200" i="1" dirty="0">
                <a:solidFill>
                  <a:schemeClr val="bg1"/>
                </a:solidFill>
              </a:rPr>
              <a:t>retrieved</a:t>
            </a:r>
            <a:endParaRPr lang="en-US" sz="1200" dirty="0"/>
          </a:p>
        </p:txBody>
      </p:sp>
      <p:sp>
        <p:nvSpPr>
          <p:cNvPr id="23" name="Layer 6"/>
          <p:cNvSpPr/>
          <p:nvPr/>
        </p:nvSpPr>
        <p:spPr>
          <a:xfrm>
            <a:off x="548640" y="5212080"/>
            <a:ext cx="5852160" cy="621792"/>
          </a:xfrm>
          <a:prstGeom prst="roundRect">
            <a:avLst>
              <a:gd name="adj" fmla="val 8824"/>
            </a:avLst>
          </a:prstGeom>
          <a:solidFill>
            <a:schemeClr val="accent5"/>
          </a:solidFill>
          <a:ln w="12700">
            <a:solidFill>
              <a:schemeClr val="accent5"/>
            </a:solidFill>
            <a:prstDash val="solid"/>
          </a:ln>
        </p:spPr>
      </p:sp>
      <p:sp>
        <p:nvSpPr>
          <p:cNvPr id="24" name="Text 22"/>
          <p:cNvSpPr txBox="1"/>
          <p:nvPr/>
        </p:nvSpPr>
        <p:spPr>
          <a:xfrm>
            <a:off x="731520" y="5212080"/>
            <a:ext cx="365760" cy="621792"/>
          </a:xfrm>
          <a:prstGeom prst="rect">
            <a:avLst/>
          </a:prstGeom>
          <a:noFill/>
          <a:ln/>
        </p:spPr>
        <p:txBody>
          <a:bodyPr wrap="square" lIns="0" tIns="0" rIns="0" bIns="0" rtlCol="0" anchor="ctr"/>
          <a:lstStyle/>
          <a:p>
            <a:pPr indent="0" marL="0">
              <a:buNone/>
            </a:pPr>
            <a:r>
              <a:rPr lang="en-US" sz="1800" b="1" dirty="0">
                <a:solidFill>
                  <a:schemeClr val="tx1"/>
                </a:solidFill>
              </a:rPr>
              <a:t>6</a:t>
            </a:r>
            <a:endParaRPr lang="en-US" sz="1800" dirty="0"/>
          </a:p>
        </p:txBody>
      </p:sp>
      <p:sp>
        <p:nvSpPr>
          <p:cNvPr id="25" name="Text 23"/>
          <p:cNvSpPr txBox="1"/>
          <p:nvPr/>
        </p:nvSpPr>
        <p:spPr>
          <a:xfrm>
            <a:off x="1143000" y="5212080"/>
            <a:ext cx="4114800" cy="621792"/>
          </a:xfrm>
          <a:prstGeom prst="rect">
            <a:avLst/>
          </a:prstGeom>
          <a:noFill/>
          <a:ln/>
        </p:spPr>
        <p:txBody>
          <a:bodyPr wrap="square" lIns="0" tIns="0" rIns="0" bIns="0" rtlCol="0" anchor="ctr"/>
          <a:lstStyle/>
          <a:p>
            <a:pPr indent="0" marL="0">
              <a:buNone/>
            </a:pPr>
            <a:r>
              <a:rPr lang="en-US" sz="1600" dirty="0">
                <a:solidFill>
                  <a:schemeClr val="tx1"/>
                </a:solidFill>
              </a:rPr>
              <a:t>"If information is missing, say so"</a:t>
            </a:r>
            <a:endParaRPr lang="en-US" sz="1600" dirty="0"/>
          </a:p>
        </p:txBody>
      </p:sp>
      <p:sp>
        <p:nvSpPr>
          <p:cNvPr id="26" name="Text 24"/>
          <p:cNvSpPr txBox="1"/>
          <p:nvPr/>
        </p:nvSpPr>
        <p:spPr>
          <a:xfrm>
            <a:off x="5303520" y="5212080"/>
            <a:ext cx="914400" cy="621792"/>
          </a:xfrm>
          <a:prstGeom prst="rect">
            <a:avLst/>
          </a:prstGeom>
          <a:noFill/>
          <a:ln/>
        </p:spPr>
        <p:txBody>
          <a:bodyPr wrap="square" lIns="0" tIns="0" rIns="0" bIns="0" rtlCol="0" anchor="ctr"/>
          <a:lstStyle/>
          <a:p>
            <a:pPr algn="r" indent="0" marL="0">
              <a:buNone/>
            </a:pPr>
            <a:r>
              <a:rPr lang="en-US" sz="1200" i="1" dirty="0">
                <a:solidFill>
                  <a:schemeClr val="tx2"/>
                </a:solidFill>
              </a:rPr>
              <a:t>fixed</a:t>
            </a:r>
            <a:endParaRPr lang="en-US" sz="1200" dirty="0"/>
          </a:p>
        </p:txBody>
      </p:sp>
      <p:sp>
        <p:nvSpPr>
          <p:cNvPr id="27" name="Text 25"/>
          <p:cNvSpPr txBox="1"/>
          <p:nvPr/>
        </p:nvSpPr>
        <p:spPr>
          <a:xfrm>
            <a:off x="6903720" y="1463040"/>
            <a:ext cx="4754880" cy="457200"/>
          </a:xfrm>
          <a:prstGeom prst="rect">
            <a:avLst/>
          </a:prstGeom>
          <a:noFill/>
          <a:ln/>
        </p:spPr>
        <p:txBody>
          <a:bodyPr wrap="square" lIns="0" tIns="0" rIns="0" bIns="0" rtlCol="0" anchor="t"/>
          <a:lstStyle/>
          <a:p>
            <a:pPr indent="0" marL="0">
              <a:buNone/>
            </a:pPr>
            <a:r>
              <a:rPr lang="en-US" sz="2000" b="1" dirty="0">
                <a:solidFill>
                  <a:schemeClr val="tx2"/>
                </a:solidFill>
              </a:rPr>
              <a:t>Why this design matters</a:t>
            </a:r>
            <a:endParaRPr lang="en-US" sz="2000" dirty="0"/>
          </a:p>
        </p:txBody>
      </p:sp>
      <p:sp>
        <p:nvSpPr>
          <p:cNvPr id="28" name="Text 26"/>
          <p:cNvSpPr txBox="1"/>
          <p:nvPr/>
        </p:nvSpPr>
        <p:spPr>
          <a:xfrm>
            <a:off x="6903720" y="2057400"/>
            <a:ext cx="4709160" cy="32918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The model never changes. Only this prompt changes.</a:t>
            </a:r>
            <a:endParaRPr lang="en-US" sz="1600" dirty="0"/>
          </a:p>
          <a:p>
            <a:pPr marL="342900" indent="-342900">
              <a:spcAft>
                <a:spcPts val="800"/>
              </a:spcAft>
              <a:buSzPct val="100000"/>
              <a:buChar char="•"/>
            </a:pPr>
            <a:r>
              <a:rPr lang="en-US" sz="1600" dirty="0">
                <a:solidFill>
                  <a:schemeClr val="tx1"/>
                </a:solidFill>
              </a:rPr>
              <a:t>Every improvement is readable text you can inspect, disable or roll back.</a:t>
            </a:r>
            <a:endParaRPr lang="en-US" sz="1600" dirty="0"/>
          </a:p>
          <a:p>
            <a:pPr marL="342900" indent="-342900">
              <a:spcAft>
                <a:spcPts val="800"/>
              </a:spcAft>
              <a:buSzPct val="100000"/>
              <a:buChar char="•"/>
            </a:pPr>
            <a:r>
              <a:rPr lang="en-US" sz="1600" dirty="0">
                <a:solidFill>
                  <a:schemeClr val="tx1"/>
                </a:solidFill>
              </a:rPr>
              <a:t>Every bad lesson is also text, and it misleads every future answer it is retrieved for.</a:t>
            </a:r>
            <a:endParaRPr lang="en-US" sz="1600" dirty="0"/>
          </a:p>
          <a:p>
            <a:pPr marL="342900" indent="-342900">
              <a:spcAft>
                <a:spcPts val="800"/>
              </a:spcAft>
              <a:buSzPct val="100000"/>
              <a:buChar char="•"/>
            </a:pPr>
            <a:r>
              <a:rPr lang="en-US" sz="1600" dirty="0">
                <a:solidFill>
                  <a:schemeClr val="tx1"/>
                </a:solidFill>
              </a:rPr>
              <a:t>So the quality of what gets written into layers 3 and 4 decides everything.</a:t>
            </a:r>
            <a:endParaRPr lang="en-US" sz="16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Loop 1 · Within a task: draft, critique, revise</a:t>
            </a:r>
            <a:endParaRPr lang="en-US" sz="3400" dirty="0"/>
          </a:p>
        </p:txBody>
      </p:sp>
      <p:sp>
        <p:nvSpPr>
          <p:cNvPr id="3" name="Draft box"/>
          <p:cNvSpPr/>
          <p:nvPr/>
        </p:nvSpPr>
        <p:spPr>
          <a:xfrm>
            <a:off x="548640" y="1600200"/>
            <a:ext cx="237744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31520" y="1737360"/>
            <a:ext cx="2011680" cy="365760"/>
          </a:xfrm>
          <a:prstGeom prst="rect">
            <a:avLst/>
          </a:prstGeom>
          <a:noFill/>
          <a:ln/>
        </p:spPr>
        <p:txBody>
          <a:bodyPr wrap="square" lIns="0" tIns="0" rIns="0" bIns="0" rtlCol="0" anchor="t"/>
          <a:lstStyle/>
          <a:p>
            <a:pPr algn="ctr" indent="0" marL="0">
              <a:buNone/>
            </a:pPr>
            <a:r>
              <a:rPr lang="en-US" sz="1800" b="1" dirty="0">
                <a:solidFill>
                  <a:schemeClr val="tx1"/>
                </a:solidFill>
              </a:rPr>
              <a:t>Draft</a:t>
            </a:r>
            <a:endParaRPr lang="en-US" sz="1800" dirty="0"/>
          </a:p>
        </p:txBody>
      </p:sp>
      <p:sp>
        <p:nvSpPr>
          <p:cNvPr id="5" name="Text 3"/>
          <p:cNvSpPr txBox="1"/>
          <p:nvPr/>
        </p:nvSpPr>
        <p:spPr>
          <a:xfrm>
            <a:off x="731520" y="2130552"/>
            <a:ext cx="2011680" cy="594360"/>
          </a:xfrm>
          <a:prstGeom prst="rect">
            <a:avLst/>
          </a:prstGeom>
          <a:noFill/>
          <a:ln/>
        </p:spPr>
        <p:txBody>
          <a:bodyPr wrap="square" lIns="0" tIns="0" rIns="0" bIns="0" rtlCol="0" anchor="t"/>
          <a:lstStyle/>
          <a:p>
            <a:pPr algn="ctr" indent="0" marL="0">
              <a:buNone/>
            </a:pPr>
            <a:r>
              <a:rPr lang="en-US" sz="1400" dirty="0">
                <a:solidFill>
                  <a:schemeClr val="tx1"/>
                </a:solidFill>
              </a:rPr>
              <a:t>answer using the full prompt</a:t>
            </a:r>
            <a:endParaRPr lang="en-US" sz="1400" dirty="0"/>
          </a:p>
        </p:txBody>
      </p:sp>
      <p:sp>
        <p:nvSpPr>
          <p:cNvPr id="6" name="Critique box"/>
          <p:cNvSpPr/>
          <p:nvPr/>
        </p:nvSpPr>
        <p:spPr>
          <a:xfrm>
            <a:off x="3429000" y="1600200"/>
            <a:ext cx="2651760" cy="1188720"/>
          </a:xfrm>
          <a:prstGeom prst="roundRect">
            <a:avLst>
              <a:gd name="adj" fmla="val 6154"/>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3611880" y="1737360"/>
            <a:ext cx="2286000" cy="365760"/>
          </a:xfrm>
          <a:prstGeom prst="rect">
            <a:avLst/>
          </a:prstGeom>
          <a:noFill/>
          <a:ln/>
        </p:spPr>
        <p:txBody>
          <a:bodyPr wrap="square" lIns="0" tIns="0" rIns="0" bIns="0" rtlCol="0" anchor="t"/>
          <a:lstStyle/>
          <a:p>
            <a:pPr algn="ctr" indent="0" marL="0">
              <a:buNone/>
            </a:pPr>
            <a:r>
              <a:rPr lang="en-US" sz="1800" b="1" dirty="0">
                <a:solidFill>
                  <a:schemeClr val="bg1"/>
                </a:solidFill>
              </a:rPr>
              <a:t>Critique</a:t>
            </a:r>
            <a:endParaRPr lang="en-US" sz="1800" dirty="0"/>
          </a:p>
        </p:txBody>
      </p:sp>
      <p:sp>
        <p:nvSpPr>
          <p:cNvPr id="8" name="Text 6"/>
          <p:cNvSpPr txBox="1"/>
          <p:nvPr/>
        </p:nvSpPr>
        <p:spPr>
          <a:xfrm>
            <a:off x="3611880" y="2130552"/>
            <a:ext cx="2286000" cy="594360"/>
          </a:xfrm>
          <a:prstGeom prst="rect">
            <a:avLst/>
          </a:prstGeom>
          <a:noFill/>
          <a:ln/>
        </p:spPr>
        <p:txBody>
          <a:bodyPr wrap="square" lIns="0" tIns="0" rIns="0" bIns="0" rtlCol="0" anchor="t"/>
          <a:lstStyle/>
          <a:p>
            <a:pPr algn="ctr" indent="0" marL="0">
              <a:buNone/>
            </a:pPr>
            <a:r>
              <a:rPr lang="en-US" sz="1400" dirty="0">
                <a:solidFill>
                  <a:schemeClr val="bg1"/>
                </a:solidFill>
              </a:rPr>
              <a:t>same model scores 0–10 against the rubric, lists issues</a:t>
            </a:r>
            <a:endParaRPr lang="en-US" sz="1400" dirty="0"/>
          </a:p>
        </p:txBody>
      </p:sp>
      <p:sp>
        <p:nvSpPr>
          <p:cNvPr id="9" name="Decision"/>
          <p:cNvSpPr/>
          <p:nvPr/>
        </p:nvSpPr>
        <p:spPr>
          <a:xfrm>
            <a:off x="6675120" y="1417320"/>
            <a:ext cx="2011680" cy="1554480"/>
          </a:xfrm>
          <a:prstGeom prst="diamond">
            <a:avLst/>
          </a:prstGeom>
          <a:solidFill>
            <a:schemeClr val="accent1"/>
          </a:solidFill>
          <a:ln w="12700">
            <a:solidFill>
              <a:schemeClr val="accent1"/>
            </a:solidFill>
            <a:prstDash val="solid"/>
          </a:ln>
        </p:spPr>
      </p:sp>
      <p:sp>
        <p:nvSpPr>
          <p:cNvPr id="10" name="Text 8"/>
          <p:cNvSpPr txBox="1"/>
          <p:nvPr/>
        </p:nvSpPr>
        <p:spPr>
          <a:xfrm>
            <a:off x="6812280" y="1920240"/>
            <a:ext cx="1737360" cy="548640"/>
          </a:xfrm>
          <a:prstGeom prst="rect">
            <a:avLst/>
          </a:prstGeom>
          <a:noFill/>
          <a:ln/>
        </p:spPr>
        <p:txBody>
          <a:bodyPr wrap="square" lIns="0" tIns="0" rIns="0" bIns="0" rtlCol="0" anchor="ctr"/>
          <a:lstStyle/>
          <a:p>
            <a:pPr algn="ctr" indent="0" marL="0">
              <a:buNone/>
            </a:pPr>
            <a:r>
              <a:rPr lang="en-US" sz="1600" b="1" dirty="0">
                <a:solidFill>
                  <a:schemeClr val="tx1"/>
                </a:solidFill>
              </a:rPr>
              <a:t>score ≥ 0.75?</a:t>
            </a:r>
            <a:endParaRPr lang="en-US" sz="1600" dirty="0"/>
          </a:p>
        </p:txBody>
      </p:sp>
      <p:sp>
        <p:nvSpPr>
          <p:cNvPr id="11" name="Keep box"/>
          <p:cNvSpPr/>
          <p:nvPr/>
        </p:nvSpPr>
        <p:spPr>
          <a:xfrm>
            <a:off x="9262872" y="1600200"/>
            <a:ext cx="2377440" cy="1188720"/>
          </a:xfrm>
          <a:prstGeom prst="roundRect">
            <a:avLst>
              <a:gd name="adj" fmla="val 6154"/>
            </a:avLst>
          </a:prstGeom>
          <a:solidFill>
            <a:schemeClr val="accent2"/>
          </a:solidFill>
          <a:ln w="12700">
            <a:solidFill>
              <a:schemeClr val="accent2"/>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9445752" y="1737360"/>
            <a:ext cx="2011680" cy="365760"/>
          </a:xfrm>
          <a:prstGeom prst="rect">
            <a:avLst/>
          </a:prstGeom>
          <a:noFill/>
          <a:ln/>
        </p:spPr>
        <p:txBody>
          <a:bodyPr wrap="square" lIns="0" tIns="0" rIns="0" bIns="0" rtlCol="0" anchor="t"/>
          <a:lstStyle/>
          <a:p>
            <a:pPr algn="ctr" indent="0" marL="0">
              <a:buNone/>
            </a:pPr>
            <a:r>
              <a:rPr lang="en-US" sz="1800" b="1" dirty="0">
                <a:solidFill>
                  <a:schemeClr val="bg1"/>
                </a:solidFill>
              </a:rPr>
              <a:t>Keep best</a:t>
            </a:r>
            <a:endParaRPr lang="en-US" sz="1800" dirty="0"/>
          </a:p>
        </p:txBody>
      </p:sp>
      <p:sp>
        <p:nvSpPr>
          <p:cNvPr id="13" name="Text 11"/>
          <p:cNvSpPr txBox="1"/>
          <p:nvPr/>
        </p:nvSpPr>
        <p:spPr>
          <a:xfrm>
            <a:off x="9445752" y="2130552"/>
            <a:ext cx="2011680" cy="594360"/>
          </a:xfrm>
          <a:prstGeom prst="rect">
            <a:avLst/>
          </a:prstGeom>
          <a:noFill/>
          <a:ln/>
        </p:spPr>
        <p:txBody>
          <a:bodyPr wrap="square" lIns="0" tIns="0" rIns="0" bIns="0" rtlCol="0" anchor="t"/>
          <a:lstStyle/>
          <a:p>
            <a:pPr algn="ctr" indent="0" marL="0">
              <a:buNone/>
            </a:pPr>
            <a:r>
              <a:rPr lang="en-US" sz="1400" dirty="0">
                <a:solidFill>
                  <a:schemeClr val="bg1"/>
                </a:solidFill>
              </a:rPr>
              <a:t>highest-scoring attempt is returned</a:t>
            </a:r>
            <a:endParaRPr lang="en-US" sz="1400" dirty="0"/>
          </a:p>
        </p:txBody>
      </p:sp>
      <p:sp>
        <p:nvSpPr>
          <p:cNvPr id="14" name="Draft to critique"/>
          <p:cNvSpPr/>
          <p:nvPr/>
        </p:nvSpPr>
        <p:spPr>
          <a:xfrm>
            <a:off x="2926080" y="2194560"/>
            <a:ext cx="502920" cy="0"/>
          </a:xfrm>
          <a:prstGeom prst="line">
            <a:avLst/>
          </a:prstGeom>
          <a:noFill/>
          <a:ln w="25400">
            <a:solidFill>
              <a:schemeClr val="accent4"/>
            </a:solidFill>
            <a:prstDash val="solid"/>
            <a:tailEnd type="triangle"/>
          </a:ln>
        </p:spPr>
      </p:sp>
      <p:sp>
        <p:nvSpPr>
          <p:cNvPr id="15" name="Critique to decision"/>
          <p:cNvSpPr/>
          <p:nvPr/>
        </p:nvSpPr>
        <p:spPr>
          <a:xfrm>
            <a:off x="6080760" y="2194560"/>
            <a:ext cx="594360" cy="0"/>
          </a:xfrm>
          <a:prstGeom prst="line">
            <a:avLst/>
          </a:prstGeom>
          <a:noFill/>
          <a:ln w="25400">
            <a:solidFill>
              <a:schemeClr val="accent4"/>
            </a:solidFill>
            <a:prstDash val="solid"/>
            <a:tailEnd type="triangle"/>
          </a:ln>
        </p:spPr>
      </p:sp>
      <p:sp>
        <p:nvSpPr>
          <p:cNvPr id="16" name="Yes arrow"/>
          <p:cNvSpPr/>
          <p:nvPr/>
        </p:nvSpPr>
        <p:spPr>
          <a:xfrm>
            <a:off x="8686800" y="2194560"/>
            <a:ext cx="576072" cy="0"/>
          </a:xfrm>
          <a:prstGeom prst="line">
            <a:avLst/>
          </a:prstGeom>
          <a:noFill/>
          <a:ln w="25400">
            <a:solidFill>
              <a:schemeClr val="accent2"/>
            </a:solidFill>
            <a:prstDash val="solid"/>
            <a:tailEnd type="triangle"/>
          </a:ln>
        </p:spPr>
      </p:sp>
      <p:sp>
        <p:nvSpPr>
          <p:cNvPr id="17" name="Text 15"/>
          <p:cNvSpPr txBox="1"/>
          <p:nvPr/>
        </p:nvSpPr>
        <p:spPr>
          <a:xfrm>
            <a:off x="8732520" y="1828800"/>
            <a:ext cx="457200" cy="274320"/>
          </a:xfrm>
          <a:prstGeom prst="rect">
            <a:avLst/>
          </a:prstGeom>
          <a:noFill/>
          <a:ln/>
        </p:spPr>
        <p:txBody>
          <a:bodyPr wrap="square" lIns="0" tIns="0" rIns="0" bIns="0" rtlCol="0" anchor="t"/>
          <a:lstStyle/>
          <a:p>
            <a:pPr indent="0" marL="0">
              <a:buNone/>
            </a:pPr>
            <a:r>
              <a:rPr lang="en-US" sz="1200" b="1" dirty="0">
                <a:solidFill>
                  <a:schemeClr val="accent2"/>
                </a:solidFill>
              </a:rPr>
              <a:t>yes</a:t>
            </a:r>
            <a:endParaRPr lang="en-US" sz="1200" dirty="0"/>
          </a:p>
        </p:txBody>
      </p:sp>
      <p:sp>
        <p:nvSpPr>
          <p:cNvPr id="18" name="Revise box"/>
          <p:cNvSpPr/>
          <p:nvPr/>
        </p:nvSpPr>
        <p:spPr>
          <a:xfrm>
            <a:off x="3429000" y="3520440"/>
            <a:ext cx="5257800" cy="960120"/>
          </a:xfrm>
          <a:prstGeom prst="roundRect">
            <a:avLst>
              <a:gd name="adj" fmla="val 761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3611880" y="3657600"/>
            <a:ext cx="4892040" cy="365760"/>
          </a:xfrm>
          <a:prstGeom prst="rect">
            <a:avLst/>
          </a:prstGeom>
          <a:noFill/>
          <a:ln/>
        </p:spPr>
        <p:txBody>
          <a:bodyPr wrap="square" lIns="0" tIns="0" rIns="0" bIns="0" rtlCol="0" anchor="t"/>
          <a:lstStyle/>
          <a:p>
            <a:pPr algn="ctr" indent="0" marL="0">
              <a:buNone/>
            </a:pPr>
            <a:r>
              <a:rPr lang="en-US" sz="1800" b="1" dirty="0">
                <a:solidFill>
                  <a:schemeClr val="tx1"/>
                </a:solidFill>
              </a:rPr>
              <a:t>Revise (up to 2 times)</a:t>
            </a:r>
            <a:endParaRPr lang="en-US" sz="1800" dirty="0"/>
          </a:p>
        </p:txBody>
      </p:sp>
      <p:sp>
        <p:nvSpPr>
          <p:cNvPr id="20" name="Text 18"/>
          <p:cNvSpPr txBox="1"/>
          <p:nvPr/>
        </p:nvSpPr>
        <p:spPr>
          <a:xfrm>
            <a:off x="3611880" y="4050792"/>
            <a:ext cx="4892040" cy="365760"/>
          </a:xfrm>
          <a:prstGeom prst="rect">
            <a:avLst/>
          </a:prstGeom>
          <a:noFill/>
          <a:ln/>
        </p:spPr>
        <p:txBody>
          <a:bodyPr wrap="square" lIns="0" tIns="0" rIns="0" bIns="0" rtlCol="0" anchor="t"/>
          <a:lstStyle/>
          <a:p>
            <a:pPr algn="ctr" indent="0" marL="0">
              <a:buNone/>
            </a:pPr>
            <a:r>
              <a:rPr lang="en-US" sz="1400" dirty="0">
                <a:solidFill>
                  <a:schemeClr val="tx1"/>
                </a:solidFill>
              </a:rPr>
              <a:t>answer again with the reviewer's issues and suggestion</a:t>
            </a:r>
            <a:endParaRPr lang="en-US" sz="1400" dirty="0"/>
          </a:p>
        </p:txBody>
      </p:sp>
      <p:sp>
        <p:nvSpPr>
          <p:cNvPr id="21" name="No arrow"/>
          <p:cNvSpPr/>
          <p:nvPr/>
        </p:nvSpPr>
        <p:spPr>
          <a:xfrm>
            <a:off x="7680960" y="2971800"/>
            <a:ext cx="0" cy="548640"/>
          </a:xfrm>
          <a:prstGeom prst="line">
            <a:avLst/>
          </a:prstGeom>
          <a:noFill/>
          <a:ln w="25400">
            <a:solidFill>
              <a:schemeClr val="accent3"/>
            </a:solidFill>
            <a:prstDash val="solid"/>
            <a:tailEnd type="triangle"/>
          </a:ln>
        </p:spPr>
      </p:sp>
      <p:sp>
        <p:nvSpPr>
          <p:cNvPr id="22" name="Text 20"/>
          <p:cNvSpPr txBox="1"/>
          <p:nvPr/>
        </p:nvSpPr>
        <p:spPr>
          <a:xfrm>
            <a:off x="7772400" y="3090672"/>
            <a:ext cx="457200" cy="274320"/>
          </a:xfrm>
          <a:prstGeom prst="rect">
            <a:avLst/>
          </a:prstGeom>
          <a:noFill/>
          <a:ln/>
        </p:spPr>
        <p:txBody>
          <a:bodyPr wrap="square" lIns="0" tIns="0" rIns="0" bIns="0" rtlCol="0" anchor="t"/>
          <a:lstStyle/>
          <a:p>
            <a:pPr indent="0" marL="0">
              <a:buNone/>
            </a:pPr>
            <a:r>
              <a:rPr lang="en-US" sz="1200" b="1" dirty="0">
                <a:solidFill>
                  <a:schemeClr val="accent3"/>
                </a:solidFill>
              </a:rPr>
              <a:t>no</a:t>
            </a:r>
            <a:endParaRPr lang="en-US" sz="1200" dirty="0"/>
          </a:p>
        </p:txBody>
      </p:sp>
      <p:sp>
        <p:nvSpPr>
          <p:cNvPr id="23" name="Revise to critique"/>
          <p:cNvSpPr/>
          <p:nvPr/>
        </p:nvSpPr>
        <p:spPr>
          <a:xfrm flipV="1">
            <a:off x="4754880" y="2788920"/>
            <a:ext cx="0" cy="731520"/>
          </a:xfrm>
          <a:prstGeom prst="line">
            <a:avLst/>
          </a:prstGeom>
          <a:noFill/>
          <a:ln w="25400">
            <a:solidFill>
              <a:schemeClr val="accent4"/>
            </a:solidFill>
            <a:prstDash val="solid"/>
            <a:tailEnd type="triangle"/>
          </a:ln>
        </p:spPr>
      </p:sp>
      <p:sp>
        <p:nvSpPr>
          <p:cNvPr id="24" name="Text 22"/>
          <p:cNvSpPr txBox="1"/>
          <p:nvPr/>
        </p:nvSpPr>
        <p:spPr>
          <a:xfrm>
            <a:off x="548640" y="4892040"/>
            <a:ext cx="1371600" cy="822960"/>
          </a:xfrm>
          <a:prstGeom prst="rect">
            <a:avLst/>
          </a:prstGeom>
          <a:noFill/>
          <a:ln/>
        </p:spPr>
        <p:txBody>
          <a:bodyPr wrap="square" lIns="0" tIns="0" rIns="0" bIns="0" rtlCol="0" anchor="ctr"/>
          <a:lstStyle/>
          <a:p>
            <a:pPr indent="0" marL="0">
              <a:buNone/>
            </a:pPr>
            <a:r>
              <a:rPr lang="en-US" sz="4000" b="1" dirty="0">
                <a:solidFill>
                  <a:schemeClr val="accent1"/>
                </a:solidFill>
              </a:rPr>
              <a:t>3–7</a:t>
            </a:r>
            <a:endParaRPr lang="en-US" sz="4000" dirty="0"/>
          </a:p>
        </p:txBody>
      </p:sp>
      <p:sp>
        <p:nvSpPr>
          <p:cNvPr id="25" name="Text 23"/>
          <p:cNvSpPr txBox="1"/>
          <p:nvPr/>
        </p:nvSpPr>
        <p:spPr>
          <a:xfrm>
            <a:off x="1965960" y="4892040"/>
            <a:ext cx="2103120" cy="822960"/>
          </a:xfrm>
          <a:prstGeom prst="rect">
            <a:avLst/>
          </a:prstGeom>
          <a:noFill/>
          <a:ln/>
        </p:spPr>
        <p:txBody>
          <a:bodyPr wrap="square" lIns="0" tIns="0" rIns="0" bIns="0" rtlCol="0" anchor="ctr"/>
          <a:lstStyle/>
          <a:p>
            <a:pPr indent="0" marL="0">
              <a:buNone/>
            </a:pPr>
            <a:r>
              <a:rPr lang="en-US" sz="1600" dirty="0">
                <a:solidFill>
                  <a:schemeClr val="accent4"/>
                </a:solidFill>
              </a:rPr>
              <a:t>model calls per run</a:t>
            </a:r>
            <a:endParaRPr lang="en-US" sz="1600" dirty="0"/>
          </a:p>
        </p:txBody>
      </p:sp>
      <p:sp>
        <p:nvSpPr>
          <p:cNvPr id="26" name="Text 24"/>
          <p:cNvSpPr txBox="1"/>
          <p:nvPr/>
        </p:nvSpPr>
        <p:spPr>
          <a:xfrm>
            <a:off x="4315968" y="4892040"/>
            <a:ext cx="1371600" cy="822960"/>
          </a:xfrm>
          <a:prstGeom prst="rect">
            <a:avLst/>
          </a:prstGeom>
          <a:noFill/>
          <a:ln/>
        </p:spPr>
        <p:txBody>
          <a:bodyPr wrap="square" lIns="0" tIns="0" rIns="0" bIns="0" rtlCol="0" anchor="ctr"/>
          <a:lstStyle/>
          <a:p>
            <a:pPr indent="0" marL="0">
              <a:buNone/>
            </a:pPr>
            <a:r>
              <a:rPr lang="en-US" sz="4000" b="1" dirty="0">
                <a:solidFill>
                  <a:schemeClr val="accent1"/>
                </a:solidFill>
              </a:rPr>
              <a:t>0.75</a:t>
            </a:r>
            <a:endParaRPr lang="en-US" sz="4000" dirty="0"/>
          </a:p>
        </p:txBody>
      </p:sp>
      <p:sp>
        <p:nvSpPr>
          <p:cNvPr id="27" name="Text 25"/>
          <p:cNvSpPr txBox="1"/>
          <p:nvPr/>
        </p:nvSpPr>
        <p:spPr>
          <a:xfrm>
            <a:off x="5733288" y="4892040"/>
            <a:ext cx="2103120" cy="822960"/>
          </a:xfrm>
          <a:prstGeom prst="rect">
            <a:avLst/>
          </a:prstGeom>
          <a:noFill/>
          <a:ln/>
        </p:spPr>
        <p:txBody>
          <a:bodyPr wrap="square" lIns="0" tIns="0" rIns="0" bIns="0" rtlCol="0" anchor="ctr"/>
          <a:lstStyle/>
          <a:p>
            <a:pPr indent="0" marL="0">
              <a:buNone/>
            </a:pPr>
            <a:r>
              <a:rPr lang="en-US" sz="1600" dirty="0">
                <a:solidFill>
                  <a:schemeClr val="accent4"/>
                </a:solidFill>
              </a:rPr>
              <a:t>"good enough" score</a:t>
            </a:r>
            <a:endParaRPr lang="en-US" sz="1600" dirty="0"/>
          </a:p>
        </p:txBody>
      </p:sp>
      <p:sp>
        <p:nvSpPr>
          <p:cNvPr id="28" name="Text 26"/>
          <p:cNvSpPr txBox="1"/>
          <p:nvPr/>
        </p:nvSpPr>
        <p:spPr>
          <a:xfrm>
            <a:off x="8083296" y="4892040"/>
            <a:ext cx="1371600" cy="822960"/>
          </a:xfrm>
          <a:prstGeom prst="rect">
            <a:avLst/>
          </a:prstGeom>
          <a:noFill/>
          <a:ln/>
        </p:spPr>
        <p:txBody>
          <a:bodyPr wrap="square" lIns="0" tIns="0" rIns="0" bIns="0" rtlCol="0" anchor="ctr"/>
          <a:lstStyle/>
          <a:p>
            <a:pPr indent="0" marL="0">
              <a:buNone/>
            </a:pPr>
            <a:r>
              <a:rPr lang="en-US" sz="4000" b="1" dirty="0">
                <a:solidFill>
                  <a:schemeClr val="accent1"/>
                </a:solidFill>
              </a:rPr>
              <a:t>1</a:t>
            </a:r>
            <a:endParaRPr lang="en-US" sz="4000" dirty="0"/>
          </a:p>
        </p:txBody>
      </p:sp>
      <p:sp>
        <p:nvSpPr>
          <p:cNvPr id="29" name="Text 27"/>
          <p:cNvSpPr txBox="1"/>
          <p:nvPr/>
        </p:nvSpPr>
        <p:spPr>
          <a:xfrm>
            <a:off x="9500616" y="4892040"/>
            <a:ext cx="2103120" cy="822960"/>
          </a:xfrm>
          <a:prstGeom prst="rect">
            <a:avLst/>
          </a:prstGeom>
          <a:noFill/>
          <a:ln/>
        </p:spPr>
        <p:txBody>
          <a:bodyPr wrap="square" lIns="0" tIns="0" rIns="0" bIns="0" rtlCol="0" anchor="ctr"/>
          <a:lstStyle/>
          <a:p>
            <a:pPr indent="0" marL="0">
              <a:buNone/>
            </a:pPr>
            <a:r>
              <a:rPr lang="en-US" sz="1600" dirty="0">
                <a:solidFill>
                  <a:schemeClr val="accent4"/>
                </a:solidFill>
              </a:rPr>
              <a:t>call when learn=false</a:t>
            </a:r>
            <a:endParaRPr lang="en-US" sz="16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Loop 2 · Across tasks: lessons that must earn their place</a:t>
            </a:r>
            <a:endParaRPr lang="en-US" sz="3400" dirty="0"/>
          </a:p>
        </p:txBody>
      </p:sp>
      <p:sp>
        <p:nvSpPr>
          <p:cNvPr id="3" name="Lesson step 1 circle"/>
          <p:cNvSpPr/>
          <p:nvPr/>
        </p:nvSpPr>
        <p:spPr>
          <a:xfrm>
            <a:off x="548640" y="1417320"/>
            <a:ext cx="658368" cy="658368"/>
          </a:xfrm>
          <a:prstGeom prst="ellipse">
            <a:avLst/>
          </a:prstGeom>
          <a:solidFill>
            <a:schemeClr val="accent1"/>
          </a:solidFill>
          <a:ln w="12700">
            <a:solidFill>
              <a:schemeClr val="accent1"/>
            </a:solidFill>
            <a:prstDash val="solid"/>
          </a:ln>
        </p:spPr>
      </p:sp>
      <p:pic>
        <p:nvPicPr>
          <p:cNvPr id="4" name="Lesson step 1 icon" descr="preencoded.png">    </p:cNvPr>
          <p:cNvPicPr>
            <a:picLocks noChangeAspect="1"/>
          </p:cNvPicPr>
          <p:nvPr/>
        </p:nvPicPr>
        <p:blipFill>
          <a:blip r:embed="rId1"/>
          <a:stretch>
            <a:fillRect/>
          </a:stretch>
        </p:blipFill>
        <p:spPr>
          <a:xfrm>
            <a:off x="726399" y="1595079"/>
            <a:ext cx="302849" cy="302849"/>
          </a:xfrm>
          <a:prstGeom prst="rect">
            <a:avLst/>
          </a:prstGeom>
        </p:spPr>
      </p:pic>
      <p:sp>
        <p:nvSpPr>
          <p:cNvPr id="5" name="Text 2"/>
          <p:cNvSpPr txBox="1"/>
          <p:nvPr/>
        </p:nvSpPr>
        <p:spPr>
          <a:xfrm>
            <a:off x="1417320" y="1399032"/>
            <a:ext cx="5120640" cy="347472"/>
          </a:xfrm>
          <a:prstGeom prst="rect">
            <a:avLst/>
          </a:prstGeom>
          <a:noFill/>
          <a:ln/>
        </p:spPr>
        <p:txBody>
          <a:bodyPr wrap="square" lIns="0" tIns="0" rIns="0" bIns="0" rtlCol="0" anchor="t"/>
          <a:lstStyle/>
          <a:p>
            <a:pPr indent="0" marL="0">
              <a:buNone/>
            </a:pPr>
            <a:r>
              <a:rPr lang="en-US" sz="1800" b="1" dirty="0">
                <a:solidFill>
                  <a:schemeClr val="tx1"/>
                </a:solidFill>
              </a:rPr>
              <a:t>Reflect</a:t>
            </a:r>
            <a:endParaRPr lang="en-US" sz="1800" dirty="0"/>
          </a:p>
        </p:txBody>
      </p:sp>
      <p:sp>
        <p:nvSpPr>
          <p:cNvPr id="6" name="Text 3"/>
          <p:cNvSpPr txBox="1"/>
          <p:nvPr/>
        </p:nvSpPr>
        <p:spPr>
          <a:xfrm>
            <a:off x="1417320" y="1746504"/>
            <a:ext cx="5120640" cy="502920"/>
          </a:xfrm>
          <a:prstGeom prst="rect">
            <a:avLst/>
          </a:prstGeom>
          <a:noFill/>
          <a:ln/>
        </p:spPr>
        <p:txBody>
          <a:bodyPr wrap="square" lIns="0" tIns="0" rIns="0" bIns="0" rtlCol="0" anchor="t"/>
          <a:lstStyle/>
          <a:p>
            <a:pPr indent="0" marL="0">
              <a:buNone/>
            </a:pPr>
            <a:r>
              <a:rPr lang="en-US" sz="1400" dirty="0">
                <a:solidFill>
                  <a:schemeClr val="accent4"/>
                </a:solidFill>
              </a:rPr>
              <a:t>after each task, extract ≤ 2 general lessons (skipped if the first draft scored ≥ 0.95)</a:t>
            </a:r>
            <a:endParaRPr lang="en-US" sz="1400" dirty="0"/>
          </a:p>
        </p:txBody>
      </p:sp>
      <p:sp>
        <p:nvSpPr>
          <p:cNvPr id="7" name="Lesson step 2 circle"/>
          <p:cNvSpPr/>
          <p:nvPr/>
        </p:nvSpPr>
        <p:spPr>
          <a:xfrm>
            <a:off x="548640" y="2350008"/>
            <a:ext cx="658368" cy="658368"/>
          </a:xfrm>
          <a:prstGeom prst="ellipse">
            <a:avLst/>
          </a:prstGeom>
          <a:solidFill>
            <a:schemeClr val="accent1"/>
          </a:solidFill>
          <a:ln w="12700">
            <a:solidFill>
              <a:schemeClr val="accent1"/>
            </a:solidFill>
            <a:prstDash val="solid"/>
          </a:ln>
        </p:spPr>
      </p:sp>
      <p:pic>
        <p:nvPicPr>
          <p:cNvPr id="8" name="Lesson step 2 icon" descr="preencoded.png">    </p:cNvPr>
          <p:cNvPicPr>
            <a:picLocks noChangeAspect="1"/>
          </p:cNvPicPr>
          <p:nvPr/>
        </p:nvPicPr>
        <p:blipFill>
          <a:blip r:embed="rId2"/>
          <a:stretch>
            <a:fillRect/>
          </a:stretch>
        </p:blipFill>
        <p:spPr>
          <a:xfrm>
            <a:off x="726399" y="2527767"/>
            <a:ext cx="302849" cy="302849"/>
          </a:xfrm>
          <a:prstGeom prst="rect">
            <a:avLst/>
          </a:prstGeom>
        </p:spPr>
      </p:pic>
      <p:sp>
        <p:nvSpPr>
          <p:cNvPr id="9" name="Text 5"/>
          <p:cNvSpPr txBox="1"/>
          <p:nvPr/>
        </p:nvSpPr>
        <p:spPr>
          <a:xfrm>
            <a:off x="1417320" y="2331720"/>
            <a:ext cx="5120640" cy="347472"/>
          </a:xfrm>
          <a:prstGeom prst="rect">
            <a:avLst/>
          </a:prstGeom>
          <a:noFill/>
          <a:ln/>
        </p:spPr>
        <p:txBody>
          <a:bodyPr wrap="square" lIns="0" tIns="0" rIns="0" bIns="0" rtlCol="0" anchor="t"/>
          <a:lstStyle/>
          <a:p>
            <a:pPr indent="0" marL="0">
              <a:buNone/>
            </a:pPr>
            <a:r>
              <a:rPr lang="en-US" sz="1800" b="1" dirty="0">
                <a:solidFill>
                  <a:schemeClr val="tx1"/>
                </a:solidFill>
              </a:rPr>
              <a:t>Dedupe</a:t>
            </a:r>
            <a:endParaRPr lang="en-US" sz="1800" dirty="0"/>
          </a:p>
        </p:txBody>
      </p:sp>
      <p:sp>
        <p:nvSpPr>
          <p:cNvPr id="10" name="Text 6"/>
          <p:cNvSpPr txBox="1"/>
          <p:nvPr/>
        </p:nvSpPr>
        <p:spPr>
          <a:xfrm>
            <a:off x="1417320" y="2679192"/>
            <a:ext cx="5120640" cy="502920"/>
          </a:xfrm>
          <a:prstGeom prst="rect">
            <a:avLst/>
          </a:prstGeom>
          <a:noFill/>
          <a:ln/>
        </p:spPr>
        <p:txBody>
          <a:bodyPr wrap="square" lIns="0" tIns="0" rIns="0" bIns="0" rtlCol="0" anchor="t"/>
          <a:lstStyle/>
          <a:p>
            <a:pPr indent="0" marL="0">
              <a:buNone/>
            </a:pPr>
            <a:r>
              <a:rPr lang="en-US" sz="1400" dirty="0">
                <a:solidFill>
                  <a:schemeClr val="accent4"/>
                </a:solidFill>
              </a:rPr>
              <a:t>drop a lesson with &gt; 60% word overlap with an existing one</a:t>
            </a:r>
            <a:endParaRPr lang="en-US" sz="1400" dirty="0"/>
          </a:p>
        </p:txBody>
      </p:sp>
      <p:sp>
        <p:nvSpPr>
          <p:cNvPr id="11" name="Lesson step 3 circle"/>
          <p:cNvSpPr/>
          <p:nvPr/>
        </p:nvSpPr>
        <p:spPr>
          <a:xfrm>
            <a:off x="548640" y="3282696"/>
            <a:ext cx="658368" cy="658368"/>
          </a:xfrm>
          <a:prstGeom prst="ellipse">
            <a:avLst/>
          </a:prstGeom>
          <a:solidFill>
            <a:schemeClr val="accent1"/>
          </a:solidFill>
          <a:ln w="12700">
            <a:solidFill>
              <a:schemeClr val="accent1"/>
            </a:solidFill>
            <a:prstDash val="solid"/>
          </a:ln>
        </p:spPr>
      </p:sp>
      <p:pic>
        <p:nvPicPr>
          <p:cNvPr id="12" name="Lesson step 3 icon" descr="preencoded.png">    </p:cNvPr>
          <p:cNvPicPr>
            <a:picLocks noChangeAspect="1"/>
          </p:cNvPicPr>
          <p:nvPr/>
        </p:nvPicPr>
        <p:blipFill>
          <a:blip r:embed="rId3"/>
          <a:stretch>
            <a:fillRect/>
          </a:stretch>
        </p:blipFill>
        <p:spPr>
          <a:xfrm>
            <a:off x="726399" y="3460455"/>
            <a:ext cx="302849" cy="302849"/>
          </a:xfrm>
          <a:prstGeom prst="rect">
            <a:avLst/>
          </a:prstGeom>
        </p:spPr>
      </p:pic>
      <p:sp>
        <p:nvSpPr>
          <p:cNvPr id="13" name="Text 8"/>
          <p:cNvSpPr txBox="1"/>
          <p:nvPr/>
        </p:nvSpPr>
        <p:spPr>
          <a:xfrm>
            <a:off x="1417320" y="3264408"/>
            <a:ext cx="5120640" cy="347472"/>
          </a:xfrm>
          <a:prstGeom prst="rect">
            <a:avLst/>
          </a:prstGeom>
          <a:noFill/>
          <a:ln/>
        </p:spPr>
        <p:txBody>
          <a:bodyPr wrap="square" lIns="0" tIns="0" rIns="0" bIns="0" rtlCol="0" anchor="t"/>
          <a:lstStyle/>
          <a:p>
            <a:pPr indent="0" marL="0">
              <a:buNone/>
            </a:pPr>
            <a:r>
              <a:rPr lang="en-US" sz="1800" b="1" dirty="0">
                <a:solidFill>
                  <a:schemeClr val="tx1"/>
                </a:solidFill>
              </a:rPr>
              <a:t>Retrieve</a:t>
            </a:r>
            <a:endParaRPr lang="en-US" sz="1800" dirty="0"/>
          </a:p>
        </p:txBody>
      </p:sp>
      <p:sp>
        <p:nvSpPr>
          <p:cNvPr id="14" name="Text 9"/>
          <p:cNvSpPr txBox="1"/>
          <p:nvPr/>
        </p:nvSpPr>
        <p:spPr>
          <a:xfrm>
            <a:off x="1417320" y="3611880"/>
            <a:ext cx="5120640" cy="502920"/>
          </a:xfrm>
          <a:prstGeom prst="rect">
            <a:avLst/>
          </a:prstGeom>
          <a:noFill/>
          <a:ln/>
        </p:spPr>
        <p:txBody>
          <a:bodyPr wrap="square" lIns="0" tIns="0" rIns="0" bIns="0" rtlCol="0" anchor="t"/>
          <a:lstStyle/>
          <a:p>
            <a:pPr indent="0" marL="0">
              <a:buNone/>
            </a:pPr>
            <a:r>
              <a:rPr lang="en-US" sz="1400" dirty="0">
                <a:solidFill>
                  <a:schemeClr val="accent4"/>
                </a:solidFill>
              </a:rPr>
              <a:t>next task gets ≤ 6: keyword matches + the 3 most proven</a:t>
            </a:r>
            <a:endParaRPr lang="en-US" sz="1400" dirty="0"/>
          </a:p>
        </p:txBody>
      </p:sp>
      <p:sp>
        <p:nvSpPr>
          <p:cNvPr id="15" name="Lesson step 4 circle"/>
          <p:cNvSpPr/>
          <p:nvPr/>
        </p:nvSpPr>
        <p:spPr>
          <a:xfrm>
            <a:off x="548640" y="4215384"/>
            <a:ext cx="658368" cy="658368"/>
          </a:xfrm>
          <a:prstGeom prst="ellipse">
            <a:avLst/>
          </a:prstGeom>
          <a:solidFill>
            <a:schemeClr val="accent1"/>
          </a:solidFill>
          <a:ln w="12700">
            <a:solidFill>
              <a:schemeClr val="accent1"/>
            </a:solidFill>
            <a:prstDash val="solid"/>
          </a:ln>
        </p:spPr>
      </p:sp>
      <p:pic>
        <p:nvPicPr>
          <p:cNvPr id="16" name="Lesson step 4 icon" descr="preencoded.png">    </p:cNvPr>
          <p:cNvPicPr>
            <a:picLocks noChangeAspect="1"/>
          </p:cNvPicPr>
          <p:nvPr/>
        </p:nvPicPr>
        <p:blipFill>
          <a:blip r:embed="rId4"/>
          <a:stretch>
            <a:fillRect/>
          </a:stretch>
        </p:blipFill>
        <p:spPr>
          <a:xfrm>
            <a:off x="726399" y="4393143"/>
            <a:ext cx="302849" cy="302849"/>
          </a:xfrm>
          <a:prstGeom prst="rect">
            <a:avLst/>
          </a:prstGeom>
        </p:spPr>
      </p:pic>
      <p:sp>
        <p:nvSpPr>
          <p:cNvPr id="17" name="Text 11"/>
          <p:cNvSpPr txBox="1"/>
          <p:nvPr/>
        </p:nvSpPr>
        <p:spPr>
          <a:xfrm>
            <a:off x="1417320" y="4197096"/>
            <a:ext cx="5120640" cy="347472"/>
          </a:xfrm>
          <a:prstGeom prst="rect">
            <a:avLst/>
          </a:prstGeom>
          <a:noFill/>
          <a:ln/>
        </p:spPr>
        <p:txBody>
          <a:bodyPr wrap="square" lIns="0" tIns="0" rIns="0" bIns="0" rtlCol="0" anchor="t"/>
          <a:lstStyle/>
          <a:p>
            <a:pPr indent="0" marL="0">
              <a:buNone/>
            </a:pPr>
            <a:r>
              <a:rPr lang="en-US" sz="1800" b="1" dirty="0">
                <a:solidFill>
                  <a:schemeClr val="tx1"/>
                </a:solidFill>
              </a:rPr>
              <a:t>Credit</a:t>
            </a:r>
            <a:endParaRPr lang="en-US" sz="1800" dirty="0"/>
          </a:p>
        </p:txBody>
      </p:sp>
      <p:sp>
        <p:nvSpPr>
          <p:cNvPr id="18" name="Text 12"/>
          <p:cNvSpPr txBox="1"/>
          <p:nvPr/>
        </p:nvSpPr>
        <p:spPr>
          <a:xfrm>
            <a:off x="1417320" y="4544568"/>
            <a:ext cx="5120640" cy="502920"/>
          </a:xfrm>
          <a:prstGeom prst="rect">
            <a:avLst/>
          </a:prstGeom>
          <a:noFill/>
          <a:ln/>
        </p:spPr>
        <p:txBody>
          <a:bodyPr wrap="square" lIns="0" tIns="0" rIns="0" bIns="0" rtlCol="0" anchor="t"/>
          <a:lstStyle/>
          <a:p>
            <a:pPr indent="0" marL="0">
              <a:buNone/>
            </a:pPr>
            <a:r>
              <a:rPr lang="en-US" sz="1400" dirty="0">
                <a:solidFill>
                  <a:schemeClr val="accent4"/>
                </a:solidFill>
              </a:rPr>
              <a:t>every lesson in the prompt gets that episode's score</a:t>
            </a:r>
            <a:endParaRPr lang="en-US" sz="1400" dirty="0"/>
          </a:p>
        </p:txBody>
      </p:sp>
      <p:sp>
        <p:nvSpPr>
          <p:cNvPr id="19" name="Lesson step 5 circle"/>
          <p:cNvSpPr/>
          <p:nvPr/>
        </p:nvSpPr>
        <p:spPr>
          <a:xfrm>
            <a:off x="548640" y="5148072"/>
            <a:ext cx="658368" cy="658368"/>
          </a:xfrm>
          <a:prstGeom prst="ellipse">
            <a:avLst/>
          </a:prstGeom>
          <a:solidFill>
            <a:schemeClr val="accent3"/>
          </a:solidFill>
          <a:ln w="12700">
            <a:solidFill>
              <a:schemeClr val="accent3"/>
            </a:solidFill>
            <a:prstDash val="solid"/>
          </a:ln>
        </p:spPr>
      </p:sp>
      <p:pic>
        <p:nvPicPr>
          <p:cNvPr id="20" name="Lesson step 5 icon" descr="preencoded.png">    </p:cNvPr>
          <p:cNvPicPr>
            <a:picLocks noChangeAspect="1"/>
          </p:cNvPicPr>
          <p:nvPr/>
        </p:nvPicPr>
        <p:blipFill>
          <a:blip r:embed="rId5"/>
          <a:stretch>
            <a:fillRect/>
          </a:stretch>
        </p:blipFill>
        <p:spPr>
          <a:xfrm>
            <a:off x="726399" y="5325831"/>
            <a:ext cx="302849" cy="302849"/>
          </a:xfrm>
          <a:prstGeom prst="rect">
            <a:avLst/>
          </a:prstGeom>
        </p:spPr>
      </p:pic>
      <p:sp>
        <p:nvSpPr>
          <p:cNvPr id="21" name="Text 14"/>
          <p:cNvSpPr txBox="1"/>
          <p:nvPr/>
        </p:nvSpPr>
        <p:spPr>
          <a:xfrm>
            <a:off x="1417320" y="5129784"/>
            <a:ext cx="5120640" cy="347472"/>
          </a:xfrm>
          <a:prstGeom prst="rect">
            <a:avLst/>
          </a:prstGeom>
          <a:noFill/>
          <a:ln/>
        </p:spPr>
        <p:txBody>
          <a:bodyPr wrap="square" lIns="0" tIns="0" rIns="0" bIns="0" rtlCol="0" anchor="t"/>
          <a:lstStyle/>
          <a:p>
            <a:pPr indent="0" marL="0">
              <a:buNone/>
            </a:pPr>
            <a:r>
              <a:rPr lang="en-US" sz="1800" b="1" dirty="0">
                <a:solidFill>
                  <a:schemeClr val="tx1"/>
                </a:solidFill>
              </a:rPr>
              <a:t>Retire</a:t>
            </a:r>
            <a:endParaRPr lang="en-US" sz="1800" dirty="0"/>
          </a:p>
        </p:txBody>
      </p:sp>
      <p:sp>
        <p:nvSpPr>
          <p:cNvPr id="22" name="Text 15"/>
          <p:cNvSpPr txBox="1"/>
          <p:nvPr/>
        </p:nvSpPr>
        <p:spPr>
          <a:xfrm>
            <a:off x="1417320" y="5477256"/>
            <a:ext cx="5120640" cy="502920"/>
          </a:xfrm>
          <a:prstGeom prst="rect">
            <a:avLst/>
          </a:prstGeom>
          <a:noFill/>
          <a:ln/>
        </p:spPr>
        <p:txBody>
          <a:bodyPr wrap="square" lIns="0" tIns="0" rIns="0" bIns="0" rtlCol="0" anchor="t"/>
          <a:lstStyle/>
          <a:p>
            <a:pPr indent="0" marL="0">
              <a:buNone/>
            </a:pPr>
            <a:r>
              <a:rPr lang="en-US" sz="1400" dirty="0">
                <a:solidFill>
                  <a:schemeClr val="accent4"/>
                </a:solidFill>
              </a:rPr>
              <a:t>≥ 5 uses and utility &lt; 0.45 → switched off</a:t>
            </a:r>
            <a:endParaRPr lang="en-US" sz="1400" dirty="0"/>
          </a:p>
        </p:txBody>
      </p:sp>
      <p:sp>
        <p:nvSpPr>
          <p:cNvPr id="23" name="Utility card"/>
          <p:cNvSpPr/>
          <p:nvPr/>
        </p:nvSpPr>
        <p:spPr>
          <a:xfrm>
            <a:off x="6812280" y="1417320"/>
            <a:ext cx="4828032" cy="4526280"/>
          </a:xfrm>
          <a:prstGeom prst="roundRect">
            <a:avLst>
              <a:gd name="adj" fmla="val 161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Text 17"/>
          <p:cNvSpPr txBox="1"/>
          <p:nvPr/>
        </p:nvSpPr>
        <p:spPr>
          <a:xfrm>
            <a:off x="7086600" y="1600200"/>
            <a:ext cx="4297680" cy="365760"/>
          </a:xfrm>
          <a:prstGeom prst="rect">
            <a:avLst/>
          </a:prstGeom>
          <a:noFill/>
          <a:ln/>
        </p:spPr>
        <p:txBody>
          <a:bodyPr wrap="square" lIns="0" tIns="0" rIns="0" bIns="0" rtlCol="0" anchor="t"/>
          <a:lstStyle/>
          <a:p>
            <a:pPr indent="0" marL="0">
              <a:buNone/>
            </a:pPr>
            <a:r>
              <a:rPr lang="en-US" sz="1800" b="1" dirty="0">
                <a:solidFill>
                  <a:schemeClr val="tx2"/>
                </a:solidFill>
              </a:rPr>
              <a:t>How a lesson is ranked</a:t>
            </a:r>
            <a:endParaRPr lang="en-US" sz="1800" dirty="0"/>
          </a:p>
        </p:txBody>
      </p:sp>
      <p:sp>
        <p:nvSpPr>
          <p:cNvPr id="25" name="Text 18"/>
          <p:cNvSpPr txBox="1"/>
          <p:nvPr/>
        </p:nvSpPr>
        <p:spPr>
          <a:xfrm>
            <a:off x="7086600" y="2057400"/>
            <a:ext cx="4297680" cy="457200"/>
          </a:xfrm>
          <a:prstGeom prst="rect">
            <a:avLst/>
          </a:prstGeom>
          <a:noFill/>
          <a:ln/>
        </p:spPr>
        <p:txBody>
          <a:bodyPr wrap="square" lIns="0" tIns="0" rIns="0" bIns="0" rtlCol="0" anchor="t"/>
          <a:lstStyle/>
          <a:p>
            <a:pPr indent="0" marL="0">
              <a:buNone/>
            </a:pPr>
            <a:r>
              <a:rPr lang="en-US" sz="1300" b="1" dirty="0">
                <a:solidFill>
                  <a:schemeClr val="tx1"/>
                </a:solidFill>
                <a:latin typeface="Courier New" pitchFamily="34" charset="0"/>
                <a:ea typeface="Courier New" pitchFamily="34" charset="-122"/>
                <a:cs typeface="Courier New" pitchFamily="34" charset="-120"/>
              </a:rPr>
              <a:t>utility = (total + 0.7 × 2) / (uses + 2)</a:t>
            </a:r>
            <a:endParaRPr lang="en-US" sz="1300" dirty="0"/>
          </a:p>
        </p:txBody>
      </p:sp>
      <p:sp>
        <p:nvSpPr>
          <p:cNvPr id="26" name="Text 19"/>
          <p:cNvSpPr txBox="1"/>
          <p:nvPr/>
        </p:nvSpPr>
        <p:spPr>
          <a:xfrm>
            <a:off x="7086600" y="2560320"/>
            <a:ext cx="4297680" cy="548640"/>
          </a:xfrm>
          <a:prstGeom prst="rect">
            <a:avLst/>
          </a:prstGeom>
          <a:noFill/>
          <a:ln/>
        </p:spPr>
        <p:txBody>
          <a:bodyPr wrap="square" lIns="0" tIns="0" rIns="0" bIns="0" rtlCol="0" anchor="t"/>
          <a:lstStyle/>
          <a:p>
            <a:pPr indent="0" marL="0">
              <a:buNone/>
            </a:pPr>
            <a:r>
              <a:rPr lang="en-US" sz="1400" dirty="0">
                <a:solidFill>
                  <a:schemeClr val="accent4"/>
                </a:solidFill>
              </a:rPr>
              <a:t>New lessons start at 0.70, then drift toward their real average score.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086600" y="3246120"/>
          <a:ext cx="4297680" cy="914400"/>
        </p:xfrm>
        <a:graphic>
          <a:graphicData uri="http://schemas.openxmlformats.org/drawingml/2006/table">
            <a:tbl>
              <a:tblPr/>
              <a:tblGrid>
                <a:gridCol w="1234440"/>
                <a:gridCol w="685800"/>
                <a:gridCol w="1005840"/>
                <a:gridCol w="1371600"/>
              </a:tblGrid>
              <a:tr h="384048">
                <a:tc>
                  <a:txBody>
                    <a:bodyPr/>
                    <a:lstStyle/>
                    <a:p>
                      <a:pPr indent="0" marL="0">
                        <a:buNone/>
                      </a:pPr>
                      <a:r>
                        <a:rPr lang="en-US" sz="1400" b="1" dirty="0">
                          <a:solidFill>
                            <a:schemeClr val="tx1"/>
                          </a:solidFill>
                        </a:rPr>
                        <a:t>Lesson</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Uses</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Avg score</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Utility</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Brand new</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0.70</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84048">
                <a:tc>
                  <a:txBody>
                    <a:bodyPr/>
                    <a:lstStyle/>
                    <a:p>
                      <a:pPr indent="0" marL="0">
                        <a:buNone/>
                      </a:pPr>
                      <a:r>
                        <a:rPr lang="en-US" sz="1400" dirty="0">
                          <a:solidFill>
                            <a:schemeClr val="tx1"/>
                          </a:solidFill>
                        </a:rPr>
                        <a:t>Helpful</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0.90</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0.84</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384048">
                <a:tc>
                  <a:txBody>
                    <a:bodyPr/>
                    <a:lstStyle/>
                    <a:p>
                      <a:pPr indent="0" marL="0">
                        <a:buNone/>
                      </a:pPr>
                      <a:r>
                        <a:rPr lang="en-US" sz="1400" b="1" dirty="0">
                          <a:solidFill>
                            <a:schemeClr val="accent3"/>
                          </a:solidFill>
                        </a:rPr>
                        <a:t>Unhelpful</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0.30</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rPr>
                        <a:t>0.41 → retired</a:t>
                      </a:r>
                      <a:endParaRPr lang="en-US" sz="1400" dirty="0"/>
                    </a:p>
                  </a:txBody>
                  <a:tcPr marL="54864" marR="54864" marT="54864" marB="54864">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bl>
          </a:graphicData>
        </a:graphic>
      </p:graphicFrame>
      <p:sp>
        <p:nvSpPr>
          <p:cNvPr id="28" name="Text 20"/>
          <p:cNvSpPr txBox="1"/>
          <p:nvPr/>
        </p:nvSpPr>
        <p:spPr>
          <a:xfrm>
            <a:off x="7086600" y="4983480"/>
            <a:ext cx="4297680" cy="731520"/>
          </a:xfrm>
          <a:prstGeom prst="rect">
            <a:avLst/>
          </a:prstGeom>
          <a:noFill/>
          <a:ln/>
        </p:spPr>
        <p:txBody>
          <a:bodyPr wrap="square" lIns="0" tIns="0" rIns="0" bIns="0" rtlCol="0" anchor="t"/>
          <a:lstStyle/>
          <a:p>
            <a:pPr indent="0" marL="0">
              <a:buNone/>
            </a:pPr>
            <a:r>
              <a:rPr lang="en-US" sz="1400" i="1" dirty="0">
                <a:solidFill>
                  <a:schemeClr val="accent3"/>
                </a:solidFill>
              </a:rPr>
              <a:t>Catch: if practice scores are ~0.9, almost every lesson looks helpful.</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Two outside signals: people and documents</a:t>
            </a:r>
            <a:endParaRPr lang="en-US" sz="3400" dirty="0"/>
          </a:p>
        </p:txBody>
      </p:sp>
      <p:sp>
        <p:nvSpPr>
          <p:cNvPr id="3" name="Feedback card"/>
          <p:cNvSpPr/>
          <p:nvPr/>
        </p:nvSpPr>
        <p:spPr>
          <a:xfrm>
            <a:off x="548640" y="1463040"/>
            <a:ext cx="5394960" cy="4480560"/>
          </a:xfrm>
          <a:prstGeom prst="roundRect">
            <a:avLst>
              <a:gd name="adj" fmla="val 16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Feedback card circle"/>
          <p:cNvSpPr/>
          <p:nvPr/>
        </p:nvSpPr>
        <p:spPr>
          <a:xfrm>
            <a:off x="868680" y="1691640"/>
            <a:ext cx="731520" cy="731520"/>
          </a:xfrm>
          <a:prstGeom prst="ellipse">
            <a:avLst/>
          </a:prstGeom>
          <a:solidFill>
            <a:schemeClr val="accent2"/>
          </a:solidFill>
          <a:ln w="12700">
            <a:solidFill>
              <a:schemeClr val="accent2"/>
            </a:solidFill>
            <a:prstDash val="solid"/>
          </a:ln>
        </p:spPr>
      </p:sp>
      <p:pic>
        <p:nvPicPr>
          <p:cNvPr id="5" name="Feedback card icon" descr="preencoded.png">    </p:cNvPr>
          <p:cNvPicPr>
            <a:picLocks noChangeAspect="1"/>
          </p:cNvPicPr>
          <p:nvPr/>
        </p:nvPicPr>
        <p:blipFill>
          <a:blip r:embed="rId1"/>
          <a:stretch>
            <a:fillRect/>
          </a:stretch>
        </p:blipFill>
        <p:spPr>
          <a:xfrm>
            <a:off x="1066190" y="1889150"/>
            <a:ext cx="336499" cy="336499"/>
          </a:xfrm>
          <a:prstGeom prst="rect">
            <a:avLst/>
          </a:prstGeom>
        </p:spPr>
      </p:pic>
      <p:sp>
        <p:nvSpPr>
          <p:cNvPr id="6" name="Text 3"/>
          <p:cNvSpPr txBox="1"/>
          <p:nvPr/>
        </p:nvSpPr>
        <p:spPr>
          <a:xfrm>
            <a:off x="1783080" y="1691640"/>
            <a:ext cx="3931920" cy="731520"/>
          </a:xfrm>
          <a:prstGeom prst="rect">
            <a:avLst/>
          </a:prstGeom>
          <a:noFill/>
          <a:ln/>
        </p:spPr>
        <p:txBody>
          <a:bodyPr wrap="square" lIns="0" tIns="0" rIns="0" bIns="0" rtlCol="0" anchor="ctr"/>
          <a:lstStyle/>
          <a:p>
            <a:pPr indent="0" marL="0">
              <a:buNone/>
            </a:pPr>
            <a:r>
              <a:rPr lang="en-US" sz="2200" b="1" dirty="0">
                <a:solidFill>
                  <a:schemeClr val="tx2"/>
                </a:solidFill>
              </a:rPr>
              <a:t>Human feedback (/feedback)</a:t>
            </a:r>
            <a:endParaRPr lang="en-US" sz="2200" dirty="0"/>
          </a:p>
        </p:txBody>
      </p:sp>
      <p:sp>
        <p:nvSpPr>
          <p:cNvPr id="7" name="Text 4"/>
          <p:cNvSpPr txBox="1"/>
          <p:nvPr/>
        </p:nvSpPr>
        <p:spPr>
          <a:xfrm>
            <a:off x="914400" y="2697480"/>
            <a:ext cx="466344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A 1–5 rating re-scores every lesson used in that answer</a:t>
            </a:r>
            <a:endParaRPr lang="en-US" sz="1600" dirty="0"/>
          </a:p>
          <a:p>
            <a:pPr marL="342900" indent="-342900">
              <a:spcAft>
                <a:spcPts val="800"/>
              </a:spcAft>
              <a:buSzPct val="100000"/>
              <a:buChar char="•"/>
            </a:pPr>
            <a:r>
              <a:rPr lang="en-US" sz="1600" dirty="0">
                <a:solidFill>
                  <a:schemeClr val="tx1"/>
                </a:solidFill>
              </a:rPr>
              <a:t>A correction becomes new lessons and a new eval example</a:t>
            </a:r>
            <a:endParaRPr lang="en-US" sz="1600" dirty="0"/>
          </a:p>
          <a:p>
            <a:pPr marL="342900" indent="-342900">
              <a:spcAft>
                <a:spcPts val="800"/>
              </a:spcAft>
              <a:buSzPct val="100000"/>
              <a:buChar char="•"/>
            </a:pPr>
            <a:r>
              <a:rPr lang="en-US" sz="1600" dirty="0">
                <a:solidFill>
                  <a:schemeClr val="tx1"/>
                </a:solidFill>
              </a:rPr>
              <a:t>Rating ≤ 2 or a comment also triggers lesson extraction</a:t>
            </a:r>
            <a:endParaRPr lang="en-US" sz="1600" dirty="0"/>
          </a:p>
          <a:p>
            <a:pPr marL="342900" indent="-342900">
              <a:spcAft>
                <a:spcPts val="800"/>
              </a:spcAft>
              <a:buSzPct val="100000"/>
              <a:buChar char="•"/>
            </a:pPr>
            <a:r>
              <a:rPr lang="en-US" sz="1600" dirty="0">
                <a:solidFill>
                  <a:schemeClr val="tx1"/>
                </a:solidFill>
              </a:rPr>
              <a:t>Strongest signal in the system: it comes from outside the model</a:t>
            </a:r>
            <a:endParaRPr lang="en-US" sz="1600" dirty="0"/>
          </a:p>
        </p:txBody>
      </p:sp>
      <p:sp>
        <p:nvSpPr>
          <p:cNvPr id="8" name="Study card"/>
          <p:cNvSpPr/>
          <p:nvPr/>
        </p:nvSpPr>
        <p:spPr>
          <a:xfrm>
            <a:off x="6245352" y="1463040"/>
            <a:ext cx="5394960" cy="4480560"/>
          </a:xfrm>
          <a:prstGeom prst="roundRect">
            <a:avLst>
              <a:gd name="adj" fmla="val 16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tudy card circle"/>
          <p:cNvSpPr/>
          <p:nvPr/>
        </p:nvSpPr>
        <p:spPr>
          <a:xfrm>
            <a:off x="6565392" y="1691640"/>
            <a:ext cx="731520" cy="731520"/>
          </a:xfrm>
          <a:prstGeom prst="ellipse">
            <a:avLst/>
          </a:prstGeom>
          <a:solidFill>
            <a:schemeClr val="accent1"/>
          </a:solidFill>
          <a:ln w="12700">
            <a:solidFill>
              <a:schemeClr val="accent1"/>
            </a:solidFill>
            <a:prstDash val="solid"/>
          </a:ln>
        </p:spPr>
      </p:sp>
      <p:pic>
        <p:nvPicPr>
          <p:cNvPr id="10" name="Study card icon" descr="preencoded.png">    </p:cNvPr>
          <p:cNvPicPr>
            <a:picLocks noChangeAspect="1"/>
          </p:cNvPicPr>
          <p:nvPr/>
        </p:nvPicPr>
        <p:blipFill>
          <a:blip r:embed="rId2"/>
          <a:stretch>
            <a:fillRect/>
          </a:stretch>
        </p:blipFill>
        <p:spPr>
          <a:xfrm>
            <a:off x="6762902" y="1889150"/>
            <a:ext cx="336499" cy="336499"/>
          </a:xfrm>
          <a:prstGeom prst="rect">
            <a:avLst/>
          </a:prstGeom>
        </p:spPr>
      </p:pic>
      <p:sp>
        <p:nvSpPr>
          <p:cNvPr id="11" name="Text 7"/>
          <p:cNvSpPr txBox="1"/>
          <p:nvPr/>
        </p:nvSpPr>
        <p:spPr>
          <a:xfrm>
            <a:off x="7479792" y="1691640"/>
            <a:ext cx="3931920" cy="731520"/>
          </a:xfrm>
          <a:prstGeom prst="rect">
            <a:avLst/>
          </a:prstGeom>
          <a:noFill/>
          <a:ln/>
        </p:spPr>
        <p:txBody>
          <a:bodyPr wrap="square" lIns="0" tIns="0" rIns="0" bIns="0" rtlCol="0" anchor="ctr"/>
          <a:lstStyle/>
          <a:p>
            <a:pPr indent="0" marL="0">
              <a:buNone/>
            </a:pPr>
            <a:r>
              <a:rPr lang="en-US" sz="2200" b="1" dirty="0">
                <a:solidFill>
                  <a:schemeClr val="tx2"/>
                </a:solidFill>
              </a:rPr>
              <a:t>Self-study (/study)</a:t>
            </a:r>
            <a:endParaRPr lang="en-US" sz="2200" dirty="0"/>
          </a:p>
        </p:txBody>
      </p:sp>
      <p:sp>
        <p:nvSpPr>
          <p:cNvPr id="12" name="Text 8"/>
          <p:cNvSpPr txBox="1"/>
          <p:nvPr/>
        </p:nvSpPr>
        <p:spPr>
          <a:xfrm>
            <a:off x="6611112" y="2697480"/>
            <a:ext cx="4663440" cy="31089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Picks random chunks of the agent's own documents</a:t>
            </a:r>
            <a:endParaRPr lang="en-US" sz="1600" dirty="0"/>
          </a:p>
          <a:p>
            <a:pPr marL="342900" indent="-342900">
              <a:spcAft>
                <a:spcPts val="800"/>
              </a:spcAft>
              <a:buSzPct val="100000"/>
              <a:buChar char="•"/>
            </a:pPr>
            <a:r>
              <a:rPr lang="en-US" sz="1600" dirty="0">
                <a:solidFill>
                  <a:schemeClr val="tx1"/>
                </a:solidFill>
              </a:rPr>
              <a:t>Model writes a realistic question and the ideal answer</a:t>
            </a:r>
            <a:endParaRPr lang="en-US" sz="1600" dirty="0"/>
          </a:p>
          <a:p>
            <a:pPr marL="342900" indent="-342900">
              <a:spcAft>
                <a:spcPts val="800"/>
              </a:spcAft>
              <a:buSzPct val="100000"/>
              <a:buChar char="•"/>
            </a:pPr>
            <a:r>
              <a:rPr lang="en-US" sz="1600" dirty="0">
                <a:solidFill>
                  <a:schemeClr val="tx1"/>
                </a:solidFill>
              </a:rPr>
              <a:t>Agent answers it with learning on, graded against that answer</a:t>
            </a:r>
            <a:endParaRPr lang="en-US" sz="1600" dirty="0"/>
          </a:p>
          <a:p>
            <a:pPr marL="342900" indent="-342900">
              <a:spcAft>
                <a:spcPts val="800"/>
              </a:spcAft>
              <a:buSzPct val="100000"/>
              <a:buChar char="•"/>
            </a:pPr>
            <a:r>
              <a:rPr lang="en-US" sz="1600" dirty="0">
                <a:solidFill>
                  <a:schemeClr val="tx1"/>
                </a:solidFill>
              </a:rPr>
              <a:t>Each question is saved as a synthetic eval example</a:t>
            </a:r>
            <a:endParaRPr lang="en-US" sz="16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Loop 3 · Improve: a new playbook has to win a vote</a:t>
            </a:r>
            <a:endParaRPr lang="en-US" sz="3400" dirty="0"/>
          </a:p>
        </p:txBody>
      </p:sp>
      <p:sp>
        <p:nvSpPr>
          <p:cNvPr id="3" name="Improve step 1"/>
          <p:cNvSpPr/>
          <p:nvPr/>
        </p:nvSpPr>
        <p:spPr>
          <a:xfrm>
            <a:off x="621792" y="1463040"/>
            <a:ext cx="2626614" cy="2651760"/>
          </a:xfrm>
          <a:prstGeom prst="roundRect">
            <a:avLst>
              <a:gd name="adj" fmla="val 278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Improve step 1 circle"/>
          <p:cNvSpPr/>
          <p:nvPr/>
        </p:nvSpPr>
        <p:spPr>
          <a:xfrm>
            <a:off x="850392" y="1691640"/>
            <a:ext cx="685800" cy="685800"/>
          </a:xfrm>
          <a:prstGeom prst="ellipse">
            <a:avLst/>
          </a:prstGeom>
          <a:solidFill>
            <a:schemeClr val="accent1"/>
          </a:solidFill>
          <a:ln w="12700">
            <a:solidFill>
              <a:schemeClr val="accent1"/>
            </a:solidFill>
            <a:prstDash val="solid"/>
          </a:ln>
        </p:spPr>
      </p:sp>
      <p:pic>
        <p:nvPicPr>
          <p:cNvPr id="5" name="Improve step 1 icon" descr="preencoded.png">    </p:cNvPr>
          <p:cNvPicPr>
            <a:picLocks noChangeAspect="1"/>
          </p:cNvPicPr>
          <p:nvPr/>
        </p:nvPicPr>
        <p:blipFill>
          <a:blip r:embed="rId1"/>
          <a:stretch>
            <a:fillRect/>
          </a:stretch>
        </p:blipFill>
        <p:spPr>
          <a:xfrm>
            <a:off x="1035558" y="1876806"/>
            <a:ext cx="315468" cy="315468"/>
          </a:xfrm>
          <a:prstGeom prst="rect">
            <a:avLst/>
          </a:prstGeom>
        </p:spPr>
      </p:pic>
      <p:sp>
        <p:nvSpPr>
          <p:cNvPr id="6" name="Text 3"/>
          <p:cNvSpPr txBox="1"/>
          <p:nvPr/>
        </p:nvSpPr>
        <p:spPr>
          <a:xfrm>
            <a:off x="850392" y="2514600"/>
            <a:ext cx="2169414" cy="411480"/>
          </a:xfrm>
          <a:prstGeom prst="rect">
            <a:avLst/>
          </a:prstGeom>
          <a:noFill/>
          <a:ln/>
        </p:spPr>
        <p:txBody>
          <a:bodyPr wrap="square" lIns="0" tIns="0" rIns="0" bIns="0" rtlCol="0" anchor="t"/>
          <a:lstStyle/>
          <a:p>
            <a:pPr indent="0" marL="0">
              <a:buNone/>
            </a:pPr>
            <a:r>
              <a:rPr lang="en-US" sz="1800" b="1" dirty="0">
                <a:solidFill>
                  <a:schemeClr val="tx1"/>
                </a:solidFill>
              </a:rPr>
              <a:t>1. Gather</a:t>
            </a:r>
            <a:endParaRPr lang="en-US" sz="1800" dirty="0"/>
          </a:p>
        </p:txBody>
      </p:sp>
      <p:sp>
        <p:nvSpPr>
          <p:cNvPr id="7" name="Text 4"/>
          <p:cNvSpPr txBox="1"/>
          <p:nvPr/>
        </p:nvSpPr>
        <p:spPr>
          <a:xfrm>
            <a:off x="850392" y="2926080"/>
            <a:ext cx="2169414" cy="1097280"/>
          </a:xfrm>
          <a:prstGeom prst="rect">
            <a:avLst/>
          </a:prstGeom>
          <a:noFill/>
          <a:ln/>
        </p:spPr>
        <p:txBody>
          <a:bodyPr wrap="square" lIns="0" tIns="0" rIns="0" bIns="0" rtlCol="0" anchor="t"/>
          <a:lstStyle/>
          <a:p>
            <a:pPr indent="0" marL="0">
              <a:buNone/>
            </a:pPr>
            <a:r>
              <a:rPr lang="en-US" sz="1400" dirty="0">
                <a:solidFill>
                  <a:schemeClr val="accent4"/>
                </a:solidFill>
              </a:rPr>
              <a:t>top 25 lessons + up to 10 recent failures</a:t>
            </a:r>
            <a:endParaRPr lang="en-US" sz="1400" dirty="0"/>
          </a:p>
        </p:txBody>
      </p:sp>
      <p:sp>
        <p:nvSpPr>
          <p:cNvPr id="8" name="Improve step 2"/>
          <p:cNvSpPr/>
          <p:nvPr/>
        </p:nvSpPr>
        <p:spPr>
          <a:xfrm>
            <a:off x="3394710" y="1463040"/>
            <a:ext cx="2626614" cy="2651760"/>
          </a:xfrm>
          <a:prstGeom prst="roundRect">
            <a:avLst>
              <a:gd name="adj" fmla="val 278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Improve step 2 circle"/>
          <p:cNvSpPr/>
          <p:nvPr/>
        </p:nvSpPr>
        <p:spPr>
          <a:xfrm>
            <a:off x="3623310" y="1691640"/>
            <a:ext cx="685800" cy="685800"/>
          </a:xfrm>
          <a:prstGeom prst="ellipse">
            <a:avLst/>
          </a:prstGeom>
          <a:solidFill>
            <a:schemeClr val="accent1"/>
          </a:solidFill>
          <a:ln w="12700">
            <a:solidFill>
              <a:schemeClr val="accent1"/>
            </a:solidFill>
            <a:prstDash val="solid"/>
          </a:ln>
        </p:spPr>
      </p:sp>
      <p:pic>
        <p:nvPicPr>
          <p:cNvPr id="10" name="Improve step 2 icon" descr="preencoded.png">    </p:cNvPr>
          <p:cNvPicPr>
            <a:picLocks noChangeAspect="1"/>
          </p:cNvPicPr>
          <p:nvPr/>
        </p:nvPicPr>
        <p:blipFill>
          <a:blip r:embed="rId2"/>
          <a:stretch>
            <a:fillRect/>
          </a:stretch>
        </p:blipFill>
        <p:spPr>
          <a:xfrm>
            <a:off x="3808476" y="1876806"/>
            <a:ext cx="315468" cy="315468"/>
          </a:xfrm>
          <a:prstGeom prst="rect">
            <a:avLst/>
          </a:prstGeom>
        </p:spPr>
      </p:pic>
      <p:sp>
        <p:nvSpPr>
          <p:cNvPr id="11" name="Text 7"/>
          <p:cNvSpPr txBox="1"/>
          <p:nvPr/>
        </p:nvSpPr>
        <p:spPr>
          <a:xfrm>
            <a:off x="3623310" y="2514600"/>
            <a:ext cx="2169414" cy="411480"/>
          </a:xfrm>
          <a:prstGeom prst="rect">
            <a:avLst/>
          </a:prstGeom>
          <a:noFill/>
          <a:ln/>
        </p:spPr>
        <p:txBody>
          <a:bodyPr wrap="square" lIns="0" tIns="0" rIns="0" bIns="0" rtlCol="0" anchor="t"/>
          <a:lstStyle/>
          <a:p>
            <a:pPr indent="0" marL="0">
              <a:buNone/>
            </a:pPr>
            <a:r>
              <a:rPr lang="en-US" sz="1800" b="1" dirty="0">
                <a:solidFill>
                  <a:schemeClr val="tx1"/>
                </a:solidFill>
              </a:rPr>
              <a:t>2. Draft</a:t>
            </a:r>
            <a:endParaRPr lang="en-US" sz="1800" dirty="0"/>
          </a:p>
        </p:txBody>
      </p:sp>
      <p:sp>
        <p:nvSpPr>
          <p:cNvPr id="12" name="Text 8"/>
          <p:cNvSpPr txBox="1"/>
          <p:nvPr/>
        </p:nvSpPr>
        <p:spPr>
          <a:xfrm>
            <a:off x="3623310" y="2926080"/>
            <a:ext cx="2169414" cy="1097280"/>
          </a:xfrm>
          <a:prstGeom prst="rect">
            <a:avLst/>
          </a:prstGeom>
          <a:noFill/>
          <a:ln/>
        </p:spPr>
        <p:txBody>
          <a:bodyPr wrap="square" lIns="0" tIns="0" rIns="0" bIns="0" rtlCol="0" anchor="t"/>
          <a:lstStyle/>
          <a:p>
            <a:pPr indent="0" marL="0">
              <a:buNone/>
            </a:pPr>
            <a:r>
              <a:rPr lang="en-US" sz="1400" dirty="0">
                <a:solidFill>
                  <a:schemeClr val="accent4"/>
                </a:solidFill>
              </a:rPr>
              <a:t>model writes a candidate playbook (≤ 350 words)</a:t>
            </a:r>
            <a:endParaRPr lang="en-US" sz="1400" dirty="0"/>
          </a:p>
        </p:txBody>
      </p:sp>
      <p:sp>
        <p:nvSpPr>
          <p:cNvPr id="13" name="Improve step 3"/>
          <p:cNvSpPr/>
          <p:nvPr/>
        </p:nvSpPr>
        <p:spPr>
          <a:xfrm>
            <a:off x="6167628" y="1463040"/>
            <a:ext cx="2626614" cy="2651760"/>
          </a:xfrm>
          <a:prstGeom prst="roundRect">
            <a:avLst>
              <a:gd name="adj" fmla="val 278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Improve step 3 circle"/>
          <p:cNvSpPr/>
          <p:nvPr/>
        </p:nvSpPr>
        <p:spPr>
          <a:xfrm>
            <a:off x="6396228" y="1691640"/>
            <a:ext cx="685800" cy="685800"/>
          </a:xfrm>
          <a:prstGeom prst="ellipse">
            <a:avLst/>
          </a:prstGeom>
          <a:solidFill>
            <a:schemeClr val="accent1"/>
          </a:solidFill>
          <a:ln w="12700">
            <a:solidFill>
              <a:schemeClr val="accent1"/>
            </a:solidFill>
            <a:prstDash val="solid"/>
          </a:ln>
        </p:spPr>
      </p:sp>
      <p:pic>
        <p:nvPicPr>
          <p:cNvPr id="15" name="Improve step 3 icon" descr="preencoded.png">    </p:cNvPr>
          <p:cNvPicPr>
            <a:picLocks noChangeAspect="1"/>
          </p:cNvPicPr>
          <p:nvPr/>
        </p:nvPicPr>
        <p:blipFill>
          <a:blip r:embed="rId3"/>
          <a:stretch>
            <a:fillRect/>
          </a:stretch>
        </p:blipFill>
        <p:spPr>
          <a:xfrm>
            <a:off x="6581394" y="1876806"/>
            <a:ext cx="315468" cy="315468"/>
          </a:xfrm>
          <a:prstGeom prst="rect">
            <a:avLst/>
          </a:prstGeom>
        </p:spPr>
      </p:pic>
      <p:sp>
        <p:nvSpPr>
          <p:cNvPr id="16" name="Text 11"/>
          <p:cNvSpPr txBox="1"/>
          <p:nvPr/>
        </p:nvSpPr>
        <p:spPr>
          <a:xfrm>
            <a:off x="6396228" y="2514600"/>
            <a:ext cx="2169414" cy="411480"/>
          </a:xfrm>
          <a:prstGeom prst="rect">
            <a:avLst/>
          </a:prstGeom>
          <a:noFill/>
          <a:ln/>
        </p:spPr>
        <p:txBody>
          <a:bodyPr wrap="square" lIns="0" tIns="0" rIns="0" bIns="0" rtlCol="0" anchor="t"/>
          <a:lstStyle/>
          <a:p>
            <a:pPr indent="0" marL="0">
              <a:buNone/>
            </a:pPr>
            <a:r>
              <a:rPr lang="en-US" sz="1800" b="1" dirty="0">
                <a:solidFill>
                  <a:schemeClr val="tx1"/>
                </a:solidFill>
              </a:rPr>
              <a:t>3. Score both</a:t>
            </a:r>
            <a:endParaRPr lang="en-US" sz="1800" dirty="0"/>
          </a:p>
        </p:txBody>
      </p:sp>
      <p:sp>
        <p:nvSpPr>
          <p:cNvPr id="17" name="Text 12"/>
          <p:cNvSpPr txBox="1"/>
          <p:nvPr/>
        </p:nvSpPr>
        <p:spPr>
          <a:xfrm>
            <a:off x="6396228" y="2926080"/>
            <a:ext cx="2169414" cy="1097280"/>
          </a:xfrm>
          <a:prstGeom prst="rect">
            <a:avLst/>
          </a:prstGeom>
          <a:noFill/>
          <a:ln/>
        </p:spPr>
        <p:txBody>
          <a:bodyPr wrap="square" lIns="0" tIns="0" rIns="0" bIns="0" rtlCol="0" anchor="t"/>
          <a:lstStyle/>
          <a:p>
            <a:pPr indent="0" marL="0">
              <a:buNone/>
            </a:pPr>
            <a:r>
              <a:rPr lang="en-US" sz="1400" dirty="0">
                <a:solidFill>
                  <a:schemeClr val="accent4"/>
                </a:solidFill>
              </a:rPr>
              <a:t>same examples, answered at temp 0.3, graded at temp 0 vs the expected answer</a:t>
            </a:r>
            <a:endParaRPr lang="en-US" sz="1400" dirty="0"/>
          </a:p>
        </p:txBody>
      </p:sp>
      <p:sp>
        <p:nvSpPr>
          <p:cNvPr id="18" name="Improve step 4"/>
          <p:cNvSpPr/>
          <p:nvPr/>
        </p:nvSpPr>
        <p:spPr>
          <a:xfrm>
            <a:off x="8940546" y="1463040"/>
            <a:ext cx="2626614" cy="2651760"/>
          </a:xfrm>
          <a:prstGeom prst="roundRect">
            <a:avLst>
              <a:gd name="adj" fmla="val 278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Improve step 4 circle"/>
          <p:cNvSpPr/>
          <p:nvPr/>
        </p:nvSpPr>
        <p:spPr>
          <a:xfrm>
            <a:off x="9169146" y="1691640"/>
            <a:ext cx="685800" cy="685800"/>
          </a:xfrm>
          <a:prstGeom prst="ellipse">
            <a:avLst/>
          </a:prstGeom>
          <a:solidFill>
            <a:schemeClr val="accent2"/>
          </a:solidFill>
          <a:ln w="12700">
            <a:solidFill>
              <a:schemeClr val="accent2"/>
            </a:solidFill>
            <a:prstDash val="solid"/>
          </a:ln>
        </p:spPr>
      </p:sp>
      <p:pic>
        <p:nvPicPr>
          <p:cNvPr id="20" name="Improve step 4 icon" descr="preencoded.png">    </p:cNvPr>
          <p:cNvPicPr>
            <a:picLocks noChangeAspect="1"/>
          </p:cNvPicPr>
          <p:nvPr/>
        </p:nvPicPr>
        <p:blipFill>
          <a:blip r:embed="rId4"/>
          <a:stretch>
            <a:fillRect/>
          </a:stretch>
        </p:blipFill>
        <p:spPr>
          <a:xfrm>
            <a:off x="9354312" y="1876806"/>
            <a:ext cx="315468" cy="315468"/>
          </a:xfrm>
          <a:prstGeom prst="rect">
            <a:avLst/>
          </a:prstGeom>
        </p:spPr>
      </p:pic>
      <p:sp>
        <p:nvSpPr>
          <p:cNvPr id="21" name="Text 15"/>
          <p:cNvSpPr txBox="1"/>
          <p:nvPr/>
        </p:nvSpPr>
        <p:spPr>
          <a:xfrm>
            <a:off x="9169146" y="2514600"/>
            <a:ext cx="2169414" cy="411480"/>
          </a:xfrm>
          <a:prstGeom prst="rect">
            <a:avLst/>
          </a:prstGeom>
          <a:noFill/>
          <a:ln/>
        </p:spPr>
        <p:txBody>
          <a:bodyPr wrap="square" lIns="0" tIns="0" rIns="0" bIns="0" rtlCol="0" anchor="t"/>
          <a:lstStyle/>
          <a:p>
            <a:pPr indent="0" marL="0">
              <a:buNone/>
            </a:pPr>
            <a:r>
              <a:rPr lang="en-US" sz="1800" b="1" dirty="0">
                <a:solidFill>
                  <a:schemeClr val="tx1"/>
                </a:solidFill>
              </a:rPr>
              <a:t>4. Decide</a:t>
            </a:r>
            <a:endParaRPr lang="en-US" sz="1800" dirty="0"/>
          </a:p>
        </p:txBody>
      </p:sp>
      <p:sp>
        <p:nvSpPr>
          <p:cNvPr id="22" name="Text 16"/>
          <p:cNvSpPr txBox="1"/>
          <p:nvPr/>
        </p:nvSpPr>
        <p:spPr>
          <a:xfrm>
            <a:off x="9169146" y="2926080"/>
            <a:ext cx="2169414" cy="1097280"/>
          </a:xfrm>
          <a:prstGeom prst="rect">
            <a:avLst/>
          </a:prstGeom>
          <a:noFill/>
          <a:ln/>
        </p:spPr>
        <p:txBody>
          <a:bodyPr wrap="square" lIns="0" tIns="0" rIns="0" bIns="0" rtlCol="0" anchor="t"/>
          <a:lstStyle/>
          <a:p>
            <a:pPr indent="0" marL="0">
              <a:buNone/>
            </a:pPr>
            <a:r>
              <a:rPr lang="en-US" sz="1400" dirty="0">
                <a:solidFill>
                  <a:schemeClr val="accent4"/>
                </a:solidFill>
              </a:rPr>
              <a:t>adopt only if the mean gain beats both +0.02 and one standard error</a:t>
            </a:r>
            <a:endParaRPr lang="en-US" sz="1400" dirty="0"/>
          </a:p>
        </p:txBody>
      </p:sp>
      <p:sp>
        <p:nvSpPr>
          <p:cNvPr id="23" name="Text 17"/>
          <p:cNvSpPr txBox="1"/>
          <p:nvPr/>
        </p:nvSpPr>
        <p:spPr>
          <a:xfrm>
            <a:off x="548640" y="4434840"/>
            <a:ext cx="5486400" cy="411480"/>
          </a:xfrm>
          <a:prstGeom prst="rect">
            <a:avLst/>
          </a:prstGeom>
          <a:noFill/>
          <a:ln/>
        </p:spPr>
        <p:txBody>
          <a:bodyPr wrap="square" lIns="0" tIns="0" rIns="0" bIns="0" rtlCol="0" anchor="t"/>
          <a:lstStyle/>
          <a:p>
            <a:pPr indent="0" marL="0">
              <a:buNone/>
            </a:pPr>
            <a:r>
              <a:rPr lang="en-US" sz="1800" b="1" dirty="0">
                <a:solidFill>
                  <a:schemeClr val="tx2"/>
                </a:solidFill>
              </a:rPr>
              <a:t>Every version is kept. Roll back any time.</a:t>
            </a:r>
            <a:endParaRPr lang="en-US" sz="1800" dirty="0"/>
          </a:p>
        </p:txBody>
      </p:sp>
      <p:sp>
        <p:nvSpPr>
          <p:cNvPr id="24" name="Version line"/>
          <p:cNvSpPr/>
          <p:nvPr/>
        </p:nvSpPr>
        <p:spPr>
          <a:xfrm>
            <a:off x="868680" y="5349240"/>
            <a:ext cx="6035040" cy="0"/>
          </a:xfrm>
          <a:prstGeom prst="line">
            <a:avLst/>
          </a:prstGeom>
          <a:noFill/>
          <a:ln w="25400">
            <a:solidFill>
              <a:schemeClr val="accent5"/>
            </a:solidFill>
            <a:prstDash val="solid"/>
          </a:ln>
        </p:spPr>
      </p:sp>
      <p:sp>
        <p:nvSpPr>
          <p:cNvPr id="25" name="Version v0"/>
          <p:cNvSpPr/>
          <p:nvPr/>
        </p:nvSpPr>
        <p:spPr>
          <a:xfrm>
            <a:off x="548640" y="5029200"/>
            <a:ext cx="640080" cy="640080"/>
          </a:xfrm>
          <a:prstGeom prst="ellipse">
            <a:avLst/>
          </a:prstGeom>
          <a:solidFill>
            <a:schemeClr val="accent4"/>
          </a:solidFill>
          <a:ln w="12700">
            <a:solidFill>
              <a:schemeClr val="accent4"/>
            </a:solidFill>
            <a:prstDash val="solid"/>
          </a:ln>
        </p:spPr>
      </p:sp>
      <p:sp>
        <p:nvSpPr>
          <p:cNvPr id="26" name="Text 20"/>
          <p:cNvSpPr txBox="1"/>
          <p:nvPr/>
        </p:nvSpPr>
        <p:spPr>
          <a:xfrm>
            <a:off x="548640" y="5029200"/>
            <a:ext cx="640080" cy="640080"/>
          </a:xfrm>
          <a:prstGeom prst="rect">
            <a:avLst/>
          </a:prstGeom>
          <a:noFill/>
          <a:ln/>
        </p:spPr>
        <p:txBody>
          <a:bodyPr wrap="square" lIns="0" tIns="0" rIns="0" bIns="0" rtlCol="0" anchor="ctr"/>
          <a:lstStyle/>
          <a:p>
            <a:pPr algn="ctr" indent="0" marL="0">
              <a:buNone/>
            </a:pPr>
            <a:r>
              <a:rPr lang="en-US" sz="1400" b="1" dirty="0">
                <a:solidFill>
                  <a:schemeClr val="bg1"/>
                </a:solidFill>
              </a:rPr>
              <a:t>v0</a:t>
            </a:r>
            <a:endParaRPr lang="en-US" sz="1400" dirty="0"/>
          </a:p>
        </p:txBody>
      </p:sp>
      <p:sp>
        <p:nvSpPr>
          <p:cNvPr id="27" name="Text 21"/>
          <p:cNvSpPr txBox="1"/>
          <p:nvPr/>
        </p:nvSpPr>
        <p:spPr>
          <a:xfrm>
            <a:off x="274320" y="5715000"/>
            <a:ext cx="1188720" cy="320040"/>
          </a:xfrm>
          <a:prstGeom prst="rect">
            <a:avLst/>
          </a:prstGeom>
          <a:noFill/>
          <a:ln/>
        </p:spPr>
        <p:txBody>
          <a:bodyPr wrap="square" lIns="0" tIns="0" rIns="0" bIns="0" rtlCol="0" anchor="t"/>
          <a:lstStyle/>
          <a:p>
            <a:pPr algn="ctr" indent="0" marL="0">
              <a:buNone/>
            </a:pPr>
            <a:r>
              <a:rPr lang="en-US" sz="1200" dirty="0">
                <a:solidFill>
                  <a:schemeClr val="accent4"/>
                </a:solidFill>
              </a:rPr>
              <a:t>no playbook</a:t>
            </a:r>
            <a:endParaRPr lang="en-US" sz="1200" dirty="0"/>
          </a:p>
        </p:txBody>
      </p:sp>
      <p:sp>
        <p:nvSpPr>
          <p:cNvPr id="28" name="Version v1"/>
          <p:cNvSpPr/>
          <p:nvPr/>
        </p:nvSpPr>
        <p:spPr>
          <a:xfrm>
            <a:off x="2560320" y="5029200"/>
            <a:ext cx="640080" cy="640080"/>
          </a:xfrm>
          <a:prstGeom prst="ellipse">
            <a:avLst/>
          </a:prstGeom>
          <a:solidFill>
            <a:schemeClr val="accent2"/>
          </a:solidFill>
          <a:ln w="12700">
            <a:solidFill>
              <a:schemeClr val="accent2"/>
            </a:solidFill>
            <a:prstDash val="solid"/>
          </a:ln>
        </p:spPr>
      </p:sp>
      <p:sp>
        <p:nvSpPr>
          <p:cNvPr id="29" name="Text 23"/>
          <p:cNvSpPr txBox="1"/>
          <p:nvPr/>
        </p:nvSpPr>
        <p:spPr>
          <a:xfrm>
            <a:off x="2560320" y="5029200"/>
            <a:ext cx="640080" cy="640080"/>
          </a:xfrm>
          <a:prstGeom prst="rect">
            <a:avLst/>
          </a:prstGeom>
          <a:noFill/>
          <a:ln/>
        </p:spPr>
        <p:txBody>
          <a:bodyPr wrap="square" lIns="0" tIns="0" rIns="0" bIns="0" rtlCol="0" anchor="ctr"/>
          <a:lstStyle/>
          <a:p>
            <a:pPr algn="ctr" indent="0" marL="0">
              <a:buNone/>
            </a:pPr>
            <a:r>
              <a:rPr lang="en-US" sz="1400" b="1" dirty="0">
                <a:solidFill>
                  <a:schemeClr val="bg1"/>
                </a:solidFill>
              </a:rPr>
              <a:t>v1</a:t>
            </a:r>
            <a:endParaRPr lang="en-US" sz="1400" dirty="0"/>
          </a:p>
        </p:txBody>
      </p:sp>
      <p:sp>
        <p:nvSpPr>
          <p:cNvPr id="30" name="Text 24"/>
          <p:cNvSpPr txBox="1"/>
          <p:nvPr/>
        </p:nvSpPr>
        <p:spPr>
          <a:xfrm>
            <a:off x="2286000" y="5715000"/>
            <a:ext cx="1188720" cy="320040"/>
          </a:xfrm>
          <a:prstGeom prst="rect">
            <a:avLst/>
          </a:prstGeom>
          <a:noFill/>
          <a:ln/>
        </p:spPr>
        <p:txBody>
          <a:bodyPr wrap="square" lIns="0" tIns="0" rIns="0" bIns="0" rtlCol="0" anchor="t"/>
          <a:lstStyle/>
          <a:p>
            <a:pPr algn="ctr" indent="0" marL="0">
              <a:buNone/>
            </a:pPr>
            <a:r>
              <a:rPr lang="en-US" sz="1200" dirty="0">
                <a:solidFill>
                  <a:schemeClr val="accent4"/>
                </a:solidFill>
              </a:rPr>
              <a:t>adopted</a:t>
            </a:r>
            <a:endParaRPr lang="en-US" sz="1200" dirty="0"/>
          </a:p>
        </p:txBody>
      </p:sp>
      <p:sp>
        <p:nvSpPr>
          <p:cNvPr id="31" name="Version v2"/>
          <p:cNvSpPr/>
          <p:nvPr/>
        </p:nvSpPr>
        <p:spPr>
          <a:xfrm>
            <a:off x="4572000" y="5029200"/>
            <a:ext cx="640080" cy="640080"/>
          </a:xfrm>
          <a:prstGeom prst="ellipse">
            <a:avLst/>
          </a:prstGeom>
          <a:solidFill>
            <a:schemeClr val="accent3"/>
          </a:solidFill>
          <a:ln w="12700">
            <a:solidFill>
              <a:schemeClr val="accent3"/>
            </a:solidFill>
            <a:prstDash val="solid"/>
          </a:ln>
        </p:spPr>
      </p:sp>
      <p:sp>
        <p:nvSpPr>
          <p:cNvPr id="32" name="Text 26"/>
          <p:cNvSpPr txBox="1"/>
          <p:nvPr/>
        </p:nvSpPr>
        <p:spPr>
          <a:xfrm>
            <a:off x="4572000" y="5029200"/>
            <a:ext cx="640080" cy="640080"/>
          </a:xfrm>
          <a:prstGeom prst="rect">
            <a:avLst/>
          </a:prstGeom>
          <a:noFill/>
          <a:ln/>
        </p:spPr>
        <p:txBody>
          <a:bodyPr wrap="square" lIns="0" tIns="0" rIns="0" bIns="0" rtlCol="0" anchor="ctr"/>
          <a:lstStyle/>
          <a:p>
            <a:pPr algn="ctr" indent="0" marL="0">
              <a:buNone/>
            </a:pPr>
            <a:r>
              <a:rPr lang="en-US" sz="1400" b="1" dirty="0">
                <a:solidFill>
                  <a:schemeClr val="bg1"/>
                </a:solidFill>
              </a:rPr>
              <a:t>v2</a:t>
            </a:r>
            <a:endParaRPr lang="en-US" sz="1400" dirty="0"/>
          </a:p>
        </p:txBody>
      </p:sp>
      <p:sp>
        <p:nvSpPr>
          <p:cNvPr id="33" name="Text 27"/>
          <p:cNvSpPr txBox="1"/>
          <p:nvPr/>
        </p:nvSpPr>
        <p:spPr>
          <a:xfrm>
            <a:off x="4297680" y="5715000"/>
            <a:ext cx="1188720" cy="320040"/>
          </a:xfrm>
          <a:prstGeom prst="rect">
            <a:avLst/>
          </a:prstGeom>
          <a:noFill/>
          <a:ln/>
        </p:spPr>
        <p:txBody>
          <a:bodyPr wrap="square" lIns="0" tIns="0" rIns="0" bIns="0" rtlCol="0" anchor="t"/>
          <a:lstStyle/>
          <a:p>
            <a:pPr algn="ctr" indent="0" marL="0">
              <a:buNone/>
            </a:pPr>
            <a:r>
              <a:rPr lang="en-US" sz="1200" dirty="0">
                <a:solidFill>
                  <a:schemeClr val="accent4"/>
                </a:solidFill>
              </a:rPr>
              <a:t>rejected, kept</a:t>
            </a:r>
            <a:endParaRPr lang="en-US" sz="1200" dirty="0"/>
          </a:p>
        </p:txBody>
      </p:sp>
      <p:sp>
        <p:nvSpPr>
          <p:cNvPr id="34" name="Version v3"/>
          <p:cNvSpPr/>
          <p:nvPr/>
        </p:nvSpPr>
        <p:spPr>
          <a:xfrm>
            <a:off x="6583680" y="5029200"/>
            <a:ext cx="640080" cy="640080"/>
          </a:xfrm>
          <a:prstGeom prst="ellipse">
            <a:avLst/>
          </a:prstGeom>
          <a:solidFill>
            <a:schemeClr val="accent2"/>
          </a:solidFill>
          <a:ln w="12700">
            <a:solidFill>
              <a:schemeClr val="accent2"/>
            </a:solidFill>
            <a:prstDash val="solid"/>
          </a:ln>
        </p:spPr>
      </p:sp>
      <p:sp>
        <p:nvSpPr>
          <p:cNvPr id="35" name="Text 29"/>
          <p:cNvSpPr txBox="1"/>
          <p:nvPr/>
        </p:nvSpPr>
        <p:spPr>
          <a:xfrm>
            <a:off x="6583680" y="5029200"/>
            <a:ext cx="640080" cy="640080"/>
          </a:xfrm>
          <a:prstGeom prst="rect">
            <a:avLst/>
          </a:prstGeom>
          <a:noFill/>
          <a:ln/>
        </p:spPr>
        <p:txBody>
          <a:bodyPr wrap="square" lIns="0" tIns="0" rIns="0" bIns="0" rtlCol="0" anchor="ctr"/>
          <a:lstStyle/>
          <a:p>
            <a:pPr algn="ctr" indent="0" marL="0">
              <a:buNone/>
            </a:pPr>
            <a:r>
              <a:rPr lang="en-US" sz="1400" b="1" dirty="0">
                <a:solidFill>
                  <a:schemeClr val="bg1"/>
                </a:solidFill>
              </a:rPr>
              <a:t>v3</a:t>
            </a:r>
            <a:endParaRPr lang="en-US" sz="1400" dirty="0"/>
          </a:p>
        </p:txBody>
      </p:sp>
      <p:sp>
        <p:nvSpPr>
          <p:cNvPr id="36" name="Text 30"/>
          <p:cNvSpPr txBox="1"/>
          <p:nvPr/>
        </p:nvSpPr>
        <p:spPr>
          <a:xfrm>
            <a:off x="6309360" y="5715000"/>
            <a:ext cx="1188720" cy="320040"/>
          </a:xfrm>
          <a:prstGeom prst="rect">
            <a:avLst/>
          </a:prstGeom>
          <a:noFill/>
          <a:ln/>
        </p:spPr>
        <p:txBody>
          <a:bodyPr wrap="square" lIns="0" tIns="0" rIns="0" bIns="0" rtlCol="0" anchor="t"/>
          <a:lstStyle/>
          <a:p>
            <a:pPr algn="ctr" indent="0" marL="0">
              <a:buNone/>
            </a:pPr>
            <a:r>
              <a:rPr lang="en-US" sz="1200" dirty="0">
                <a:solidFill>
                  <a:schemeClr val="accent4"/>
                </a:solidFill>
              </a:rPr>
              <a:t>adopted</a:t>
            </a:r>
            <a:endParaRPr lang="en-US" sz="1200" dirty="0"/>
          </a:p>
        </p:txBody>
      </p:sp>
      <p:sp>
        <p:nvSpPr>
          <p:cNvPr id="37" name="Text 31"/>
          <p:cNvSpPr txBox="1"/>
          <p:nvPr/>
        </p:nvSpPr>
        <p:spPr>
          <a:xfrm>
            <a:off x="7315200" y="5120640"/>
            <a:ext cx="4297680" cy="457200"/>
          </a:xfrm>
          <a:prstGeom prst="rect">
            <a:avLst/>
          </a:prstGeom>
          <a:noFill/>
          <a:ln/>
        </p:spPr>
        <p:txBody>
          <a:bodyPr wrap="square" lIns="0" tIns="0" rIns="0" bIns="0" rtlCol="0" anchor="t"/>
          <a:lstStyle/>
          <a:p>
            <a:pPr indent="0" marL="0">
              <a:buNone/>
            </a:pPr>
            <a:r>
              <a:rPr lang="en-US" sz="1400" dirty="0">
                <a:solidFill>
                  <a:schemeClr val="accent2"/>
                </a:solidFill>
                <a:latin typeface="Courier New" pitchFamily="34" charset="0"/>
                <a:ea typeface="Courier New" pitchFamily="34" charset="-122"/>
                <a:cs typeface="Courier New" pitchFamily="34" charset="-120"/>
              </a:rPr>
              <a:t>POST /playbooks/{v}/activate</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Worked example: the Acme refund agent</a:t>
            </a:r>
            <a:endParaRPr lang="en-US" sz="3400" dirty="0"/>
          </a:p>
        </p:txBody>
      </p:sp>
      <p:sp>
        <p:nvSpPr>
          <p:cNvPr id="3" name="Example step 1"/>
          <p:cNvSpPr/>
          <p:nvPr/>
        </p:nvSpPr>
        <p:spPr>
          <a:xfrm>
            <a:off x="548640" y="1463040"/>
            <a:ext cx="3474720" cy="4526280"/>
          </a:xfrm>
          <a:prstGeom prst="roundRect">
            <a:avLst>
              <a:gd name="adj" fmla="val 210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822960" y="1645920"/>
            <a:ext cx="2926080" cy="411480"/>
          </a:xfrm>
          <a:prstGeom prst="rect">
            <a:avLst/>
          </a:prstGeom>
          <a:noFill/>
          <a:ln/>
        </p:spPr>
        <p:txBody>
          <a:bodyPr wrap="square" lIns="0" tIns="0" rIns="0" bIns="0" rtlCol="0" anchor="t"/>
          <a:lstStyle/>
          <a:p>
            <a:pPr indent="0" marL="0">
              <a:buNone/>
            </a:pPr>
            <a:r>
              <a:rPr lang="en-US" sz="1800" b="1" dirty="0">
                <a:solidFill>
                  <a:schemeClr val="tx2"/>
                </a:solidFill>
              </a:rPr>
              <a:t>Step 1 · Customer asks</a:t>
            </a:r>
            <a:endParaRPr lang="en-US" sz="1800" dirty="0"/>
          </a:p>
        </p:txBody>
      </p:sp>
      <p:sp>
        <p:nvSpPr>
          <p:cNvPr id="5" name="Text 3"/>
          <p:cNvSpPr txBox="1"/>
          <p:nvPr/>
        </p:nvSpPr>
        <p:spPr>
          <a:xfrm>
            <a:off x="822960" y="2194560"/>
            <a:ext cx="2926080" cy="2651760"/>
          </a:xfrm>
          <a:prstGeom prst="rect">
            <a:avLst/>
          </a:prstGeom>
          <a:noFill/>
          <a:ln/>
        </p:spPr>
        <p:txBody>
          <a:bodyPr wrap="square" lIns="0" tIns="0" rIns="0" bIns="0" rtlCol="0" anchor="t"/>
          <a:lstStyle/>
          <a:p>
            <a:pPr indent="0" marL="0">
              <a:buNone/>
            </a:pPr>
            <a:r>
              <a:rPr lang="en-US" sz="1600" dirty="0">
                <a:solidFill>
                  <a:schemeClr val="tx1"/>
                </a:solidFill>
              </a:rPr>
              <a:t>"Annual plan, $730, bought 100 days ago, paid by card, customer for 2 years. Cancel and refund."</a:t>
            </a:r>
            <a:endParaRPr lang="en-US" sz="1600" dirty="0"/>
          </a:p>
        </p:txBody>
      </p:sp>
      <p:sp>
        <p:nvSpPr>
          <p:cNvPr id="6" name="Example step 2"/>
          <p:cNvSpPr/>
          <p:nvPr/>
        </p:nvSpPr>
        <p:spPr>
          <a:xfrm>
            <a:off x="4315968" y="1463040"/>
            <a:ext cx="3474720" cy="4526280"/>
          </a:xfrm>
          <a:prstGeom prst="roundRect">
            <a:avLst>
              <a:gd name="adj" fmla="val 2105"/>
            </a:avLst>
          </a:prstGeom>
          <a:solidFill>
            <a:schemeClr val="tx2"/>
          </a:solidFill>
          <a:ln w="12700">
            <a:solidFill>
              <a:schemeClr val="tx2"/>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4590288" y="1645920"/>
            <a:ext cx="2926080" cy="411480"/>
          </a:xfrm>
          <a:prstGeom prst="rect">
            <a:avLst/>
          </a:prstGeom>
          <a:noFill/>
          <a:ln/>
        </p:spPr>
        <p:txBody>
          <a:bodyPr wrap="square" lIns="0" tIns="0" rIns="0" bIns="0" rtlCol="0" anchor="t"/>
          <a:lstStyle/>
          <a:p>
            <a:pPr indent="0" marL="0">
              <a:buNone/>
            </a:pPr>
            <a:r>
              <a:rPr lang="en-US" sz="1800" b="1" dirty="0">
                <a:solidFill>
                  <a:schemeClr val="accent6"/>
                </a:solidFill>
              </a:rPr>
              <a:t>Step 2 · Policy requires</a:t>
            </a:r>
            <a:endParaRPr lang="en-US" sz="1800" dirty="0"/>
          </a:p>
        </p:txBody>
      </p:sp>
      <p:sp>
        <p:nvSpPr>
          <p:cNvPr id="8" name="Text 6"/>
          <p:cNvSpPr txBox="1"/>
          <p:nvPr/>
        </p:nvSpPr>
        <p:spPr>
          <a:xfrm>
            <a:off x="4590288" y="2194560"/>
            <a:ext cx="2926080" cy="265176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DECISION: PARTIAL REFUND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AMOUNT: $424.00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CALCULATION: 730 × 265/365</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 530.00; fee 20% = 106.00;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530.00 − 106.00 = 424.00</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PAYOUT: card, 5–7 business days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ESCALATION: billing-appeals@...</a:t>
            </a:r>
            <a:endParaRPr lang="en-US" sz="1300" dirty="0"/>
          </a:p>
        </p:txBody>
      </p:sp>
      <p:sp>
        <p:nvSpPr>
          <p:cNvPr id="9" name="Example step 3"/>
          <p:cNvSpPr/>
          <p:nvPr/>
        </p:nvSpPr>
        <p:spPr>
          <a:xfrm>
            <a:off x="8083296" y="1463040"/>
            <a:ext cx="3474720" cy="4526280"/>
          </a:xfrm>
          <a:prstGeom prst="roundRect">
            <a:avLst>
              <a:gd name="adj" fmla="val 2105"/>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8357616" y="1645920"/>
            <a:ext cx="2926080" cy="411480"/>
          </a:xfrm>
          <a:prstGeom prst="rect">
            <a:avLst/>
          </a:prstGeom>
          <a:noFill/>
          <a:ln/>
        </p:spPr>
        <p:txBody>
          <a:bodyPr wrap="square" lIns="0" tIns="0" rIns="0" bIns="0" rtlCol="0" anchor="t"/>
          <a:lstStyle/>
          <a:p>
            <a:pPr indent="0" marL="0">
              <a:buNone/>
            </a:pPr>
            <a:r>
              <a:rPr lang="en-US" sz="1800" b="1" dirty="0">
                <a:solidFill>
                  <a:schemeClr val="tx2"/>
                </a:solidFill>
              </a:rPr>
              <a:t>Step 3 · Loop learns</a:t>
            </a:r>
            <a:endParaRPr lang="en-US" sz="1800" dirty="0"/>
          </a:p>
        </p:txBody>
      </p:sp>
      <p:sp>
        <p:nvSpPr>
          <p:cNvPr id="11" name="Text 9"/>
          <p:cNvSpPr txBox="1"/>
          <p:nvPr/>
        </p:nvSpPr>
        <p:spPr>
          <a:xfrm>
            <a:off x="8357616" y="2194560"/>
            <a:ext cx="2926080" cy="2651760"/>
          </a:xfrm>
          <a:prstGeom prst="rect">
            <a:avLst/>
          </a:prstGeom>
          <a:noFill/>
          <a:ln/>
        </p:spPr>
        <p:txBody>
          <a:bodyPr wrap="square" lIns="0" tIns="0" rIns="0" bIns="0" rtlCol="0" anchor="t"/>
          <a:lstStyle/>
          <a:p>
            <a:pPr indent="0" marL="0">
              <a:buNone/>
            </a:pPr>
            <a:r>
              <a:rPr lang="en-US" sz="1600" dirty="0">
                <a:solidFill>
                  <a:schemeClr val="tx1"/>
                </a:solidFill>
              </a:rPr>
              <a:t>Critic checks the draft against the policy chunks, flags e.g. a missed fee, the agent revises, then reflection saves a lesson. A real one from your run:</a:t>
            </a:r>
            <a:endParaRPr lang="en-US" sz="1600" dirty="0"/>
          </a:p>
        </p:txBody>
      </p:sp>
      <p:sp>
        <p:nvSpPr>
          <p:cNvPr id="12" name="Text 10"/>
          <p:cNvSpPr txBox="1"/>
          <p:nvPr/>
        </p:nvSpPr>
        <p:spPr>
          <a:xfrm>
            <a:off x="822960" y="3520440"/>
            <a:ext cx="2926080" cy="365760"/>
          </a:xfrm>
          <a:prstGeom prst="rect">
            <a:avLst/>
          </a:prstGeom>
          <a:noFill/>
          <a:ln/>
        </p:spPr>
        <p:txBody>
          <a:bodyPr wrap="square" lIns="0" tIns="0" rIns="0" bIns="0" rtlCol="0" anchor="t"/>
          <a:lstStyle/>
          <a:p>
            <a:pPr indent="0" marL="0">
              <a:buNone/>
            </a:pPr>
            <a:r>
              <a:rPr lang="en-US" sz="1500" b="1" dirty="0">
                <a:solidFill>
                  <a:schemeClr val="tx2"/>
                </a:solidFill>
              </a:rPr>
              <a:t>What lands in its prompt:</a:t>
            </a:r>
            <a:endParaRPr lang="en-US" sz="1500" dirty="0"/>
          </a:p>
        </p:txBody>
      </p:sp>
      <p:sp>
        <p:nvSpPr>
          <p:cNvPr id="13" name="Text 11"/>
          <p:cNvSpPr txBox="1"/>
          <p:nvPr/>
        </p:nvSpPr>
        <p:spPr>
          <a:xfrm>
            <a:off x="822960" y="3931920"/>
            <a:ext cx="297180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policy chunks matching "annual", "refund"…</a:t>
            </a:r>
            <a:endParaRPr lang="en-US" sz="1400" dirty="0"/>
          </a:p>
          <a:p>
            <a:pPr marL="342900" indent="-342900">
              <a:spcAft>
                <a:spcPts val="800"/>
              </a:spcAft>
              <a:buSzPct val="100000"/>
              <a:buChar char="•"/>
            </a:pPr>
            <a:r>
              <a:rPr lang="en-US" sz="1400" dirty="0">
                <a:solidFill>
                  <a:schemeClr val="tx1"/>
                </a:solidFill>
              </a:rPr>
              <a:t>up to 6 lessons from past tasks</a:t>
            </a:r>
            <a:endParaRPr lang="en-US" sz="1400" dirty="0"/>
          </a:p>
          <a:p>
            <a:pPr marL="342900" indent="-342900">
              <a:spcAft>
                <a:spcPts val="800"/>
              </a:spcAft>
              <a:buSzPct val="100000"/>
              <a:buChar char="•"/>
            </a:pPr>
            <a:r>
              <a:rPr lang="en-US" sz="1400" dirty="0">
                <a:solidFill>
                  <a:schemeClr val="tx1"/>
                </a:solidFill>
              </a:rPr>
              <a:t>the current playbook, if any</a:t>
            </a:r>
            <a:endParaRPr lang="en-US" sz="1400" dirty="0"/>
          </a:p>
        </p:txBody>
      </p:sp>
      <p:sp>
        <p:nvSpPr>
          <p:cNvPr id="14" name="Lesson quote"/>
          <p:cNvSpPr/>
          <p:nvPr/>
        </p:nvSpPr>
        <p:spPr>
          <a:xfrm>
            <a:off x="8266176" y="3977640"/>
            <a:ext cx="3108960" cy="1783080"/>
          </a:xfrm>
          <a:prstGeom prst="roundRect">
            <a:avLst>
              <a:gd name="adj" fmla="val 4103"/>
            </a:avLst>
          </a:prstGeom>
          <a:solidFill>
            <a:schemeClr val="accent1"/>
          </a:solidFill>
          <a:ln w="12700">
            <a:solidFill>
              <a:schemeClr val="accent1"/>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8458200" y="4069080"/>
            <a:ext cx="2743200" cy="1600200"/>
          </a:xfrm>
          <a:prstGeom prst="rect">
            <a:avLst/>
          </a:prstGeom>
          <a:noFill/>
          <a:ln/>
        </p:spPr>
        <p:txBody>
          <a:bodyPr wrap="square" lIns="0" tIns="0" rIns="0" bIns="0" rtlCol="0" anchor="ctr"/>
          <a:lstStyle/>
          <a:p>
            <a:pPr indent="0" marL="0">
              <a:buNone/>
            </a:pPr>
            <a:r>
              <a:rPr lang="en-US" sz="1600" b="1" i="1" dirty="0">
                <a:solidFill>
                  <a:schemeClr val="tx1"/>
                </a:solidFill>
              </a:rPr>
              <a:t>"Add three business days when a refund over $1,000 needs finance approval."</a:t>
            </a:r>
            <a:endParaRPr lang="en-US" sz="16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0"/>
            <a:ext cx="8686800" cy="1188720"/>
          </a:xfrm>
          <a:prstGeom prst="rect">
            <a:avLst/>
          </a:prstGeom>
          <a:noFill/>
          <a:ln/>
        </p:spPr>
        <p:txBody>
          <a:bodyPr wrap="square" lIns="0" tIns="0" rIns="0" bIns="0" rtlCol="0" anchor="b"/>
          <a:lstStyle/>
          <a:p>
            <a:pPr algn="l" indent="0" marL="0">
              <a:buNone/>
            </a:pPr>
            <a:r>
              <a:rPr lang="en-US" sz="4000" b="1" dirty="0">
                <a:solidFill>
                  <a:schemeClr val="bg1"/>
                </a:solidFill>
              </a:rPr>
              <a:t>Does it actually improve?</a:t>
            </a:r>
            <a:endParaRPr lang="en-US" sz="4000" dirty="0"/>
          </a:p>
        </p:txBody>
      </p:sp>
      <p:sp>
        <p:nvSpPr>
          <p:cNvPr id="3" name="Text 0"/>
          <p:cNvSpPr/>
          <p:nvPr>
            <p:ph idx="101" type="body" hasCustomPrompt="1"/>
          </p:nvPr>
        </p:nvSpPr>
        <p:spPr>
          <a:xfrm>
            <a:off x="548640" y="3611880"/>
            <a:ext cx="8686800" cy="822960"/>
          </a:xfrm>
          <a:prstGeom prst="rect">
            <a:avLst/>
          </a:prstGeom>
          <a:noFill/>
          <a:ln/>
        </p:spPr>
        <p:txBody>
          <a:bodyPr wrap="square" lIns="0" tIns="0" rIns="0" bIns="0" rtlCol="0" anchor="t"/>
          <a:lstStyle/>
          <a:p>
            <a:pPr algn="l" indent="0" marL="0">
              <a:buNone/>
            </a:pPr>
            <a:r>
              <a:rPr lang="en-US" sz="2000" dirty="0">
                <a:solidFill>
                  <a:schemeClr val="accent6"/>
                </a:solidFill>
              </a:rPr>
              <a:t>What two real runs on free Gemini show</a:t>
            </a:r>
            <a:endParaRPr lang="en-US" sz="20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Real runs: the noise is bigger than the learning</a:t>
            </a:r>
            <a:endParaRPr lang="en-US" sz="3400" dirty="0"/>
          </a:p>
        </p:txBody>
      </p:sp>
      <p:graphicFrame>
        <p:nvGraphicFramePr>
          <p:cNvPr id="3" name="Chart 0" descr=""/>
          <p:cNvGraphicFramePr/>
          <p:nvPr/>
        </p:nvGraphicFramePr>
        <p:xfrm>
          <a:off x="548640" y="1371600"/>
          <a:ext cx="667512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589520" y="1463040"/>
            <a:ext cx="4023360" cy="548640"/>
          </a:xfrm>
          <a:prstGeom prst="rect">
            <a:avLst/>
          </a:prstGeom>
          <a:noFill/>
          <a:ln/>
        </p:spPr>
        <p:txBody>
          <a:bodyPr wrap="square" lIns="0" tIns="0" rIns="0" bIns="0" rtlCol="0" anchor="t"/>
          <a:lstStyle/>
          <a:p>
            <a:pPr indent="0" marL="0">
              <a:buNone/>
            </a:pPr>
            <a:r>
              <a:rPr lang="en-US" sz="2800" b="1" dirty="0">
                <a:solidFill>
                  <a:schemeClr val="accent3"/>
                </a:solidFill>
              </a:rPr>
              <a:t>0.35</a:t>
            </a:r>
            <a:endParaRPr lang="en-US" sz="2800" dirty="0"/>
          </a:p>
        </p:txBody>
      </p:sp>
      <p:sp>
        <p:nvSpPr>
          <p:cNvPr id="5" name="Text 2"/>
          <p:cNvSpPr txBox="1"/>
          <p:nvPr/>
        </p:nvSpPr>
        <p:spPr>
          <a:xfrm>
            <a:off x="7589520" y="2029968"/>
            <a:ext cx="4023360" cy="731520"/>
          </a:xfrm>
          <a:prstGeom prst="rect">
            <a:avLst/>
          </a:prstGeom>
          <a:noFill/>
          <a:ln/>
        </p:spPr>
        <p:txBody>
          <a:bodyPr wrap="square" lIns="0" tIns="0" rIns="0" bIns="0" rtlCol="0" anchor="t"/>
          <a:lstStyle/>
          <a:p>
            <a:pPr indent="0" marL="0">
              <a:buNone/>
            </a:pPr>
            <a:r>
              <a:rPr lang="en-US" sz="1500" dirty="0">
                <a:solidFill>
                  <a:schemeClr val="tx1"/>
                </a:solidFill>
              </a:rPr>
              <a:t>swing between two baselines with nothing learned. That's pure noise.</a:t>
            </a:r>
            <a:endParaRPr lang="en-US" sz="1500" dirty="0"/>
          </a:p>
        </p:txBody>
      </p:sp>
      <p:sp>
        <p:nvSpPr>
          <p:cNvPr id="6" name="Text 3"/>
          <p:cNvSpPr txBox="1"/>
          <p:nvPr/>
        </p:nvSpPr>
        <p:spPr>
          <a:xfrm>
            <a:off x="7589520" y="2880360"/>
            <a:ext cx="4023360" cy="548640"/>
          </a:xfrm>
          <a:prstGeom prst="rect">
            <a:avLst/>
          </a:prstGeom>
          <a:noFill/>
          <a:ln/>
        </p:spPr>
        <p:txBody>
          <a:bodyPr wrap="square" lIns="0" tIns="0" rIns="0" bIns="0" rtlCol="0" anchor="t"/>
          <a:lstStyle/>
          <a:p>
            <a:pPr indent="0" marL="0">
              <a:buNone/>
            </a:pPr>
            <a:r>
              <a:rPr lang="en-US" sz="2800" b="1" dirty="0">
                <a:solidFill>
                  <a:schemeClr val="accent1"/>
                </a:solidFill>
              </a:rPr>
              <a:t>+0.13 / −0.42</a:t>
            </a:r>
            <a:endParaRPr lang="en-US" sz="2800" dirty="0"/>
          </a:p>
        </p:txBody>
      </p:sp>
      <p:sp>
        <p:nvSpPr>
          <p:cNvPr id="7" name="Text 4"/>
          <p:cNvSpPr txBox="1"/>
          <p:nvPr/>
        </p:nvSpPr>
        <p:spPr>
          <a:xfrm>
            <a:off x="7589520" y="3447288"/>
            <a:ext cx="4023360" cy="731520"/>
          </a:xfrm>
          <a:prstGeom prst="rect">
            <a:avLst/>
          </a:prstGeom>
          <a:noFill/>
          <a:ln/>
        </p:spPr>
        <p:txBody>
          <a:bodyPr wrap="square" lIns="0" tIns="0" rIns="0" bIns="0" rtlCol="0" anchor="t"/>
          <a:lstStyle/>
          <a:p>
            <a:pPr indent="0" marL="0">
              <a:buNone/>
            </a:pPr>
            <a:r>
              <a:rPr lang="en-US" sz="1500" dirty="0">
                <a:solidFill>
                  <a:schemeClr val="tx1"/>
                </a:solidFill>
              </a:rPr>
              <a:t>lessons helped run 1 and hurt run 2</a:t>
            </a:r>
            <a:endParaRPr lang="en-US" sz="1500" dirty="0"/>
          </a:p>
        </p:txBody>
      </p:sp>
      <p:sp>
        <p:nvSpPr>
          <p:cNvPr id="8" name="Text 5"/>
          <p:cNvSpPr txBox="1"/>
          <p:nvPr/>
        </p:nvSpPr>
        <p:spPr>
          <a:xfrm>
            <a:off x="7589520" y="4297680"/>
            <a:ext cx="4023360" cy="548640"/>
          </a:xfrm>
          <a:prstGeom prst="rect">
            <a:avLst/>
          </a:prstGeom>
          <a:noFill/>
          <a:ln/>
        </p:spPr>
        <p:txBody>
          <a:bodyPr wrap="square" lIns="0" tIns="0" rIns="0" bIns="0" rtlCol="0" anchor="t"/>
          <a:lstStyle/>
          <a:p>
            <a:pPr indent="0" marL="0">
              <a:buNone/>
            </a:pPr>
            <a:r>
              <a:rPr lang="en-US" sz="2800" b="1" dirty="0">
                <a:solidFill>
                  <a:schemeClr val="accent1"/>
                </a:solidFill>
              </a:rPr>
              <a:t>0.67 &lt; 0.95</a:t>
            </a:r>
            <a:endParaRPr lang="en-US" sz="2800" dirty="0"/>
          </a:p>
        </p:txBody>
      </p:sp>
      <p:sp>
        <p:nvSpPr>
          <p:cNvPr id="9" name="Text 6"/>
          <p:cNvSpPr txBox="1"/>
          <p:nvPr/>
        </p:nvSpPr>
        <p:spPr>
          <a:xfrm>
            <a:off x="7589520" y="4864608"/>
            <a:ext cx="4023360" cy="731520"/>
          </a:xfrm>
          <a:prstGeom prst="rect">
            <a:avLst/>
          </a:prstGeom>
          <a:noFill/>
          <a:ln/>
        </p:spPr>
        <p:txBody>
          <a:bodyPr wrap="square" lIns="0" tIns="0" rIns="0" bIns="0" rtlCol="0" anchor="t"/>
          <a:lstStyle/>
          <a:p>
            <a:pPr indent="0" marL="0">
              <a:buNone/>
            </a:pPr>
            <a:r>
              <a:rPr lang="en-US" sz="1500" dirty="0">
                <a:solidFill>
                  <a:schemeClr val="tx1"/>
                </a:solidFill>
              </a:rPr>
              <a:t>run 2 adopted a playbook that scored below its own baseline (old rule)</a:t>
            </a:r>
            <a:endParaRPr lang="en-US" sz="1500" dirty="0"/>
          </a:p>
        </p:txBody>
      </p:sp>
      <p:sp>
        <p:nvSpPr>
          <p:cNvPr id="10" name="Text 7"/>
          <p:cNvSpPr txBox="1"/>
          <p:nvPr/>
        </p:nvSpPr>
        <p:spPr>
          <a:xfrm>
            <a:off x="548640" y="5943600"/>
            <a:ext cx="10972800" cy="320040"/>
          </a:xfrm>
          <a:prstGeom prst="rect">
            <a:avLst/>
          </a:prstGeom>
          <a:noFill/>
          <a:ln/>
        </p:spPr>
        <p:txBody>
          <a:bodyPr wrap="square" lIns="0" tIns="0" rIns="0" bIns="0" rtlCol="0" anchor="t"/>
          <a:lstStyle/>
          <a:p>
            <a:pPr indent="0" marL="0">
              <a:buNone/>
            </a:pPr>
            <a:r>
              <a:rPr lang="en-US" sz="1000" dirty="0">
                <a:solidFill>
                  <a:schemeClr val="accent4"/>
                </a:solidFill>
              </a:rPr>
              <a:t>Source: README live demo, 2026-10-20, gemini-flash-latest, 67 calls per run, run before the eval fixes</a:t>
            </a:r>
            <a:endParaRPr lang="en-US" sz="10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Practice scores flatter the agent</a:t>
            </a:r>
            <a:endParaRPr lang="en-US" sz="3400" dirty="0"/>
          </a:p>
        </p:txBody>
      </p:sp>
      <p:graphicFrame>
        <p:nvGraphicFramePr>
          <p:cNvPr id="3" name="Chart 0" descr=""/>
          <p:cNvGraphicFramePr/>
          <p:nvPr/>
        </p:nvGraphicFramePr>
        <p:xfrm>
          <a:off x="548640" y="137160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995160" y="1463040"/>
            <a:ext cx="4572000" cy="457200"/>
          </a:xfrm>
          <a:prstGeom prst="rect">
            <a:avLst/>
          </a:prstGeom>
          <a:noFill/>
          <a:ln/>
        </p:spPr>
        <p:txBody>
          <a:bodyPr wrap="square" lIns="0" tIns="0" rIns="0" bIns="0" rtlCol="0" anchor="t"/>
          <a:lstStyle/>
          <a:p>
            <a:pPr indent="0" marL="0">
              <a:buNone/>
            </a:pPr>
            <a:r>
              <a:rPr lang="en-US" sz="2000" b="1" dirty="0">
                <a:solidFill>
                  <a:schemeClr val="tx2"/>
                </a:solidFill>
              </a:rPr>
              <a:t>What this means</a:t>
            </a:r>
            <a:endParaRPr lang="en-US" sz="2000" dirty="0"/>
          </a:p>
        </p:txBody>
      </p:sp>
      <p:sp>
        <p:nvSpPr>
          <p:cNvPr id="5" name="Text 2"/>
          <p:cNvSpPr txBox="1"/>
          <p:nvPr/>
        </p:nvSpPr>
        <p:spPr>
          <a:xfrm>
            <a:off x="6995160" y="2011680"/>
            <a:ext cx="4617720" cy="29260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Without an answer key, the model grades its own work about 0.2–0.4 higher.</a:t>
            </a:r>
            <a:endParaRPr lang="en-US" sz="1600" dirty="0"/>
          </a:p>
          <a:p>
            <a:pPr marL="342900" indent="-342900">
              <a:spcAft>
                <a:spcPts val="800"/>
              </a:spcAft>
              <a:buSzPct val="100000"/>
              <a:buChar char="•"/>
            </a:pPr>
            <a:r>
              <a:rPr lang="en-US" sz="1600" dirty="0">
                <a:solidFill>
                  <a:schemeClr val="tx1"/>
                </a:solidFill>
              </a:rPr>
              <a:t>Lessons are credited with those inflated scores, so nearly every lesson looks useful.</a:t>
            </a:r>
            <a:endParaRPr lang="en-US" sz="1600" dirty="0"/>
          </a:p>
          <a:p>
            <a:pPr marL="342900" indent="-342900">
              <a:spcAft>
                <a:spcPts val="800"/>
              </a:spcAft>
              <a:buSzPct val="100000"/>
              <a:buChar char="•"/>
            </a:pPr>
            <a:r>
              <a:rPr lang="en-US" sz="1600" dirty="0">
                <a:solidFill>
                  <a:schemeClr val="tx1"/>
                </a:solidFill>
              </a:rPr>
              <a:t>With scores near 0.9, the 0.45 retirement rule almost never fires.</a:t>
            </a:r>
            <a:endParaRPr lang="en-US" sz="1600" dirty="0"/>
          </a:p>
        </p:txBody>
      </p:sp>
      <p:sp>
        <p:nvSpPr>
          <p:cNvPr id="6" name="Caveat card"/>
          <p:cNvSpPr/>
          <p:nvPr/>
        </p:nvSpPr>
        <p:spPr>
          <a:xfrm>
            <a:off x="6995160" y="4892040"/>
            <a:ext cx="4645152" cy="960120"/>
          </a:xfrm>
          <a:prstGeom prst="roundRect">
            <a:avLst>
              <a:gd name="adj" fmla="val 7619"/>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4"/>
          <p:cNvSpPr txBox="1"/>
          <p:nvPr/>
        </p:nvSpPr>
        <p:spPr>
          <a:xfrm>
            <a:off x="7178040" y="4892040"/>
            <a:ext cx="4297680" cy="960120"/>
          </a:xfrm>
          <a:prstGeom prst="rect">
            <a:avLst/>
          </a:prstGeom>
          <a:noFill/>
          <a:ln/>
        </p:spPr>
        <p:txBody>
          <a:bodyPr wrap="square" lIns="0" tIns="0" rIns="0" bIns="0" rtlCol="0" anchor="ctr"/>
          <a:lstStyle/>
          <a:p>
            <a:pPr indent="0" marL="0">
              <a:buNone/>
            </a:pPr>
            <a:r>
              <a:rPr lang="en-US" sz="1400" i="1" dirty="0">
                <a:solidFill>
                  <a:schemeClr val="accent4"/>
                </a:solidFill>
              </a:rPr>
              <a:t>Caveat: practice and eval used different questions, so the gap is a strong hint, not proof.</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Five reasons the learning signal is weak</a:t>
            </a:r>
            <a:endParaRPr lang="en-US" sz="3400" dirty="0"/>
          </a:p>
        </p:txBody>
      </p:sp>
      <p:sp>
        <p:nvSpPr>
          <p:cNvPr id="3" name="Reason 1 circle"/>
          <p:cNvSpPr/>
          <p:nvPr/>
        </p:nvSpPr>
        <p:spPr>
          <a:xfrm>
            <a:off x="548640" y="1463040"/>
            <a:ext cx="566928" cy="566928"/>
          </a:xfrm>
          <a:prstGeom prst="ellipse">
            <a:avLst/>
          </a:prstGeom>
          <a:solidFill>
            <a:schemeClr val="accent3"/>
          </a:solidFill>
          <a:ln w="12700">
            <a:solidFill>
              <a:schemeClr val="accent3"/>
            </a:solidFill>
            <a:prstDash val="solid"/>
          </a:ln>
        </p:spPr>
      </p:sp>
      <p:sp>
        <p:nvSpPr>
          <p:cNvPr id="4" name="Text 2"/>
          <p:cNvSpPr txBox="1"/>
          <p:nvPr/>
        </p:nvSpPr>
        <p:spPr>
          <a:xfrm>
            <a:off x="548640" y="1463040"/>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Text 3"/>
          <p:cNvSpPr txBox="1"/>
          <p:nvPr/>
        </p:nvSpPr>
        <p:spPr>
          <a:xfrm>
            <a:off x="1371600" y="1417320"/>
            <a:ext cx="2468880" cy="658368"/>
          </a:xfrm>
          <a:prstGeom prst="rect">
            <a:avLst/>
          </a:prstGeom>
          <a:noFill/>
          <a:ln/>
        </p:spPr>
        <p:txBody>
          <a:bodyPr wrap="square" lIns="0" tIns="0" rIns="0" bIns="0" rtlCol="0" anchor="ctr"/>
          <a:lstStyle/>
          <a:p>
            <a:pPr indent="0" marL="0">
              <a:buNone/>
            </a:pPr>
            <a:r>
              <a:rPr lang="en-US" sz="1800" b="1" dirty="0">
                <a:solidFill>
                  <a:schemeClr val="tx1"/>
                </a:solidFill>
              </a:rPr>
              <a:t>Self-grading</a:t>
            </a:r>
            <a:endParaRPr lang="en-US" sz="1800" dirty="0"/>
          </a:p>
        </p:txBody>
      </p:sp>
      <p:sp>
        <p:nvSpPr>
          <p:cNvPr id="6" name="Text 4"/>
          <p:cNvSpPr txBox="1"/>
          <p:nvPr/>
        </p:nvSpPr>
        <p:spPr>
          <a:xfrm>
            <a:off x="3840480" y="1417320"/>
            <a:ext cx="7772400" cy="658368"/>
          </a:xfrm>
          <a:prstGeom prst="rect">
            <a:avLst/>
          </a:prstGeom>
          <a:noFill/>
          <a:ln/>
        </p:spPr>
        <p:txBody>
          <a:bodyPr wrap="square" lIns="0" tIns="0" rIns="0" bIns="0" rtlCol="0" anchor="ctr"/>
          <a:lstStyle/>
          <a:p>
            <a:pPr indent="0" marL="0">
              <a:buNone/>
            </a:pPr>
            <a:r>
              <a:rPr lang="en-US" sz="1500" dirty="0">
                <a:solidFill>
                  <a:schemeClr val="accent4"/>
                </a:solidFill>
              </a:rPr>
              <a:t>The answerer and the critic are the same model, and in practice the critic has no answer key.</a:t>
            </a:r>
            <a:endParaRPr lang="en-US" sz="1500" dirty="0"/>
          </a:p>
        </p:txBody>
      </p:sp>
      <p:sp>
        <p:nvSpPr>
          <p:cNvPr id="7" name="Reason 2 circle"/>
          <p:cNvSpPr/>
          <p:nvPr/>
        </p:nvSpPr>
        <p:spPr>
          <a:xfrm>
            <a:off x="548640" y="2404872"/>
            <a:ext cx="566928" cy="566928"/>
          </a:xfrm>
          <a:prstGeom prst="ellipse">
            <a:avLst/>
          </a:prstGeom>
          <a:solidFill>
            <a:schemeClr val="accent3"/>
          </a:solidFill>
          <a:ln w="12700">
            <a:solidFill>
              <a:schemeClr val="accent3"/>
            </a:solidFill>
            <a:prstDash val="solid"/>
          </a:ln>
        </p:spPr>
      </p:sp>
      <p:sp>
        <p:nvSpPr>
          <p:cNvPr id="8" name="Text 6"/>
          <p:cNvSpPr txBox="1"/>
          <p:nvPr/>
        </p:nvSpPr>
        <p:spPr>
          <a:xfrm>
            <a:off x="548640" y="2404872"/>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9" name="Text 7"/>
          <p:cNvSpPr txBox="1"/>
          <p:nvPr/>
        </p:nvSpPr>
        <p:spPr>
          <a:xfrm>
            <a:off x="1371600" y="2359152"/>
            <a:ext cx="2468880" cy="658368"/>
          </a:xfrm>
          <a:prstGeom prst="rect">
            <a:avLst/>
          </a:prstGeom>
          <a:noFill/>
          <a:ln/>
        </p:spPr>
        <p:txBody>
          <a:bodyPr wrap="square" lIns="0" tIns="0" rIns="0" bIns="0" rtlCol="0" anchor="ctr"/>
          <a:lstStyle/>
          <a:p>
            <a:pPr indent="0" marL="0">
              <a:buNone/>
            </a:pPr>
            <a:r>
              <a:rPr lang="en-US" sz="1800" b="1" dirty="0">
                <a:solidFill>
                  <a:schemeClr val="tx1"/>
                </a:solidFill>
              </a:rPr>
              <a:t>Credit is correlation</a:t>
            </a:r>
            <a:endParaRPr lang="en-US" sz="1800" dirty="0"/>
          </a:p>
        </p:txBody>
      </p:sp>
      <p:sp>
        <p:nvSpPr>
          <p:cNvPr id="10" name="Text 8"/>
          <p:cNvSpPr txBox="1"/>
          <p:nvPr/>
        </p:nvSpPr>
        <p:spPr>
          <a:xfrm>
            <a:off x="3840480" y="2359152"/>
            <a:ext cx="7772400" cy="658368"/>
          </a:xfrm>
          <a:prstGeom prst="rect">
            <a:avLst/>
          </a:prstGeom>
          <a:noFill/>
          <a:ln/>
        </p:spPr>
        <p:txBody>
          <a:bodyPr wrap="square" lIns="0" tIns="0" rIns="0" bIns="0" rtlCol="0" anchor="ctr"/>
          <a:lstStyle/>
          <a:p>
            <a:pPr indent="0" marL="0">
              <a:buNone/>
            </a:pPr>
            <a:r>
              <a:rPr lang="en-US" sz="1500" dirty="0">
                <a:solidFill>
                  <a:schemeClr val="accent4"/>
                </a:solidFill>
              </a:rPr>
              <a:t>Every lesson in the prompt gets the episode's score, whether it mattered or not. Utility tracks task difficulty, not lesson value.</a:t>
            </a:r>
            <a:endParaRPr lang="en-US" sz="1500" dirty="0"/>
          </a:p>
        </p:txBody>
      </p:sp>
      <p:sp>
        <p:nvSpPr>
          <p:cNvPr id="11" name="Reason 3 circle"/>
          <p:cNvSpPr/>
          <p:nvPr/>
        </p:nvSpPr>
        <p:spPr>
          <a:xfrm>
            <a:off x="548640" y="3346704"/>
            <a:ext cx="566928" cy="566928"/>
          </a:xfrm>
          <a:prstGeom prst="ellipse">
            <a:avLst/>
          </a:prstGeom>
          <a:solidFill>
            <a:schemeClr val="accent3"/>
          </a:solidFill>
          <a:ln w="12700">
            <a:solidFill>
              <a:schemeClr val="accent3"/>
            </a:solidFill>
            <a:prstDash val="solid"/>
          </a:ln>
        </p:spPr>
      </p:sp>
      <p:sp>
        <p:nvSpPr>
          <p:cNvPr id="12" name="Text 10"/>
          <p:cNvSpPr txBox="1"/>
          <p:nvPr/>
        </p:nvSpPr>
        <p:spPr>
          <a:xfrm>
            <a:off x="548640" y="3346704"/>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3" name="Text 11"/>
          <p:cNvSpPr txBox="1"/>
          <p:nvPr/>
        </p:nvSpPr>
        <p:spPr>
          <a:xfrm>
            <a:off x="1371600" y="3300984"/>
            <a:ext cx="2468880" cy="658368"/>
          </a:xfrm>
          <a:prstGeom prst="rect">
            <a:avLst/>
          </a:prstGeom>
          <a:noFill/>
          <a:ln/>
        </p:spPr>
        <p:txBody>
          <a:bodyPr wrap="square" lIns="0" tIns="0" rIns="0" bIns="0" rtlCol="0" anchor="ctr"/>
          <a:lstStyle/>
          <a:p>
            <a:pPr indent="0" marL="0">
              <a:buNone/>
            </a:pPr>
            <a:r>
              <a:rPr lang="en-US" sz="1800" b="1" dirty="0">
                <a:solidFill>
                  <a:schemeClr val="tx1"/>
                </a:solidFill>
              </a:rPr>
              <a:t>No holdout set</a:t>
            </a:r>
            <a:endParaRPr lang="en-US" sz="1800" dirty="0"/>
          </a:p>
        </p:txBody>
      </p:sp>
      <p:sp>
        <p:nvSpPr>
          <p:cNvPr id="14" name="Text 12"/>
          <p:cNvSpPr txBox="1"/>
          <p:nvPr/>
        </p:nvSpPr>
        <p:spPr>
          <a:xfrm>
            <a:off x="3840480" y="3300984"/>
            <a:ext cx="7772400" cy="658368"/>
          </a:xfrm>
          <a:prstGeom prst="rect">
            <a:avLst/>
          </a:prstGeom>
          <a:noFill/>
          <a:ln/>
        </p:spPr>
        <p:txBody>
          <a:bodyPr wrap="square" lIns="0" tIns="0" rIns="0" bIns="0" rtlCol="0" anchor="ctr"/>
          <a:lstStyle/>
          <a:p>
            <a:pPr indent="0" marL="0">
              <a:buNone/>
            </a:pPr>
            <a:r>
              <a:rPr lang="en-US" sz="1500" dirty="0">
                <a:solidFill>
                  <a:schemeClr val="accent4"/>
                </a:solidFill>
              </a:rPr>
              <a:t>improve() reads failures from, and is scored on, the same examples every time. Playbooks can overfit them.</a:t>
            </a:r>
            <a:endParaRPr lang="en-US" sz="1500" dirty="0"/>
          </a:p>
        </p:txBody>
      </p:sp>
      <p:sp>
        <p:nvSpPr>
          <p:cNvPr id="15" name="Reason 4 circle"/>
          <p:cNvSpPr/>
          <p:nvPr/>
        </p:nvSpPr>
        <p:spPr>
          <a:xfrm>
            <a:off x="548640" y="4288536"/>
            <a:ext cx="566928" cy="566928"/>
          </a:xfrm>
          <a:prstGeom prst="ellipse">
            <a:avLst/>
          </a:prstGeom>
          <a:solidFill>
            <a:schemeClr val="accent3"/>
          </a:solidFill>
          <a:ln w="12700">
            <a:solidFill>
              <a:schemeClr val="accent3"/>
            </a:solidFill>
            <a:prstDash val="solid"/>
          </a:ln>
        </p:spPr>
      </p:sp>
      <p:sp>
        <p:nvSpPr>
          <p:cNvPr id="16" name="Text 14"/>
          <p:cNvSpPr txBox="1"/>
          <p:nvPr/>
        </p:nvSpPr>
        <p:spPr>
          <a:xfrm>
            <a:off x="548640" y="428853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7" name="Text 15"/>
          <p:cNvSpPr txBox="1"/>
          <p:nvPr/>
        </p:nvSpPr>
        <p:spPr>
          <a:xfrm>
            <a:off x="1371600" y="4242816"/>
            <a:ext cx="2468880" cy="658368"/>
          </a:xfrm>
          <a:prstGeom prst="rect">
            <a:avLst/>
          </a:prstGeom>
          <a:noFill/>
          <a:ln/>
        </p:spPr>
        <p:txBody>
          <a:bodyPr wrap="square" lIns="0" tIns="0" rIns="0" bIns="0" rtlCol="0" anchor="ctr"/>
          <a:lstStyle/>
          <a:p>
            <a:pPr indent="0" marL="0">
              <a:buNone/>
            </a:pPr>
            <a:r>
              <a:rPr lang="en-US" sz="1800" b="1" dirty="0">
                <a:solidFill>
                  <a:schemeClr val="tx1"/>
                </a:solidFill>
              </a:rPr>
              <a:t>Unverified study data</a:t>
            </a:r>
            <a:endParaRPr lang="en-US" sz="1800" dirty="0"/>
          </a:p>
        </p:txBody>
      </p:sp>
      <p:sp>
        <p:nvSpPr>
          <p:cNvPr id="18" name="Text 16"/>
          <p:cNvSpPr txBox="1"/>
          <p:nvPr/>
        </p:nvSpPr>
        <p:spPr>
          <a:xfrm>
            <a:off x="3840480" y="4242816"/>
            <a:ext cx="7772400" cy="658368"/>
          </a:xfrm>
          <a:prstGeom prst="rect">
            <a:avLst/>
          </a:prstGeom>
          <a:noFill/>
          <a:ln/>
        </p:spPr>
        <p:txBody>
          <a:bodyPr wrap="square" lIns="0" tIns="0" rIns="0" bIns="0" rtlCol="0" anchor="ctr"/>
          <a:lstStyle/>
          <a:p>
            <a:pPr indent="0" marL="0">
              <a:buNone/>
            </a:pPr>
            <a:r>
              <a:rPr lang="en-US" sz="1500" dirty="0">
                <a:solidFill>
                  <a:schemeClr val="accent4"/>
                </a:solidFill>
              </a:rPr>
              <a:t>Self-study's question, answer key, answer and grade all come from one model. A misread document becomes a 'correct' example.</a:t>
            </a:r>
            <a:endParaRPr lang="en-US" sz="1500" dirty="0"/>
          </a:p>
        </p:txBody>
      </p:sp>
      <p:sp>
        <p:nvSpPr>
          <p:cNvPr id="19" name="Reason 5 circle"/>
          <p:cNvSpPr/>
          <p:nvPr/>
        </p:nvSpPr>
        <p:spPr>
          <a:xfrm>
            <a:off x="548640" y="5230368"/>
            <a:ext cx="566928" cy="566928"/>
          </a:xfrm>
          <a:prstGeom prst="ellipse">
            <a:avLst/>
          </a:prstGeom>
          <a:solidFill>
            <a:schemeClr val="accent3"/>
          </a:solidFill>
          <a:ln w="12700">
            <a:solidFill>
              <a:schemeClr val="accent3"/>
            </a:solidFill>
            <a:prstDash val="solid"/>
          </a:ln>
        </p:spPr>
      </p:sp>
      <p:sp>
        <p:nvSpPr>
          <p:cNvPr id="20" name="Text 18"/>
          <p:cNvSpPr txBox="1"/>
          <p:nvPr/>
        </p:nvSpPr>
        <p:spPr>
          <a:xfrm>
            <a:off x="548640" y="5230368"/>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1" name="Text 19"/>
          <p:cNvSpPr txBox="1"/>
          <p:nvPr/>
        </p:nvSpPr>
        <p:spPr>
          <a:xfrm>
            <a:off x="1371600" y="5184648"/>
            <a:ext cx="2468880" cy="658368"/>
          </a:xfrm>
          <a:prstGeom prst="rect">
            <a:avLst/>
          </a:prstGeom>
          <a:noFill/>
          <a:ln/>
        </p:spPr>
        <p:txBody>
          <a:bodyPr wrap="square" lIns="0" tIns="0" rIns="0" bIns="0" rtlCol="0" anchor="ctr"/>
          <a:lstStyle/>
          <a:p>
            <a:pPr indent="0" marL="0">
              <a:buNone/>
            </a:pPr>
            <a:r>
              <a:rPr lang="en-US" sz="1800" b="1" dirty="0">
                <a:solidFill>
                  <a:schemeClr val="tx1"/>
                </a:solidFill>
              </a:rPr>
              <a:t>Repeated coin flips</a:t>
            </a:r>
            <a:endParaRPr lang="en-US" sz="1800" dirty="0"/>
          </a:p>
        </p:txBody>
      </p:sp>
      <p:sp>
        <p:nvSpPr>
          <p:cNvPr id="22" name="Text 20"/>
          <p:cNvSpPr txBox="1"/>
          <p:nvPr/>
        </p:nvSpPr>
        <p:spPr>
          <a:xfrm>
            <a:off x="3840480" y="5184648"/>
            <a:ext cx="7772400" cy="658368"/>
          </a:xfrm>
          <a:prstGeom prst="rect">
            <a:avLst/>
          </a:prstGeom>
          <a:noFill/>
          <a:ln/>
        </p:spPr>
        <p:txBody>
          <a:bodyPr wrap="square" lIns="0" tIns="0" rIns="0" bIns="0" rtlCol="0" anchor="ctr"/>
          <a:lstStyle/>
          <a:p>
            <a:pPr indent="0" marL="0">
              <a:buNone/>
            </a:pPr>
            <a:r>
              <a:rPr lang="en-US" sz="1500" dirty="0">
                <a:solidFill>
                  <a:schemeClr val="accent4"/>
                </a:solidFill>
              </a:rPr>
              <a:t>A one-standard-error bar lets a no-better playbook through about 1 time in 6. Call improve() often enough and noise wins.</a:t>
            </a:r>
            <a:endParaRPr lang="en-US" sz="15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What's already solid</a:t>
            </a:r>
            <a:endParaRPr lang="en-US" sz="3400" dirty="0"/>
          </a:p>
        </p:txBody>
      </p:sp>
      <p:sp>
        <p:nvSpPr>
          <p:cNvPr id="3" name="Strength 1"/>
          <p:cNvSpPr/>
          <p:nvPr/>
        </p:nvSpPr>
        <p:spPr>
          <a:xfrm>
            <a:off x="548640" y="1463040"/>
            <a:ext cx="347472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Strength 1 circle"/>
          <p:cNvSpPr/>
          <p:nvPr/>
        </p:nvSpPr>
        <p:spPr>
          <a:xfrm>
            <a:off x="822960" y="1737360"/>
            <a:ext cx="640080" cy="640080"/>
          </a:xfrm>
          <a:prstGeom prst="ellipse">
            <a:avLst/>
          </a:prstGeom>
          <a:solidFill>
            <a:schemeClr val="accent2"/>
          </a:solidFill>
          <a:ln w="12700">
            <a:solidFill>
              <a:schemeClr val="accent2"/>
            </a:solidFill>
            <a:prstDash val="solid"/>
          </a:ln>
        </p:spPr>
      </p:sp>
      <p:pic>
        <p:nvPicPr>
          <p:cNvPr id="5" name="Strength 1 icon" descr="preencoded.png">    </p:cNvPr>
          <p:cNvPicPr>
            <a:picLocks noChangeAspect="1"/>
          </p:cNvPicPr>
          <p:nvPr/>
        </p:nvPicPr>
        <p:blipFill>
          <a:blip r:embed="rId1"/>
          <a:stretch>
            <a:fillRect/>
          </a:stretch>
        </p:blipFill>
        <p:spPr>
          <a:xfrm>
            <a:off x="995782" y="1910182"/>
            <a:ext cx="294437" cy="294437"/>
          </a:xfrm>
          <a:prstGeom prst="rect">
            <a:avLst/>
          </a:prstGeom>
        </p:spPr>
      </p:pic>
      <p:sp>
        <p:nvSpPr>
          <p:cNvPr id="6" name="Text 3"/>
          <p:cNvSpPr txBox="1"/>
          <p:nvPr/>
        </p:nvSpPr>
        <p:spPr>
          <a:xfrm>
            <a:off x="1645920" y="1737360"/>
            <a:ext cx="2240280" cy="640080"/>
          </a:xfrm>
          <a:prstGeom prst="rect">
            <a:avLst/>
          </a:prstGeom>
          <a:noFill/>
          <a:ln/>
        </p:spPr>
        <p:txBody>
          <a:bodyPr wrap="square" lIns="0" tIns="0" rIns="0" bIns="0" rtlCol="0" anchor="ctr"/>
          <a:lstStyle/>
          <a:p>
            <a:pPr indent="0" marL="0">
              <a:buNone/>
            </a:pPr>
            <a:r>
              <a:rPr lang="en-US" sz="1800" b="1" dirty="0">
                <a:solidFill>
                  <a:schemeClr val="tx1"/>
                </a:solidFill>
              </a:rPr>
              <a:t>Keys handled right</a:t>
            </a:r>
            <a:endParaRPr lang="en-US" sz="1800" dirty="0"/>
          </a:p>
        </p:txBody>
      </p:sp>
      <p:sp>
        <p:nvSpPr>
          <p:cNvPr id="7" name="Text 4"/>
          <p:cNvSpPr txBox="1"/>
          <p:nvPr/>
        </p:nvSpPr>
        <p:spPr>
          <a:xfrm>
            <a:off x="822960" y="2514600"/>
            <a:ext cx="2971800" cy="914400"/>
          </a:xfrm>
          <a:prstGeom prst="rect">
            <a:avLst/>
          </a:prstGeom>
          <a:noFill/>
          <a:ln/>
        </p:spPr>
        <p:txBody>
          <a:bodyPr wrap="square" lIns="0" tIns="0" rIns="0" bIns="0" rtlCol="0" anchor="t"/>
          <a:lstStyle/>
          <a:p>
            <a:pPr indent="0" marL="0">
              <a:buNone/>
            </a:pPr>
            <a:r>
              <a:rPr lang="en-US" sz="1400" dirty="0">
                <a:solidFill>
                  <a:schemeClr val="accent4"/>
                </a:solidFill>
              </a:rPr>
              <a:t>LLM keys never stored or logged; SIA keys stored only as SHA-256 hashes</a:t>
            </a:r>
            <a:endParaRPr lang="en-US" sz="1400" dirty="0"/>
          </a:p>
        </p:txBody>
      </p:sp>
      <p:sp>
        <p:nvSpPr>
          <p:cNvPr id="8" name="Strength 2"/>
          <p:cNvSpPr/>
          <p:nvPr/>
        </p:nvSpPr>
        <p:spPr>
          <a:xfrm>
            <a:off x="4315968" y="1463040"/>
            <a:ext cx="347472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Strength 2 circle"/>
          <p:cNvSpPr/>
          <p:nvPr/>
        </p:nvSpPr>
        <p:spPr>
          <a:xfrm>
            <a:off x="4590288" y="1737360"/>
            <a:ext cx="640080" cy="640080"/>
          </a:xfrm>
          <a:prstGeom prst="ellipse">
            <a:avLst/>
          </a:prstGeom>
          <a:solidFill>
            <a:schemeClr val="accent2"/>
          </a:solidFill>
          <a:ln w="12700">
            <a:solidFill>
              <a:schemeClr val="accent2"/>
            </a:solidFill>
            <a:prstDash val="solid"/>
          </a:ln>
        </p:spPr>
      </p:sp>
      <p:pic>
        <p:nvPicPr>
          <p:cNvPr id="10" name="Strength 2 icon" descr="preencoded.png">    </p:cNvPr>
          <p:cNvPicPr>
            <a:picLocks noChangeAspect="1"/>
          </p:cNvPicPr>
          <p:nvPr/>
        </p:nvPicPr>
        <p:blipFill>
          <a:blip r:embed="rId2"/>
          <a:stretch>
            <a:fillRect/>
          </a:stretch>
        </p:blipFill>
        <p:spPr>
          <a:xfrm>
            <a:off x="4763110" y="1910182"/>
            <a:ext cx="294437" cy="294437"/>
          </a:xfrm>
          <a:prstGeom prst="rect">
            <a:avLst/>
          </a:prstGeom>
        </p:spPr>
      </p:pic>
      <p:sp>
        <p:nvSpPr>
          <p:cNvPr id="11" name="Text 7"/>
          <p:cNvSpPr txBox="1"/>
          <p:nvPr/>
        </p:nvSpPr>
        <p:spPr>
          <a:xfrm>
            <a:off x="5413248" y="1737360"/>
            <a:ext cx="2240280" cy="640080"/>
          </a:xfrm>
          <a:prstGeom prst="rect">
            <a:avLst/>
          </a:prstGeom>
          <a:noFill/>
          <a:ln/>
        </p:spPr>
        <p:txBody>
          <a:bodyPr wrap="square" lIns="0" tIns="0" rIns="0" bIns="0" rtlCol="0" anchor="ctr"/>
          <a:lstStyle/>
          <a:p>
            <a:pPr indent="0" marL="0">
              <a:buNone/>
            </a:pPr>
            <a:r>
              <a:rPr lang="en-US" sz="1800" b="1" dirty="0">
                <a:solidFill>
                  <a:schemeClr val="tx1"/>
                </a:solidFill>
              </a:rPr>
              <a:t>Tenant isolation</a:t>
            </a:r>
            <a:endParaRPr lang="en-US" sz="1800" dirty="0"/>
          </a:p>
        </p:txBody>
      </p:sp>
      <p:sp>
        <p:nvSpPr>
          <p:cNvPr id="12" name="Text 8"/>
          <p:cNvSpPr txBox="1"/>
          <p:nvPr/>
        </p:nvSpPr>
        <p:spPr>
          <a:xfrm>
            <a:off x="4590288" y="2514600"/>
            <a:ext cx="2971800" cy="914400"/>
          </a:xfrm>
          <a:prstGeom prst="rect">
            <a:avLst/>
          </a:prstGeom>
          <a:noFill/>
          <a:ln/>
        </p:spPr>
        <p:txBody>
          <a:bodyPr wrap="square" lIns="0" tIns="0" rIns="0" bIns="0" rtlCol="0" anchor="t"/>
          <a:lstStyle/>
          <a:p>
            <a:pPr indent="0" marL="0">
              <a:buNone/>
            </a:pPr>
            <a:r>
              <a:rPr lang="en-US" sz="1400" dirty="0">
                <a:solidFill>
                  <a:schemeClr val="accent4"/>
                </a:solidFill>
              </a:rPr>
              <a:t>every route checks ownership; another tenant's agent returns 404</a:t>
            </a:r>
            <a:endParaRPr lang="en-US" sz="1400" dirty="0"/>
          </a:p>
        </p:txBody>
      </p:sp>
      <p:sp>
        <p:nvSpPr>
          <p:cNvPr id="13" name="Strength 3"/>
          <p:cNvSpPr/>
          <p:nvPr/>
        </p:nvSpPr>
        <p:spPr>
          <a:xfrm>
            <a:off x="8083296" y="1463040"/>
            <a:ext cx="347472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4" name="Strength 3 circle"/>
          <p:cNvSpPr/>
          <p:nvPr/>
        </p:nvSpPr>
        <p:spPr>
          <a:xfrm>
            <a:off x="8357616" y="1737360"/>
            <a:ext cx="640080" cy="640080"/>
          </a:xfrm>
          <a:prstGeom prst="ellipse">
            <a:avLst/>
          </a:prstGeom>
          <a:solidFill>
            <a:schemeClr val="accent2"/>
          </a:solidFill>
          <a:ln w="12700">
            <a:solidFill>
              <a:schemeClr val="accent2"/>
            </a:solidFill>
            <a:prstDash val="solid"/>
          </a:ln>
        </p:spPr>
      </p:sp>
      <p:pic>
        <p:nvPicPr>
          <p:cNvPr id="15" name="Strength 3 icon" descr="preencoded.png">    </p:cNvPr>
          <p:cNvPicPr>
            <a:picLocks noChangeAspect="1"/>
          </p:cNvPicPr>
          <p:nvPr/>
        </p:nvPicPr>
        <p:blipFill>
          <a:blip r:embed="rId3"/>
          <a:stretch>
            <a:fillRect/>
          </a:stretch>
        </p:blipFill>
        <p:spPr>
          <a:xfrm>
            <a:off x="8530438" y="1910182"/>
            <a:ext cx="294437" cy="294437"/>
          </a:xfrm>
          <a:prstGeom prst="rect">
            <a:avLst/>
          </a:prstGeom>
        </p:spPr>
      </p:pic>
      <p:sp>
        <p:nvSpPr>
          <p:cNvPr id="16" name="Text 11"/>
          <p:cNvSpPr txBox="1"/>
          <p:nvPr/>
        </p:nvSpPr>
        <p:spPr>
          <a:xfrm>
            <a:off x="9180576" y="1737360"/>
            <a:ext cx="2240280" cy="640080"/>
          </a:xfrm>
          <a:prstGeom prst="rect">
            <a:avLst/>
          </a:prstGeom>
          <a:noFill/>
          <a:ln/>
        </p:spPr>
        <p:txBody>
          <a:bodyPr wrap="square" lIns="0" tIns="0" rIns="0" bIns="0" rtlCol="0" anchor="ctr"/>
          <a:lstStyle/>
          <a:p>
            <a:pPr indent="0" marL="0">
              <a:buNone/>
            </a:pPr>
            <a:r>
              <a:rPr lang="en-US" sz="1800" b="1" dirty="0">
                <a:solidFill>
                  <a:schemeClr val="tx1"/>
                </a:solidFill>
              </a:rPr>
              <a:t>SSRF guard</a:t>
            </a:r>
            <a:endParaRPr lang="en-US" sz="1800" dirty="0"/>
          </a:p>
        </p:txBody>
      </p:sp>
      <p:sp>
        <p:nvSpPr>
          <p:cNvPr id="17" name="Text 12"/>
          <p:cNvSpPr txBox="1"/>
          <p:nvPr/>
        </p:nvSpPr>
        <p:spPr>
          <a:xfrm>
            <a:off x="8357616" y="2514600"/>
            <a:ext cx="2971800" cy="914400"/>
          </a:xfrm>
          <a:prstGeom prst="rect">
            <a:avLst/>
          </a:prstGeom>
          <a:noFill/>
          <a:ln/>
        </p:spPr>
        <p:txBody>
          <a:bodyPr wrap="square" lIns="0" tIns="0" rIns="0" bIns="0" rtlCol="0" anchor="t"/>
          <a:lstStyle/>
          <a:p>
            <a:pPr indent="0" marL="0">
              <a:buNone/>
            </a:pPr>
            <a:r>
              <a:rPr lang="en-US" sz="1400" dirty="0">
                <a:solidFill>
                  <a:schemeClr val="accent4"/>
                </a:solidFill>
              </a:rPr>
              <a:t>custom base URLs and Ollama are off unless the server opts in</a:t>
            </a:r>
            <a:endParaRPr lang="en-US" sz="1400" dirty="0"/>
          </a:p>
        </p:txBody>
      </p:sp>
      <p:sp>
        <p:nvSpPr>
          <p:cNvPr id="18" name="Strength 4"/>
          <p:cNvSpPr/>
          <p:nvPr/>
        </p:nvSpPr>
        <p:spPr>
          <a:xfrm>
            <a:off x="548640" y="3749040"/>
            <a:ext cx="347472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9" name="Strength 4 circle"/>
          <p:cNvSpPr/>
          <p:nvPr/>
        </p:nvSpPr>
        <p:spPr>
          <a:xfrm>
            <a:off x="822960" y="4023360"/>
            <a:ext cx="640080" cy="640080"/>
          </a:xfrm>
          <a:prstGeom prst="ellipse">
            <a:avLst/>
          </a:prstGeom>
          <a:solidFill>
            <a:schemeClr val="accent2"/>
          </a:solidFill>
          <a:ln w="12700">
            <a:solidFill>
              <a:schemeClr val="accent2"/>
            </a:solidFill>
            <a:prstDash val="solid"/>
          </a:ln>
        </p:spPr>
      </p:sp>
      <p:pic>
        <p:nvPicPr>
          <p:cNvPr id="20" name="Strength 4 icon" descr="preencoded.png">    </p:cNvPr>
          <p:cNvPicPr>
            <a:picLocks noChangeAspect="1"/>
          </p:cNvPicPr>
          <p:nvPr/>
        </p:nvPicPr>
        <p:blipFill>
          <a:blip r:embed="rId4"/>
          <a:stretch>
            <a:fillRect/>
          </a:stretch>
        </p:blipFill>
        <p:spPr>
          <a:xfrm>
            <a:off x="995782" y="4196182"/>
            <a:ext cx="294437" cy="294437"/>
          </a:xfrm>
          <a:prstGeom prst="rect">
            <a:avLst/>
          </a:prstGeom>
        </p:spPr>
      </p:pic>
      <p:sp>
        <p:nvSpPr>
          <p:cNvPr id="21" name="Text 15"/>
          <p:cNvSpPr txBox="1"/>
          <p:nvPr/>
        </p:nvSpPr>
        <p:spPr>
          <a:xfrm>
            <a:off x="1645920" y="4023360"/>
            <a:ext cx="2240280" cy="640080"/>
          </a:xfrm>
          <a:prstGeom prst="rect">
            <a:avLst/>
          </a:prstGeom>
          <a:noFill/>
          <a:ln/>
        </p:spPr>
        <p:txBody>
          <a:bodyPr wrap="square" lIns="0" tIns="0" rIns="0" bIns="0" rtlCol="0" anchor="ctr"/>
          <a:lstStyle/>
          <a:p>
            <a:pPr indent="0" marL="0">
              <a:buNone/>
            </a:pPr>
            <a:r>
              <a:rPr lang="en-US" sz="1800" b="1" dirty="0">
                <a:solidFill>
                  <a:schemeClr val="tx1"/>
                </a:solidFill>
              </a:rPr>
              <a:t>Versioned playbooks</a:t>
            </a:r>
            <a:endParaRPr lang="en-US" sz="1800" dirty="0"/>
          </a:p>
        </p:txBody>
      </p:sp>
      <p:sp>
        <p:nvSpPr>
          <p:cNvPr id="22" name="Text 16"/>
          <p:cNvSpPr txBox="1"/>
          <p:nvPr/>
        </p:nvSpPr>
        <p:spPr>
          <a:xfrm>
            <a:off x="822960" y="4800600"/>
            <a:ext cx="2971800" cy="914400"/>
          </a:xfrm>
          <a:prstGeom prst="rect">
            <a:avLst/>
          </a:prstGeom>
          <a:noFill/>
          <a:ln/>
        </p:spPr>
        <p:txBody>
          <a:bodyPr wrap="square" lIns="0" tIns="0" rIns="0" bIns="0" rtlCol="0" anchor="t"/>
          <a:lstStyle/>
          <a:p>
            <a:pPr indent="0" marL="0">
              <a:buNone/>
            </a:pPr>
            <a:r>
              <a:rPr lang="en-US" sz="1400" dirty="0">
                <a:solidFill>
                  <a:schemeClr val="accent4"/>
                </a:solidFill>
              </a:rPr>
              <a:t>every version kept; roll back with one call</a:t>
            </a:r>
            <a:endParaRPr lang="en-US" sz="1400" dirty="0"/>
          </a:p>
        </p:txBody>
      </p:sp>
      <p:sp>
        <p:nvSpPr>
          <p:cNvPr id="23" name="Strength 5"/>
          <p:cNvSpPr/>
          <p:nvPr/>
        </p:nvSpPr>
        <p:spPr>
          <a:xfrm>
            <a:off x="4315968" y="3749040"/>
            <a:ext cx="347472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Strength 5 circle"/>
          <p:cNvSpPr/>
          <p:nvPr/>
        </p:nvSpPr>
        <p:spPr>
          <a:xfrm>
            <a:off x="4590288" y="4023360"/>
            <a:ext cx="640080" cy="640080"/>
          </a:xfrm>
          <a:prstGeom prst="ellipse">
            <a:avLst/>
          </a:prstGeom>
          <a:solidFill>
            <a:schemeClr val="accent2"/>
          </a:solidFill>
          <a:ln w="12700">
            <a:solidFill>
              <a:schemeClr val="accent2"/>
            </a:solidFill>
            <a:prstDash val="solid"/>
          </a:ln>
        </p:spPr>
      </p:sp>
      <p:pic>
        <p:nvPicPr>
          <p:cNvPr id="25" name="Strength 5 icon" descr="preencoded.png">    </p:cNvPr>
          <p:cNvPicPr>
            <a:picLocks noChangeAspect="1"/>
          </p:cNvPicPr>
          <p:nvPr/>
        </p:nvPicPr>
        <p:blipFill>
          <a:blip r:embed="rId5"/>
          <a:stretch>
            <a:fillRect/>
          </a:stretch>
        </p:blipFill>
        <p:spPr>
          <a:xfrm>
            <a:off x="4763110" y="4196182"/>
            <a:ext cx="294437" cy="294437"/>
          </a:xfrm>
          <a:prstGeom prst="rect">
            <a:avLst/>
          </a:prstGeom>
        </p:spPr>
      </p:pic>
      <p:sp>
        <p:nvSpPr>
          <p:cNvPr id="26" name="Text 19"/>
          <p:cNvSpPr txBox="1"/>
          <p:nvPr/>
        </p:nvSpPr>
        <p:spPr>
          <a:xfrm>
            <a:off x="5413248" y="4023360"/>
            <a:ext cx="2240280" cy="640080"/>
          </a:xfrm>
          <a:prstGeom prst="rect">
            <a:avLst/>
          </a:prstGeom>
          <a:noFill/>
          <a:ln/>
        </p:spPr>
        <p:txBody>
          <a:bodyPr wrap="square" lIns="0" tIns="0" rIns="0" bIns="0" rtlCol="0" anchor="ctr"/>
          <a:lstStyle/>
          <a:p>
            <a:pPr indent="0" marL="0">
              <a:buNone/>
            </a:pPr>
            <a:r>
              <a:rPr lang="en-US" sz="1800" b="1" dirty="0">
                <a:solidFill>
                  <a:schemeClr val="tx1"/>
                </a:solidFill>
              </a:rPr>
              <a:t>Survives free tiers</a:t>
            </a:r>
            <a:endParaRPr lang="en-US" sz="1800" dirty="0"/>
          </a:p>
        </p:txBody>
      </p:sp>
      <p:sp>
        <p:nvSpPr>
          <p:cNvPr id="27" name="Text 20"/>
          <p:cNvSpPr txBox="1"/>
          <p:nvPr/>
        </p:nvSpPr>
        <p:spPr>
          <a:xfrm>
            <a:off x="4590288" y="4800600"/>
            <a:ext cx="2971800" cy="914400"/>
          </a:xfrm>
          <a:prstGeom prst="rect">
            <a:avLst/>
          </a:prstGeom>
          <a:noFill/>
          <a:ln/>
        </p:spPr>
        <p:txBody>
          <a:bodyPr wrap="square" lIns="0" tIns="0" rIns="0" bIns="0" rtlCol="0" anchor="t"/>
          <a:lstStyle/>
          <a:p>
            <a:pPr indent="0" marL="0">
              <a:buNone/>
            </a:pPr>
            <a:r>
              <a:rPr lang="en-US" sz="1400" dirty="0">
                <a:solidFill>
                  <a:schemeClr val="accent4"/>
                </a:solidFill>
              </a:rPr>
              <a:t>backoff that honours Retry-After, plus a model fallback chain</a:t>
            </a:r>
            <a:endParaRPr lang="en-US" sz="1400" dirty="0"/>
          </a:p>
        </p:txBody>
      </p:sp>
      <p:sp>
        <p:nvSpPr>
          <p:cNvPr id="28" name="Strength 6"/>
          <p:cNvSpPr/>
          <p:nvPr/>
        </p:nvSpPr>
        <p:spPr>
          <a:xfrm>
            <a:off x="8083296" y="3749040"/>
            <a:ext cx="3474720" cy="2057400"/>
          </a:xfrm>
          <a:prstGeom prst="roundRect">
            <a:avLst>
              <a:gd name="adj" fmla="val 355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9" name="Strength 6 circle"/>
          <p:cNvSpPr/>
          <p:nvPr/>
        </p:nvSpPr>
        <p:spPr>
          <a:xfrm>
            <a:off x="8357616" y="4023360"/>
            <a:ext cx="640080" cy="640080"/>
          </a:xfrm>
          <a:prstGeom prst="ellipse">
            <a:avLst/>
          </a:prstGeom>
          <a:solidFill>
            <a:schemeClr val="accent2"/>
          </a:solidFill>
          <a:ln w="12700">
            <a:solidFill>
              <a:schemeClr val="accent2"/>
            </a:solidFill>
            <a:prstDash val="solid"/>
          </a:ln>
        </p:spPr>
      </p:sp>
      <p:pic>
        <p:nvPicPr>
          <p:cNvPr id="30" name="Strength 6 icon" descr="preencoded.png">    </p:cNvPr>
          <p:cNvPicPr>
            <a:picLocks noChangeAspect="1"/>
          </p:cNvPicPr>
          <p:nvPr/>
        </p:nvPicPr>
        <p:blipFill>
          <a:blip r:embed="rId6"/>
          <a:stretch>
            <a:fillRect/>
          </a:stretch>
        </p:blipFill>
        <p:spPr>
          <a:xfrm>
            <a:off x="8530438" y="4196182"/>
            <a:ext cx="294437" cy="294437"/>
          </a:xfrm>
          <a:prstGeom prst="rect">
            <a:avLst/>
          </a:prstGeom>
        </p:spPr>
      </p:pic>
      <p:sp>
        <p:nvSpPr>
          <p:cNvPr id="31" name="Text 23"/>
          <p:cNvSpPr txBox="1"/>
          <p:nvPr/>
        </p:nvSpPr>
        <p:spPr>
          <a:xfrm>
            <a:off x="9180576" y="4023360"/>
            <a:ext cx="2240280" cy="640080"/>
          </a:xfrm>
          <a:prstGeom prst="rect">
            <a:avLst/>
          </a:prstGeom>
          <a:noFill/>
          <a:ln/>
        </p:spPr>
        <p:txBody>
          <a:bodyPr wrap="square" lIns="0" tIns="0" rIns="0" bIns="0" rtlCol="0" anchor="ctr"/>
          <a:lstStyle/>
          <a:p>
            <a:pPr indent="0" marL="0">
              <a:buNone/>
            </a:pPr>
            <a:r>
              <a:rPr lang="en-US" sz="1800" b="1" dirty="0">
                <a:solidFill>
                  <a:schemeClr val="tx1"/>
                </a:solidFill>
              </a:rPr>
              <a:t>Tested and honest</a:t>
            </a:r>
            <a:endParaRPr lang="en-US" sz="1800" dirty="0"/>
          </a:p>
        </p:txBody>
      </p:sp>
      <p:sp>
        <p:nvSpPr>
          <p:cNvPr id="32" name="Text 24"/>
          <p:cNvSpPr txBox="1"/>
          <p:nvPr/>
        </p:nvSpPr>
        <p:spPr>
          <a:xfrm>
            <a:off x="8357616" y="4800600"/>
            <a:ext cx="2971800" cy="914400"/>
          </a:xfrm>
          <a:prstGeom prst="rect">
            <a:avLst/>
          </a:prstGeom>
          <a:noFill/>
          <a:ln/>
        </p:spPr>
        <p:txBody>
          <a:bodyPr wrap="square" lIns="0" tIns="0" rIns="0" bIns="0" rtlCol="0" anchor="t"/>
          <a:lstStyle/>
          <a:p>
            <a:pPr indent="0" marL="0">
              <a:buNone/>
            </a:pPr>
            <a:r>
              <a:rPr lang="en-US" sz="1400" dirty="0">
                <a:solidFill>
                  <a:schemeClr val="accent4"/>
                </a:solidFill>
              </a:rPr>
              <a:t>12 offline tests pass; the README reports the bad results too</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286000"/>
            <a:ext cx="8686800" cy="1188720"/>
          </a:xfrm>
          <a:prstGeom prst="rect">
            <a:avLst/>
          </a:prstGeom>
          <a:noFill/>
          <a:ln/>
        </p:spPr>
        <p:txBody>
          <a:bodyPr wrap="square" lIns="0" tIns="0" rIns="0" bIns="0" rtlCol="0" anchor="b"/>
          <a:lstStyle/>
          <a:p>
            <a:pPr algn="l" indent="0" marL="0">
              <a:buNone/>
            </a:pPr>
            <a:r>
              <a:rPr lang="en-US" sz="4000" b="1" dirty="0">
                <a:solidFill>
                  <a:schemeClr val="bg1"/>
                </a:solidFill>
              </a:rPr>
              <a:t>How to make it better</a:t>
            </a:r>
            <a:endParaRPr lang="en-US" sz="4000" dirty="0"/>
          </a:p>
        </p:txBody>
      </p:sp>
      <p:sp>
        <p:nvSpPr>
          <p:cNvPr id="3" name="Text 0"/>
          <p:cNvSpPr/>
          <p:nvPr>
            <p:ph idx="101" type="body" hasCustomPrompt="1"/>
          </p:nvPr>
        </p:nvSpPr>
        <p:spPr>
          <a:xfrm>
            <a:off x="548640" y="3611880"/>
            <a:ext cx="8686800" cy="822960"/>
          </a:xfrm>
          <a:prstGeom prst="rect">
            <a:avLst/>
          </a:prstGeom>
          <a:noFill/>
          <a:ln/>
        </p:spPr>
        <p:txBody>
          <a:bodyPr wrap="square" lIns="0" tIns="0" rIns="0" bIns="0" rtlCol="0" anchor="t"/>
          <a:lstStyle/>
          <a:p>
            <a:pPr algn="l" indent="0" marL="0">
              <a:buNone/>
            </a:pPr>
            <a:r>
              <a:rPr lang="en-US" sz="2000" dirty="0">
                <a:solidFill>
                  <a:schemeClr val="accent6"/>
                </a:solidFill>
              </a:rPr>
              <a:t>Fix the measuring stick first, then scale</a:t>
            </a:r>
            <a:endParaRPr lang="en-US" sz="20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Priority 1: make the score trustworthy</a:t>
            </a:r>
            <a:endParaRPr lang="en-US" sz="3400" dirty="0"/>
          </a:p>
        </p:txBody>
      </p:sp>
      <p:sp>
        <p:nvSpPr>
          <p:cNvPr id="3" name="Upgrade Deterministic checkers"/>
          <p:cNvSpPr/>
          <p:nvPr/>
        </p:nvSpPr>
        <p:spPr>
          <a:xfrm>
            <a:off x="548640" y="1417320"/>
            <a:ext cx="544068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Upgrade Deterministic checkers circle"/>
          <p:cNvSpPr/>
          <p:nvPr/>
        </p:nvSpPr>
        <p:spPr>
          <a:xfrm>
            <a:off x="822960" y="1691640"/>
            <a:ext cx="658368" cy="658368"/>
          </a:xfrm>
          <a:prstGeom prst="ellipse">
            <a:avLst/>
          </a:prstGeom>
          <a:solidFill>
            <a:schemeClr val="accent3"/>
          </a:solidFill>
          <a:ln w="12700">
            <a:solidFill>
              <a:schemeClr val="accent3"/>
            </a:solidFill>
            <a:prstDash val="solid"/>
          </a:ln>
        </p:spPr>
      </p:sp>
      <p:pic>
        <p:nvPicPr>
          <p:cNvPr id="5" name="Upgrade Deterministic checkers icon" descr="preencoded.png">    </p:cNvPr>
          <p:cNvPicPr>
            <a:picLocks noChangeAspect="1"/>
          </p:cNvPicPr>
          <p:nvPr/>
        </p:nvPicPr>
        <p:blipFill>
          <a:blip r:embed="rId1"/>
          <a:stretch>
            <a:fillRect/>
          </a:stretch>
        </p:blipFill>
        <p:spPr>
          <a:xfrm>
            <a:off x="1000719" y="1869399"/>
            <a:ext cx="302849" cy="302849"/>
          </a:xfrm>
          <a:prstGeom prst="rect">
            <a:avLst/>
          </a:prstGeom>
        </p:spPr>
      </p:pic>
      <p:sp>
        <p:nvSpPr>
          <p:cNvPr id="6" name="Text 3"/>
          <p:cNvSpPr txBox="1"/>
          <p:nvPr/>
        </p:nvSpPr>
        <p:spPr>
          <a:xfrm>
            <a:off x="1691640" y="1673352"/>
            <a:ext cx="3291840" cy="685800"/>
          </a:xfrm>
          <a:prstGeom prst="rect">
            <a:avLst/>
          </a:prstGeom>
          <a:noFill/>
          <a:ln/>
        </p:spPr>
        <p:txBody>
          <a:bodyPr wrap="square" lIns="0" tIns="0" rIns="0" bIns="0" rtlCol="0" anchor="ctr"/>
          <a:lstStyle/>
          <a:p>
            <a:pPr indent="0" marL="0">
              <a:buNone/>
            </a:pPr>
            <a:r>
              <a:rPr lang="en-US" sz="1800" b="1" dirty="0">
                <a:solidFill>
                  <a:schemeClr val="tx1"/>
                </a:solidFill>
              </a:rPr>
              <a:t>Deterministic checkers</a:t>
            </a:r>
            <a:endParaRPr lang="en-US" sz="1800" dirty="0"/>
          </a:p>
        </p:txBody>
      </p:sp>
      <p:sp>
        <p:nvSpPr>
          <p:cNvPr id="7" name="Tag Deterministic checkers"/>
          <p:cNvSpPr/>
          <p:nvPr/>
        </p:nvSpPr>
        <p:spPr>
          <a:xfrm>
            <a:off x="4983480" y="1801368"/>
            <a:ext cx="777240" cy="384048"/>
          </a:xfrm>
          <a:prstGeom prst="roundRect">
            <a:avLst>
              <a:gd name="adj" fmla="val 19048"/>
            </a:avLst>
          </a:prstGeom>
          <a:solidFill>
            <a:schemeClr val="accent3"/>
          </a:solidFill>
          <a:ln w="12700">
            <a:solidFill>
              <a:schemeClr val="accent3"/>
            </a:solidFill>
            <a:prstDash val="solid"/>
          </a:ln>
        </p:spPr>
      </p:sp>
      <p:sp>
        <p:nvSpPr>
          <p:cNvPr id="8" name="Text 5"/>
          <p:cNvSpPr txBox="1"/>
          <p:nvPr/>
        </p:nvSpPr>
        <p:spPr>
          <a:xfrm>
            <a:off x="4983480" y="1801368"/>
            <a:ext cx="777240" cy="384048"/>
          </a:xfrm>
          <a:prstGeom prst="rect">
            <a:avLst/>
          </a:prstGeom>
          <a:noFill/>
          <a:ln/>
        </p:spPr>
        <p:txBody>
          <a:bodyPr wrap="square" lIns="0" tIns="0" rIns="0" bIns="0" rtlCol="0" anchor="ctr"/>
          <a:lstStyle/>
          <a:p>
            <a:pPr algn="ctr" indent="0" marL="0">
              <a:buNone/>
            </a:pPr>
            <a:r>
              <a:rPr lang="en-US" sz="1200" b="1" dirty="0">
                <a:solidFill>
                  <a:schemeClr val="bg1"/>
                </a:solidFill>
              </a:rPr>
              <a:t>P1</a:t>
            </a:r>
            <a:endParaRPr lang="en-US" sz="1200" dirty="0"/>
          </a:p>
        </p:txBody>
      </p:sp>
      <p:sp>
        <p:nvSpPr>
          <p:cNvPr id="9" name="Text 6"/>
          <p:cNvSpPr txBox="1"/>
          <p:nvPr/>
        </p:nvSpPr>
        <p:spPr>
          <a:xfrm>
            <a:off x="822960" y="2468880"/>
            <a:ext cx="4892040" cy="749808"/>
          </a:xfrm>
          <a:prstGeom prst="rect">
            <a:avLst/>
          </a:prstGeom>
          <a:noFill/>
          <a:ln/>
        </p:spPr>
        <p:txBody>
          <a:bodyPr wrap="square" lIns="0" tIns="0" rIns="0" bIns="0" rtlCol="0" anchor="t"/>
          <a:lstStyle/>
          <a:p>
            <a:pPr indent="0" marL="0">
              <a:buNone/>
            </a:pPr>
            <a:r>
              <a:rPr lang="en-US" sz="1400" dirty="0">
                <a:solidFill>
                  <a:schemeClr val="tx1"/>
                </a:solidFill>
              </a:rPr>
              <a:t>Per-agent rules that score exactly: required lines present, AMOUNT matches, right email. Use the LLM judge only for what rules can't check.</a:t>
            </a:r>
            <a:endParaRPr lang="en-US" sz="1400" dirty="0"/>
          </a:p>
        </p:txBody>
      </p:sp>
      <p:sp>
        <p:nvSpPr>
          <p:cNvPr id="10" name="Text 7"/>
          <p:cNvSpPr txBox="1"/>
          <p:nvPr/>
        </p:nvSpPr>
        <p:spPr>
          <a:xfrm>
            <a:off x="822960" y="3218688"/>
            <a:ext cx="489204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new: agent.checks + critique()</a:t>
            </a:r>
            <a:endParaRPr lang="en-US" sz="1100" dirty="0"/>
          </a:p>
        </p:txBody>
      </p:sp>
      <p:sp>
        <p:nvSpPr>
          <p:cNvPr id="11" name="Upgrade Dev / holdout split"/>
          <p:cNvSpPr/>
          <p:nvPr/>
        </p:nvSpPr>
        <p:spPr>
          <a:xfrm>
            <a:off x="6190488" y="1417320"/>
            <a:ext cx="544068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Upgrade Dev / holdout split circle"/>
          <p:cNvSpPr/>
          <p:nvPr/>
        </p:nvSpPr>
        <p:spPr>
          <a:xfrm>
            <a:off x="6464808" y="1691640"/>
            <a:ext cx="658368" cy="658368"/>
          </a:xfrm>
          <a:prstGeom prst="ellipse">
            <a:avLst/>
          </a:prstGeom>
          <a:solidFill>
            <a:schemeClr val="accent3"/>
          </a:solidFill>
          <a:ln w="12700">
            <a:solidFill>
              <a:schemeClr val="accent3"/>
            </a:solidFill>
            <a:prstDash val="solid"/>
          </a:ln>
        </p:spPr>
      </p:sp>
      <p:pic>
        <p:nvPicPr>
          <p:cNvPr id="13" name="Upgrade Dev / holdout split icon" descr="preencoded.png">    </p:cNvPr>
          <p:cNvPicPr>
            <a:picLocks noChangeAspect="1"/>
          </p:cNvPicPr>
          <p:nvPr/>
        </p:nvPicPr>
        <p:blipFill>
          <a:blip r:embed="rId2"/>
          <a:stretch>
            <a:fillRect/>
          </a:stretch>
        </p:blipFill>
        <p:spPr>
          <a:xfrm>
            <a:off x="6642567" y="1869399"/>
            <a:ext cx="302849" cy="302849"/>
          </a:xfrm>
          <a:prstGeom prst="rect">
            <a:avLst/>
          </a:prstGeom>
        </p:spPr>
      </p:pic>
      <p:sp>
        <p:nvSpPr>
          <p:cNvPr id="14" name="Text 10"/>
          <p:cNvSpPr txBox="1"/>
          <p:nvPr/>
        </p:nvSpPr>
        <p:spPr>
          <a:xfrm>
            <a:off x="7333488" y="1673352"/>
            <a:ext cx="3291840" cy="685800"/>
          </a:xfrm>
          <a:prstGeom prst="rect">
            <a:avLst/>
          </a:prstGeom>
          <a:noFill/>
          <a:ln/>
        </p:spPr>
        <p:txBody>
          <a:bodyPr wrap="square" lIns="0" tIns="0" rIns="0" bIns="0" rtlCol="0" anchor="ctr"/>
          <a:lstStyle/>
          <a:p>
            <a:pPr indent="0" marL="0">
              <a:buNone/>
            </a:pPr>
            <a:r>
              <a:rPr lang="en-US" sz="1800" b="1" dirty="0">
                <a:solidFill>
                  <a:schemeClr val="tx1"/>
                </a:solidFill>
              </a:rPr>
              <a:t>Dev / holdout split</a:t>
            </a:r>
            <a:endParaRPr lang="en-US" sz="1800" dirty="0"/>
          </a:p>
        </p:txBody>
      </p:sp>
      <p:sp>
        <p:nvSpPr>
          <p:cNvPr id="15" name="Tag Dev / holdout split"/>
          <p:cNvSpPr/>
          <p:nvPr/>
        </p:nvSpPr>
        <p:spPr>
          <a:xfrm>
            <a:off x="10625328" y="1801368"/>
            <a:ext cx="777240" cy="384048"/>
          </a:xfrm>
          <a:prstGeom prst="roundRect">
            <a:avLst>
              <a:gd name="adj" fmla="val 19048"/>
            </a:avLst>
          </a:prstGeom>
          <a:solidFill>
            <a:schemeClr val="accent3"/>
          </a:solidFill>
          <a:ln w="12700">
            <a:solidFill>
              <a:schemeClr val="accent3"/>
            </a:solidFill>
            <a:prstDash val="solid"/>
          </a:ln>
        </p:spPr>
      </p:sp>
      <p:sp>
        <p:nvSpPr>
          <p:cNvPr id="16" name="Text 12"/>
          <p:cNvSpPr txBox="1"/>
          <p:nvPr/>
        </p:nvSpPr>
        <p:spPr>
          <a:xfrm>
            <a:off x="10625328" y="1801368"/>
            <a:ext cx="777240" cy="384048"/>
          </a:xfrm>
          <a:prstGeom prst="rect">
            <a:avLst/>
          </a:prstGeom>
          <a:noFill/>
          <a:ln/>
        </p:spPr>
        <p:txBody>
          <a:bodyPr wrap="square" lIns="0" tIns="0" rIns="0" bIns="0" rtlCol="0" anchor="ctr"/>
          <a:lstStyle/>
          <a:p>
            <a:pPr algn="ctr" indent="0" marL="0">
              <a:buNone/>
            </a:pPr>
            <a:r>
              <a:rPr lang="en-US" sz="1200" b="1" dirty="0">
                <a:solidFill>
                  <a:schemeClr val="bg1"/>
                </a:solidFill>
              </a:rPr>
              <a:t>P1</a:t>
            </a:r>
            <a:endParaRPr lang="en-US" sz="1200" dirty="0"/>
          </a:p>
        </p:txBody>
      </p:sp>
      <p:sp>
        <p:nvSpPr>
          <p:cNvPr id="17" name="Text 13"/>
          <p:cNvSpPr txBox="1"/>
          <p:nvPr/>
        </p:nvSpPr>
        <p:spPr>
          <a:xfrm>
            <a:off x="6464808" y="2468880"/>
            <a:ext cx="4892040" cy="749808"/>
          </a:xfrm>
          <a:prstGeom prst="rect">
            <a:avLst/>
          </a:prstGeom>
          <a:noFill/>
          <a:ln/>
        </p:spPr>
        <p:txBody>
          <a:bodyPr wrap="square" lIns="0" tIns="0" rIns="0" bIns="0" rtlCol="0" anchor="t"/>
          <a:lstStyle/>
          <a:p>
            <a:pPr indent="0" marL="0">
              <a:buNone/>
            </a:pPr>
            <a:r>
              <a:rPr lang="en-US" sz="1400" dirty="0">
                <a:solidFill>
                  <a:schemeClr val="tx1"/>
                </a:solidFill>
              </a:rPr>
              <a:t>improve() tunes on dev examples and adopts only if the holdout set also improves. Never show holdout failures to the writer.</a:t>
            </a:r>
            <a:endParaRPr lang="en-US" sz="1400" dirty="0"/>
          </a:p>
        </p:txBody>
      </p:sp>
      <p:sp>
        <p:nvSpPr>
          <p:cNvPr id="18" name="Text 14"/>
          <p:cNvSpPr txBox="1"/>
          <p:nvPr/>
        </p:nvSpPr>
        <p:spPr>
          <a:xfrm>
            <a:off x="6464808" y="3218688"/>
            <a:ext cx="489204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store.examples(split=...)</a:t>
            </a:r>
            <a:endParaRPr lang="en-US" sz="1100" dirty="0"/>
          </a:p>
        </p:txBody>
      </p:sp>
      <p:sp>
        <p:nvSpPr>
          <p:cNvPr id="19" name="Upgrade Bigger, stricter eval"/>
          <p:cNvSpPr/>
          <p:nvPr/>
        </p:nvSpPr>
        <p:spPr>
          <a:xfrm>
            <a:off x="548640" y="3813048"/>
            <a:ext cx="544068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Upgrade Bigger, stricter eval circle"/>
          <p:cNvSpPr/>
          <p:nvPr/>
        </p:nvSpPr>
        <p:spPr>
          <a:xfrm>
            <a:off x="822960" y="4087368"/>
            <a:ext cx="658368" cy="658368"/>
          </a:xfrm>
          <a:prstGeom prst="ellipse">
            <a:avLst/>
          </a:prstGeom>
          <a:solidFill>
            <a:schemeClr val="accent3"/>
          </a:solidFill>
          <a:ln w="12700">
            <a:solidFill>
              <a:schemeClr val="accent3"/>
            </a:solidFill>
            <a:prstDash val="solid"/>
          </a:ln>
        </p:spPr>
      </p:sp>
      <p:pic>
        <p:nvPicPr>
          <p:cNvPr id="21" name="Upgrade Bigger, stricter eval icon" descr="preencoded.png">    </p:cNvPr>
          <p:cNvPicPr>
            <a:picLocks noChangeAspect="1"/>
          </p:cNvPicPr>
          <p:nvPr/>
        </p:nvPicPr>
        <p:blipFill>
          <a:blip r:embed="rId3"/>
          <a:stretch>
            <a:fillRect/>
          </a:stretch>
        </p:blipFill>
        <p:spPr>
          <a:xfrm>
            <a:off x="1000719" y="4265127"/>
            <a:ext cx="302849" cy="302849"/>
          </a:xfrm>
          <a:prstGeom prst="rect">
            <a:avLst/>
          </a:prstGeom>
        </p:spPr>
      </p:pic>
      <p:sp>
        <p:nvSpPr>
          <p:cNvPr id="22" name="Text 17"/>
          <p:cNvSpPr txBox="1"/>
          <p:nvPr/>
        </p:nvSpPr>
        <p:spPr>
          <a:xfrm>
            <a:off x="1691640" y="4069080"/>
            <a:ext cx="3291840" cy="685800"/>
          </a:xfrm>
          <a:prstGeom prst="rect">
            <a:avLst/>
          </a:prstGeom>
          <a:noFill/>
          <a:ln/>
        </p:spPr>
        <p:txBody>
          <a:bodyPr wrap="square" lIns="0" tIns="0" rIns="0" bIns="0" rtlCol="0" anchor="ctr"/>
          <a:lstStyle/>
          <a:p>
            <a:pPr indent="0" marL="0">
              <a:buNone/>
            </a:pPr>
            <a:r>
              <a:rPr lang="en-US" sz="1800" b="1" dirty="0">
                <a:solidFill>
                  <a:schemeClr val="tx1"/>
                </a:solidFill>
              </a:rPr>
              <a:t>Bigger, stricter eval</a:t>
            </a:r>
            <a:endParaRPr lang="en-US" sz="1800" dirty="0"/>
          </a:p>
        </p:txBody>
      </p:sp>
      <p:sp>
        <p:nvSpPr>
          <p:cNvPr id="23" name="Tag Bigger, stricter eval"/>
          <p:cNvSpPr/>
          <p:nvPr/>
        </p:nvSpPr>
        <p:spPr>
          <a:xfrm>
            <a:off x="4983480" y="4197096"/>
            <a:ext cx="777240" cy="384048"/>
          </a:xfrm>
          <a:prstGeom prst="roundRect">
            <a:avLst>
              <a:gd name="adj" fmla="val 19048"/>
            </a:avLst>
          </a:prstGeom>
          <a:solidFill>
            <a:schemeClr val="accent3"/>
          </a:solidFill>
          <a:ln w="12700">
            <a:solidFill>
              <a:schemeClr val="accent3"/>
            </a:solidFill>
            <a:prstDash val="solid"/>
          </a:ln>
        </p:spPr>
      </p:sp>
      <p:sp>
        <p:nvSpPr>
          <p:cNvPr id="24" name="Text 19"/>
          <p:cNvSpPr txBox="1"/>
          <p:nvPr/>
        </p:nvSpPr>
        <p:spPr>
          <a:xfrm>
            <a:off x="4983480" y="4197096"/>
            <a:ext cx="777240" cy="384048"/>
          </a:xfrm>
          <a:prstGeom prst="rect">
            <a:avLst/>
          </a:prstGeom>
          <a:noFill/>
          <a:ln/>
        </p:spPr>
        <p:txBody>
          <a:bodyPr wrap="square" lIns="0" tIns="0" rIns="0" bIns="0" rtlCol="0" anchor="ctr"/>
          <a:lstStyle/>
          <a:p>
            <a:pPr algn="ctr" indent="0" marL="0">
              <a:buNone/>
            </a:pPr>
            <a:r>
              <a:rPr lang="en-US" sz="1200" b="1" dirty="0">
                <a:solidFill>
                  <a:schemeClr val="bg1"/>
                </a:solidFill>
              </a:rPr>
              <a:t>P1</a:t>
            </a:r>
            <a:endParaRPr lang="en-US" sz="1200" dirty="0"/>
          </a:p>
        </p:txBody>
      </p:sp>
      <p:sp>
        <p:nvSpPr>
          <p:cNvPr id="25" name="Text 20"/>
          <p:cNvSpPr txBox="1"/>
          <p:nvPr/>
        </p:nvSpPr>
        <p:spPr>
          <a:xfrm>
            <a:off x="822960" y="4864608"/>
            <a:ext cx="4892040" cy="749808"/>
          </a:xfrm>
          <a:prstGeom prst="rect">
            <a:avLst/>
          </a:prstGeom>
          <a:noFill/>
          <a:ln/>
        </p:spPr>
        <p:txBody>
          <a:bodyPr wrap="square" lIns="0" tIns="0" rIns="0" bIns="0" rtlCol="0" anchor="t"/>
          <a:lstStyle/>
          <a:p>
            <a:pPr indent="0" marL="0">
              <a:buNone/>
            </a:pPr>
            <a:r>
              <a:rPr lang="en-US" sz="1400" dirty="0">
                <a:solidFill>
                  <a:schemeClr val="tx1"/>
                </a:solidFill>
              </a:rPr>
              <a:t>30+ examples, trials = 2, and a 2-standard-error bar (or a paired sign test) before adopting.</a:t>
            </a:r>
            <a:endParaRPr lang="en-US" sz="1400" dirty="0"/>
          </a:p>
        </p:txBody>
      </p:sp>
      <p:sp>
        <p:nvSpPr>
          <p:cNvPr id="26" name="Text 21"/>
          <p:cNvSpPr txBox="1"/>
          <p:nvPr/>
        </p:nvSpPr>
        <p:spPr>
          <a:xfrm>
            <a:off x="822960" y="5614416"/>
            <a:ext cx="489204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significant_gain()</a:t>
            </a:r>
            <a:endParaRPr lang="en-US" sz="1100" dirty="0"/>
          </a:p>
        </p:txBody>
      </p:sp>
      <p:sp>
        <p:nvSpPr>
          <p:cNvPr id="27" name="Upgrade Separate grader"/>
          <p:cNvSpPr/>
          <p:nvPr/>
        </p:nvSpPr>
        <p:spPr>
          <a:xfrm>
            <a:off x="6190488" y="3813048"/>
            <a:ext cx="544068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8" name="Upgrade Separate grader circle"/>
          <p:cNvSpPr/>
          <p:nvPr/>
        </p:nvSpPr>
        <p:spPr>
          <a:xfrm>
            <a:off x="6464808" y="4087368"/>
            <a:ext cx="658368" cy="658368"/>
          </a:xfrm>
          <a:prstGeom prst="ellipse">
            <a:avLst/>
          </a:prstGeom>
          <a:solidFill>
            <a:schemeClr val="accent3"/>
          </a:solidFill>
          <a:ln w="12700">
            <a:solidFill>
              <a:schemeClr val="accent3"/>
            </a:solidFill>
            <a:prstDash val="solid"/>
          </a:ln>
        </p:spPr>
      </p:sp>
      <p:pic>
        <p:nvPicPr>
          <p:cNvPr id="29" name="Upgrade Separate grader icon" descr="preencoded.png">    </p:cNvPr>
          <p:cNvPicPr>
            <a:picLocks noChangeAspect="1"/>
          </p:cNvPicPr>
          <p:nvPr/>
        </p:nvPicPr>
        <p:blipFill>
          <a:blip r:embed="rId4"/>
          <a:stretch>
            <a:fillRect/>
          </a:stretch>
        </p:blipFill>
        <p:spPr>
          <a:xfrm>
            <a:off x="6642567" y="4265127"/>
            <a:ext cx="302849" cy="302849"/>
          </a:xfrm>
          <a:prstGeom prst="rect">
            <a:avLst/>
          </a:prstGeom>
        </p:spPr>
      </p:pic>
      <p:sp>
        <p:nvSpPr>
          <p:cNvPr id="30" name="Text 24"/>
          <p:cNvSpPr txBox="1"/>
          <p:nvPr/>
        </p:nvSpPr>
        <p:spPr>
          <a:xfrm>
            <a:off x="7333488" y="4069080"/>
            <a:ext cx="3291840" cy="685800"/>
          </a:xfrm>
          <a:prstGeom prst="rect">
            <a:avLst/>
          </a:prstGeom>
          <a:noFill/>
          <a:ln/>
        </p:spPr>
        <p:txBody>
          <a:bodyPr wrap="square" lIns="0" tIns="0" rIns="0" bIns="0" rtlCol="0" anchor="ctr"/>
          <a:lstStyle/>
          <a:p>
            <a:pPr indent="0" marL="0">
              <a:buNone/>
            </a:pPr>
            <a:r>
              <a:rPr lang="en-US" sz="1800" b="1" dirty="0">
                <a:solidFill>
                  <a:schemeClr val="tx1"/>
                </a:solidFill>
              </a:rPr>
              <a:t>Separate grader</a:t>
            </a:r>
            <a:endParaRPr lang="en-US" sz="1800" dirty="0"/>
          </a:p>
        </p:txBody>
      </p:sp>
      <p:sp>
        <p:nvSpPr>
          <p:cNvPr id="31" name="Tag Separate grader"/>
          <p:cNvSpPr/>
          <p:nvPr/>
        </p:nvSpPr>
        <p:spPr>
          <a:xfrm>
            <a:off x="10625328" y="4197096"/>
            <a:ext cx="777240" cy="384048"/>
          </a:xfrm>
          <a:prstGeom prst="roundRect">
            <a:avLst>
              <a:gd name="adj" fmla="val 19048"/>
            </a:avLst>
          </a:prstGeom>
          <a:solidFill>
            <a:schemeClr val="accent3"/>
          </a:solidFill>
          <a:ln w="12700">
            <a:solidFill>
              <a:schemeClr val="accent3"/>
            </a:solidFill>
            <a:prstDash val="solid"/>
          </a:ln>
        </p:spPr>
      </p:sp>
      <p:sp>
        <p:nvSpPr>
          <p:cNvPr id="32" name="Text 26"/>
          <p:cNvSpPr txBox="1"/>
          <p:nvPr/>
        </p:nvSpPr>
        <p:spPr>
          <a:xfrm>
            <a:off x="10625328" y="4197096"/>
            <a:ext cx="777240" cy="384048"/>
          </a:xfrm>
          <a:prstGeom prst="rect">
            <a:avLst/>
          </a:prstGeom>
          <a:noFill/>
          <a:ln/>
        </p:spPr>
        <p:txBody>
          <a:bodyPr wrap="square" lIns="0" tIns="0" rIns="0" bIns="0" rtlCol="0" anchor="ctr"/>
          <a:lstStyle/>
          <a:p>
            <a:pPr algn="ctr" indent="0" marL="0">
              <a:buNone/>
            </a:pPr>
            <a:r>
              <a:rPr lang="en-US" sz="1200" b="1" dirty="0">
                <a:solidFill>
                  <a:schemeClr val="bg1"/>
                </a:solidFill>
              </a:rPr>
              <a:t>P1</a:t>
            </a:r>
            <a:endParaRPr lang="en-US" sz="1200" dirty="0"/>
          </a:p>
        </p:txBody>
      </p:sp>
      <p:sp>
        <p:nvSpPr>
          <p:cNvPr id="33" name="Text 27"/>
          <p:cNvSpPr txBox="1"/>
          <p:nvPr/>
        </p:nvSpPr>
        <p:spPr>
          <a:xfrm>
            <a:off x="6464808" y="4864608"/>
            <a:ext cx="4892040" cy="749808"/>
          </a:xfrm>
          <a:prstGeom prst="rect">
            <a:avLst/>
          </a:prstGeom>
          <a:noFill/>
          <a:ln/>
        </p:spPr>
        <p:txBody>
          <a:bodyPr wrap="square" lIns="0" tIns="0" rIns="0" bIns="0" rtlCol="0" anchor="t"/>
          <a:lstStyle/>
          <a:p>
            <a:pPr indent="0" marL="0">
              <a:buNone/>
            </a:pPr>
            <a:r>
              <a:rPr lang="en-US" sz="1400" dirty="0">
                <a:solidFill>
                  <a:schemeClr val="tx1"/>
                </a:solidFill>
              </a:rPr>
              <a:t>Grade with a different or stronger model than the one answering, so it can't share its own blind spots.</a:t>
            </a:r>
            <a:endParaRPr lang="en-US" sz="1400" dirty="0"/>
          </a:p>
        </p:txBody>
      </p:sp>
      <p:sp>
        <p:nvSpPr>
          <p:cNvPr id="34" name="Text 28"/>
          <p:cNvSpPr txBox="1"/>
          <p:nvPr/>
        </p:nvSpPr>
        <p:spPr>
          <a:xfrm>
            <a:off x="6464808" y="5614416"/>
            <a:ext cx="489204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X-LLM-Grader-Model header</a:t>
            </a:r>
            <a:endParaRPr lang="en-US" sz="11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Priority 2–3: smarter learning, then scale</a:t>
            </a:r>
            <a:endParaRPr lang="en-US" sz="3400" dirty="0"/>
          </a:p>
        </p:txBody>
      </p:sp>
      <p:sp>
        <p:nvSpPr>
          <p:cNvPr id="3" name="Upgrade Lesson A/B testing"/>
          <p:cNvSpPr/>
          <p:nvPr/>
        </p:nvSpPr>
        <p:spPr>
          <a:xfrm>
            <a:off x="548640" y="1417320"/>
            <a:ext cx="544068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4" name="Upgrade Lesson A/B testing circle"/>
          <p:cNvSpPr/>
          <p:nvPr/>
        </p:nvSpPr>
        <p:spPr>
          <a:xfrm>
            <a:off x="822960" y="1691640"/>
            <a:ext cx="658368" cy="658368"/>
          </a:xfrm>
          <a:prstGeom prst="ellipse">
            <a:avLst/>
          </a:prstGeom>
          <a:solidFill>
            <a:schemeClr val="accent1"/>
          </a:solidFill>
          <a:ln w="12700">
            <a:solidFill>
              <a:schemeClr val="accent1"/>
            </a:solidFill>
            <a:prstDash val="solid"/>
          </a:ln>
        </p:spPr>
      </p:sp>
      <p:pic>
        <p:nvPicPr>
          <p:cNvPr id="5" name="Upgrade Lesson A/B testing icon" descr="preencoded.png">    </p:cNvPr>
          <p:cNvPicPr>
            <a:picLocks noChangeAspect="1"/>
          </p:cNvPicPr>
          <p:nvPr/>
        </p:nvPicPr>
        <p:blipFill>
          <a:blip r:embed="rId1"/>
          <a:stretch>
            <a:fillRect/>
          </a:stretch>
        </p:blipFill>
        <p:spPr>
          <a:xfrm>
            <a:off x="1000719" y="1869399"/>
            <a:ext cx="302849" cy="302849"/>
          </a:xfrm>
          <a:prstGeom prst="rect">
            <a:avLst/>
          </a:prstGeom>
        </p:spPr>
      </p:pic>
      <p:sp>
        <p:nvSpPr>
          <p:cNvPr id="6" name="Text 3"/>
          <p:cNvSpPr txBox="1"/>
          <p:nvPr/>
        </p:nvSpPr>
        <p:spPr>
          <a:xfrm>
            <a:off x="1691640" y="1673352"/>
            <a:ext cx="3291840" cy="685800"/>
          </a:xfrm>
          <a:prstGeom prst="rect">
            <a:avLst/>
          </a:prstGeom>
          <a:noFill/>
          <a:ln/>
        </p:spPr>
        <p:txBody>
          <a:bodyPr wrap="square" lIns="0" tIns="0" rIns="0" bIns="0" rtlCol="0" anchor="ctr"/>
          <a:lstStyle/>
          <a:p>
            <a:pPr indent="0" marL="0">
              <a:buNone/>
            </a:pPr>
            <a:r>
              <a:rPr lang="en-US" sz="1800" b="1" dirty="0">
                <a:solidFill>
                  <a:schemeClr val="tx1"/>
                </a:solidFill>
              </a:rPr>
              <a:t>Lesson A/B testing</a:t>
            </a:r>
            <a:endParaRPr lang="en-US" sz="1800" dirty="0"/>
          </a:p>
        </p:txBody>
      </p:sp>
      <p:sp>
        <p:nvSpPr>
          <p:cNvPr id="7" name="Tag Lesson A/B testing"/>
          <p:cNvSpPr/>
          <p:nvPr/>
        </p:nvSpPr>
        <p:spPr>
          <a:xfrm>
            <a:off x="4983480" y="1801368"/>
            <a:ext cx="777240" cy="384048"/>
          </a:xfrm>
          <a:prstGeom prst="roundRect">
            <a:avLst>
              <a:gd name="adj" fmla="val 19048"/>
            </a:avLst>
          </a:prstGeom>
          <a:solidFill>
            <a:schemeClr val="accent1"/>
          </a:solidFill>
          <a:ln w="12700">
            <a:solidFill>
              <a:schemeClr val="accent1"/>
            </a:solidFill>
            <a:prstDash val="solid"/>
          </a:ln>
        </p:spPr>
      </p:sp>
      <p:sp>
        <p:nvSpPr>
          <p:cNvPr id="8" name="Text 5"/>
          <p:cNvSpPr txBox="1"/>
          <p:nvPr/>
        </p:nvSpPr>
        <p:spPr>
          <a:xfrm>
            <a:off x="4983480" y="1801368"/>
            <a:ext cx="777240" cy="384048"/>
          </a:xfrm>
          <a:prstGeom prst="rect">
            <a:avLst/>
          </a:prstGeom>
          <a:noFill/>
          <a:ln/>
        </p:spPr>
        <p:txBody>
          <a:bodyPr wrap="square" lIns="0" tIns="0" rIns="0" bIns="0" rtlCol="0" anchor="ctr"/>
          <a:lstStyle/>
          <a:p>
            <a:pPr algn="ctr" indent="0" marL="0">
              <a:buNone/>
            </a:pPr>
            <a:r>
              <a:rPr lang="en-US" sz="1200" b="1" dirty="0">
                <a:solidFill>
                  <a:schemeClr val="bg1"/>
                </a:solidFill>
              </a:rPr>
              <a:t>P2</a:t>
            </a:r>
            <a:endParaRPr lang="en-US" sz="1200" dirty="0"/>
          </a:p>
        </p:txBody>
      </p:sp>
      <p:sp>
        <p:nvSpPr>
          <p:cNvPr id="9" name="Text 6"/>
          <p:cNvSpPr txBox="1"/>
          <p:nvPr/>
        </p:nvSpPr>
        <p:spPr>
          <a:xfrm>
            <a:off x="822960" y="2468880"/>
            <a:ext cx="4892040" cy="749808"/>
          </a:xfrm>
          <a:prstGeom prst="rect">
            <a:avLst/>
          </a:prstGeom>
          <a:noFill/>
          <a:ln/>
        </p:spPr>
        <p:txBody>
          <a:bodyPr wrap="square" lIns="0" tIns="0" rIns="0" bIns="0" rtlCol="0" anchor="t"/>
          <a:lstStyle/>
          <a:p>
            <a:pPr indent="0" marL="0">
              <a:buNone/>
            </a:pPr>
            <a:r>
              <a:rPr lang="en-US" sz="1400" dirty="0">
                <a:solidFill>
                  <a:schemeClr val="tx1"/>
                </a:solidFill>
              </a:rPr>
              <a:t>Randomly leave each lesson out of ~20% of runs. Utility = average score with it minus without it. That measures cause, not correlation.</a:t>
            </a:r>
            <a:endParaRPr lang="en-US" sz="1400" dirty="0"/>
          </a:p>
        </p:txBody>
      </p:sp>
      <p:sp>
        <p:nvSpPr>
          <p:cNvPr id="10" name="Text 7"/>
          <p:cNvSpPr txBox="1"/>
          <p:nvPr/>
        </p:nvSpPr>
        <p:spPr>
          <a:xfrm>
            <a:off x="822960" y="3218688"/>
            <a:ext cx="489204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relevant_lessons() + credit_lessons()</a:t>
            </a:r>
            <a:endParaRPr lang="en-US" sz="1100" dirty="0"/>
          </a:p>
        </p:txBody>
      </p:sp>
      <p:sp>
        <p:nvSpPr>
          <p:cNvPr id="11" name="Upgrade Verify study data"/>
          <p:cNvSpPr/>
          <p:nvPr/>
        </p:nvSpPr>
        <p:spPr>
          <a:xfrm>
            <a:off x="6190488" y="1417320"/>
            <a:ext cx="544068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Upgrade Verify study data circle"/>
          <p:cNvSpPr/>
          <p:nvPr/>
        </p:nvSpPr>
        <p:spPr>
          <a:xfrm>
            <a:off x="6464808" y="1691640"/>
            <a:ext cx="658368" cy="658368"/>
          </a:xfrm>
          <a:prstGeom prst="ellipse">
            <a:avLst/>
          </a:prstGeom>
          <a:solidFill>
            <a:schemeClr val="accent1"/>
          </a:solidFill>
          <a:ln w="12700">
            <a:solidFill>
              <a:schemeClr val="accent1"/>
            </a:solidFill>
            <a:prstDash val="solid"/>
          </a:ln>
        </p:spPr>
      </p:sp>
      <p:pic>
        <p:nvPicPr>
          <p:cNvPr id="13" name="Upgrade Verify study data icon" descr="preencoded.png">    </p:cNvPr>
          <p:cNvPicPr>
            <a:picLocks noChangeAspect="1"/>
          </p:cNvPicPr>
          <p:nvPr/>
        </p:nvPicPr>
        <p:blipFill>
          <a:blip r:embed="rId2"/>
          <a:stretch>
            <a:fillRect/>
          </a:stretch>
        </p:blipFill>
        <p:spPr>
          <a:xfrm>
            <a:off x="6642567" y="1869399"/>
            <a:ext cx="302849" cy="302849"/>
          </a:xfrm>
          <a:prstGeom prst="rect">
            <a:avLst/>
          </a:prstGeom>
        </p:spPr>
      </p:pic>
      <p:sp>
        <p:nvSpPr>
          <p:cNvPr id="14" name="Text 10"/>
          <p:cNvSpPr txBox="1"/>
          <p:nvPr/>
        </p:nvSpPr>
        <p:spPr>
          <a:xfrm>
            <a:off x="7333488" y="1673352"/>
            <a:ext cx="3291840" cy="685800"/>
          </a:xfrm>
          <a:prstGeom prst="rect">
            <a:avLst/>
          </a:prstGeom>
          <a:noFill/>
          <a:ln/>
        </p:spPr>
        <p:txBody>
          <a:bodyPr wrap="square" lIns="0" tIns="0" rIns="0" bIns="0" rtlCol="0" anchor="ctr"/>
          <a:lstStyle/>
          <a:p>
            <a:pPr indent="0" marL="0">
              <a:buNone/>
            </a:pPr>
            <a:r>
              <a:rPr lang="en-US" sz="1800" b="1" dirty="0">
                <a:solidFill>
                  <a:schemeClr val="tx1"/>
                </a:solidFill>
              </a:rPr>
              <a:t>Verify study data</a:t>
            </a:r>
            <a:endParaRPr lang="en-US" sz="1800" dirty="0"/>
          </a:p>
        </p:txBody>
      </p:sp>
      <p:sp>
        <p:nvSpPr>
          <p:cNvPr id="15" name="Tag Verify study data"/>
          <p:cNvSpPr/>
          <p:nvPr/>
        </p:nvSpPr>
        <p:spPr>
          <a:xfrm>
            <a:off x="10625328" y="1801368"/>
            <a:ext cx="777240" cy="384048"/>
          </a:xfrm>
          <a:prstGeom prst="roundRect">
            <a:avLst>
              <a:gd name="adj" fmla="val 19048"/>
            </a:avLst>
          </a:prstGeom>
          <a:solidFill>
            <a:schemeClr val="accent1"/>
          </a:solidFill>
          <a:ln w="12700">
            <a:solidFill>
              <a:schemeClr val="accent1"/>
            </a:solidFill>
            <a:prstDash val="solid"/>
          </a:ln>
        </p:spPr>
      </p:sp>
      <p:sp>
        <p:nvSpPr>
          <p:cNvPr id="16" name="Text 12"/>
          <p:cNvSpPr txBox="1"/>
          <p:nvPr/>
        </p:nvSpPr>
        <p:spPr>
          <a:xfrm>
            <a:off x="10625328" y="1801368"/>
            <a:ext cx="777240" cy="384048"/>
          </a:xfrm>
          <a:prstGeom prst="rect">
            <a:avLst/>
          </a:prstGeom>
          <a:noFill/>
          <a:ln/>
        </p:spPr>
        <p:txBody>
          <a:bodyPr wrap="square" lIns="0" tIns="0" rIns="0" bIns="0" rtlCol="0" anchor="ctr"/>
          <a:lstStyle/>
          <a:p>
            <a:pPr algn="ctr" indent="0" marL="0">
              <a:buNone/>
            </a:pPr>
            <a:r>
              <a:rPr lang="en-US" sz="1200" b="1" dirty="0">
                <a:solidFill>
                  <a:schemeClr val="bg1"/>
                </a:solidFill>
              </a:rPr>
              <a:t>P2</a:t>
            </a:r>
            <a:endParaRPr lang="en-US" sz="1200" dirty="0"/>
          </a:p>
        </p:txBody>
      </p:sp>
      <p:sp>
        <p:nvSpPr>
          <p:cNvPr id="17" name="Text 13"/>
          <p:cNvSpPr txBox="1"/>
          <p:nvPr/>
        </p:nvSpPr>
        <p:spPr>
          <a:xfrm>
            <a:off x="6464808" y="2468880"/>
            <a:ext cx="4892040" cy="749808"/>
          </a:xfrm>
          <a:prstGeom prst="rect">
            <a:avLst/>
          </a:prstGeom>
          <a:noFill/>
          <a:ln/>
        </p:spPr>
        <p:txBody>
          <a:bodyPr wrap="square" lIns="0" tIns="0" rIns="0" bIns="0" rtlCol="0" anchor="t"/>
          <a:lstStyle/>
          <a:p>
            <a:pPr indent="0" marL="0">
              <a:buNone/>
            </a:pPr>
            <a:r>
              <a:rPr lang="en-US" sz="1400" dirty="0">
                <a:solidFill>
                  <a:schemeClr val="tx1"/>
                </a:solidFill>
              </a:rPr>
              <a:t>A second pass checks each synthetic answer against its source chunk; unverified ones stay out of the eval set.</a:t>
            </a:r>
            <a:endParaRPr lang="en-US" sz="1400" dirty="0"/>
          </a:p>
        </p:txBody>
      </p:sp>
      <p:sp>
        <p:nvSpPr>
          <p:cNvPr id="18" name="Text 14"/>
          <p:cNvSpPr txBox="1"/>
          <p:nvPr/>
        </p:nvSpPr>
        <p:spPr>
          <a:xfrm>
            <a:off x="6464808" y="3218688"/>
            <a:ext cx="489204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Agent.study()</a:t>
            </a:r>
            <a:endParaRPr lang="en-US" sz="1100" dirty="0"/>
          </a:p>
        </p:txBody>
      </p:sp>
      <p:sp>
        <p:nvSpPr>
          <p:cNvPr id="19" name="Upgrade Production basics"/>
          <p:cNvSpPr/>
          <p:nvPr/>
        </p:nvSpPr>
        <p:spPr>
          <a:xfrm>
            <a:off x="548640" y="3813048"/>
            <a:ext cx="544068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0" name="Upgrade Production basics circle"/>
          <p:cNvSpPr/>
          <p:nvPr/>
        </p:nvSpPr>
        <p:spPr>
          <a:xfrm>
            <a:off x="822960" y="4087368"/>
            <a:ext cx="658368" cy="658368"/>
          </a:xfrm>
          <a:prstGeom prst="ellipse">
            <a:avLst/>
          </a:prstGeom>
          <a:solidFill>
            <a:schemeClr val="accent4"/>
          </a:solidFill>
          <a:ln w="12700">
            <a:solidFill>
              <a:schemeClr val="accent4"/>
            </a:solidFill>
            <a:prstDash val="solid"/>
          </a:ln>
        </p:spPr>
      </p:sp>
      <p:pic>
        <p:nvPicPr>
          <p:cNvPr id="21" name="Upgrade Production basics icon" descr="preencoded.png">    </p:cNvPr>
          <p:cNvPicPr>
            <a:picLocks noChangeAspect="1"/>
          </p:cNvPicPr>
          <p:nvPr/>
        </p:nvPicPr>
        <p:blipFill>
          <a:blip r:embed="rId3"/>
          <a:stretch>
            <a:fillRect/>
          </a:stretch>
        </p:blipFill>
        <p:spPr>
          <a:xfrm>
            <a:off x="1000719" y="4265127"/>
            <a:ext cx="302849" cy="302849"/>
          </a:xfrm>
          <a:prstGeom prst="rect">
            <a:avLst/>
          </a:prstGeom>
        </p:spPr>
      </p:pic>
      <p:sp>
        <p:nvSpPr>
          <p:cNvPr id="22" name="Text 17"/>
          <p:cNvSpPr txBox="1"/>
          <p:nvPr/>
        </p:nvSpPr>
        <p:spPr>
          <a:xfrm>
            <a:off x="1691640" y="4069080"/>
            <a:ext cx="3291840" cy="685800"/>
          </a:xfrm>
          <a:prstGeom prst="rect">
            <a:avLst/>
          </a:prstGeom>
          <a:noFill/>
          <a:ln/>
        </p:spPr>
        <p:txBody>
          <a:bodyPr wrap="square" lIns="0" tIns="0" rIns="0" bIns="0" rtlCol="0" anchor="ctr"/>
          <a:lstStyle/>
          <a:p>
            <a:pPr indent="0" marL="0">
              <a:buNone/>
            </a:pPr>
            <a:r>
              <a:rPr lang="en-US" sz="1800" b="1" dirty="0">
                <a:solidFill>
                  <a:schemeClr val="tx1"/>
                </a:solidFill>
              </a:rPr>
              <a:t>Production basics</a:t>
            </a:r>
            <a:endParaRPr lang="en-US" sz="1800" dirty="0"/>
          </a:p>
        </p:txBody>
      </p:sp>
      <p:sp>
        <p:nvSpPr>
          <p:cNvPr id="23" name="Tag Production basics"/>
          <p:cNvSpPr/>
          <p:nvPr/>
        </p:nvSpPr>
        <p:spPr>
          <a:xfrm>
            <a:off x="4983480" y="4197096"/>
            <a:ext cx="777240" cy="384048"/>
          </a:xfrm>
          <a:prstGeom prst="roundRect">
            <a:avLst>
              <a:gd name="adj" fmla="val 19048"/>
            </a:avLst>
          </a:prstGeom>
          <a:solidFill>
            <a:schemeClr val="accent4"/>
          </a:solidFill>
          <a:ln w="12700">
            <a:solidFill>
              <a:schemeClr val="accent4"/>
            </a:solidFill>
            <a:prstDash val="solid"/>
          </a:ln>
        </p:spPr>
      </p:sp>
      <p:sp>
        <p:nvSpPr>
          <p:cNvPr id="24" name="Text 19"/>
          <p:cNvSpPr txBox="1"/>
          <p:nvPr/>
        </p:nvSpPr>
        <p:spPr>
          <a:xfrm>
            <a:off x="4983480" y="4197096"/>
            <a:ext cx="777240" cy="384048"/>
          </a:xfrm>
          <a:prstGeom prst="rect">
            <a:avLst/>
          </a:prstGeom>
          <a:noFill/>
          <a:ln/>
        </p:spPr>
        <p:txBody>
          <a:bodyPr wrap="square" lIns="0" tIns="0" rIns="0" bIns="0" rtlCol="0" anchor="ctr"/>
          <a:lstStyle/>
          <a:p>
            <a:pPr algn="ctr" indent="0" marL="0">
              <a:buNone/>
            </a:pPr>
            <a:r>
              <a:rPr lang="en-US" sz="1200" b="1" dirty="0">
                <a:solidFill>
                  <a:schemeClr val="bg1"/>
                </a:solidFill>
              </a:rPr>
              <a:t>P3</a:t>
            </a:r>
            <a:endParaRPr lang="en-US" sz="1200" dirty="0"/>
          </a:p>
        </p:txBody>
      </p:sp>
      <p:sp>
        <p:nvSpPr>
          <p:cNvPr id="25" name="Text 20"/>
          <p:cNvSpPr txBox="1"/>
          <p:nvPr/>
        </p:nvSpPr>
        <p:spPr>
          <a:xfrm>
            <a:off x="822960" y="4864608"/>
            <a:ext cx="4892040" cy="749808"/>
          </a:xfrm>
          <a:prstGeom prst="rect">
            <a:avLst/>
          </a:prstGeom>
          <a:noFill/>
          <a:ln/>
        </p:spPr>
        <p:txBody>
          <a:bodyPr wrap="square" lIns="0" tIns="0" rIns="0" bIns="0" rtlCol="0" anchor="t"/>
          <a:lstStyle/>
          <a:p>
            <a:pPr indent="0" marL="0">
              <a:buNone/>
            </a:pPr>
            <a:r>
              <a:rPr lang="en-US" sz="1400" dirty="0">
                <a:solidFill>
                  <a:schemeClr val="tx1"/>
                </a:solidFill>
              </a:rPr>
              <a:t>Background jobs for study/improve, Postgres, per-tenant rate limits and billing on llm_calls.</a:t>
            </a:r>
            <a:endParaRPr lang="en-US" sz="1400" dirty="0"/>
          </a:p>
        </p:txBody>
      </p:sp>
      <p:sp>
        <p:nvSpPr>
          <p:cNvPr id="26" name="Text 21"/>
          <p:cNvSpPr txBox="1"/>
          <p:nvPr/>
        </p:nvSpPr>
        <p:spPr>
          <a:xfrm>
            <a:off x="822960" y="5614416"/>
            <a:ext cx="489204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api.py, store.py</a:t>
            </a:r>
            <a:endParaRPr lang="en-US" sz="1100" dirty="0"/>
          </a:p>
        </p:txBody>
      </p:sp>
      <p:sp>
        <p:nvSpPr>
          <p:cNvPr id="27" name="Upgrade Better recall + safety"/>
          <p:cNvSpPr/>
          <p:nvPr/>
        </p:nvSpPr>
        <p:spPr>
          <a:xfrm>
            <a:off x="6190488" y="3813048"/>
            <a:ext cx="5440680" cy="2194560"/>
          </a:xfrm>
          <a:prstGeom prst="roundRect">
            <a:avLst>
              <a:gd name="adj" fmla="val 3333"/>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8" name="Upgrade Better recall + safety circle"/>
          <p:cNvSpPr/>
          <p:nvPr/>
        </p:nvSpPr>
        <p:spPr>
          <a:xfrm>
            <a:off x="6464808" y="4087368"/>
            <a:ext cx="658368" cy="658368"/>
          </a:xfrm>
          <a:prstGeom prst="ellipse">
            <a:avLst/>
          </a:prstGeom>
          <a:solidFill>
            <a:schemeClr val="accent4"/>
          </a:solidFill>
          <a:ln w="12700">
            <a:solidFill>
              <a:schemeClr val="accent4"/>
            </a:solidFill>
            <a:prstDash val="solid"/>
          </a:ln>
        </p:spPr>
      </p:sp>
      <p:pic>
        <p:nvPicPr>
          <p:cNvPr id="29" name="Upgrade Better recall + safety icon" descr="preencoded.png">    </p:cNvPr>
          <p:cNvPicPr>
            <a:picLocks noChangeAspect="1"/>
          </p:cNvPicPr>
          <p:nvPr/>
        </p:nvPicPr>
        <p:blipFill>
          <a:blip r:embed="rId4"/>
          <a:stretch>
            <a:fillRect/>
          </a:stretch>
        </p:blipFill>
        <p:spPr>
          <a:xfrm>
            <a:off x="6642567" y="4265127"/>
            <a:ext cx="302849" cy="302849"/>
          </a:xfrm>
          <a:prstGeom prst="rect">
            <a:avLst/>
          </a:prstGeom>
        </p:spPr>
      </p:pic>
      <p:sp>
        <p:nvSpPr>
          <p:cNvPr id="30" name="Text 24"/>
          <p:cNvSpPr txBox="1"/>
          <p:nvPr/>
        </p:nvSpPr>
        <p:spPr>
          <a:xfrm>
            <a:off x="7333488" y="4069080"/>
            <a:ext cx="3291840" cy="685800"/>
          </a:xfrm>
          <a:prstGeom prst="rect">
            <a:avLst/>
          </a:prstGeom>
          <a:noFill/>
          <a:ln/>
        </p:spPr>
        <p:txBody>
          <a:bodyPr wrap="square" lIns="0" tIns="0" rIns="0" bIns="0" rtlCol="0" anchor="ctr"/>
          <a:lstStyle/>
          <a:p>
            <a:pPr indent="0" marL="0">
              <a:buNone/>
            </a:pPr>
            <a:r>
              <a:rPr lang="en-US" sz="1800" b="1" dirty="0">
                <a:solidFill>
                  <a:schemeClr val="tx1"/>
                </a:solidFill>
              </a:rPr>
              <a:t>Better recall + safety</a:t>
            </a:r>
            <a:endParaRPr lang="en-US" sz="1800" dirty="0"/>
          </a:p>
        </p:txBody>
      </p:sp>
      <p:sp>
        <p:nvSpPr>
          <p:cNvPr id="31" name="Tag Better recall + safety"/>
          <p:cNvSpPr/>
          <p:nvPr/>
        </p:nvSpPr>
        <p:spPr>
          <a:xfrm>
            <a:off x="10625328" y="4197096"/>
            <a:ext cx="777240" cy="384048"/>
          </a:xfrm>
          <a:prstGeom prst="roundRect">
            <a:avLst>
              <a:gd name="adj" fmla="val 19048"/>
            </a:avLst>
          </a:prstGeom>
          <a:solidFill>
            <a:schemeClr val="accent4"/>
          </a:solidFill>
          <a:ln w="12700">
            <a:solidFill>
              <a:schemeClr val="accent4"/>
            </a:solidFill>
            <a:prstDash val="solid"/>
          </a:ln>
        </p:spPr>
      </p:sp>
      <p:sp>
        <p:nvSpPr>
          <p:cNvPr id="32" name="Text 26"/>
          <p:cNvSpPr txBox="1"/>
          <p:nvPr/>
        </p:nvSpPr>
        <p:spPr>
          <a:xfrm>
            <a:off x="10625328" y="4197096"/>
            <a:ext cx="777240" cy="384048"/>
          </a:xfrm>
          <a:prstGeom prst="rect">
            <a:avLst/>
          </a:prstGeom>
          <a:noFill/>
          <a:ln/>
        </p:spPr>
        <p:txBody>
          <a:bodyPr wrap="square" lIns="0" tIns="0" rIns="0" bIns="0" rtlCol="0" anchor="ctr"/>
          <a:lstStyle/>
          <a:p>
            <a:pPr algn="ctr" indent="0" marL="0">
              <a:buNone/>
            </a:pPr>
            <a:r>
              <a:rPr lang="en-US" sz="1200" b="1" dirty="0">
                <a:solidFill>
                  <a:schemeClr val="bg1"/>
                </a:solidFill>
              </a:rPr>
              <a:t>P3</a:t>
            </a:r>
            <a:endParaRPr lang="en-US" sz="1200" dirty="0"/>
          </a:p>
        </p:txBody>
      </p:sp>
      <p:sp>
        <p:nvSpPr>
          <p:cNvPr id="33" name="Text 27"/>
          <p:cNvSpPr txBox="1"/>
          <p:nvPr/>
        </p:nvSpPr>
        <p:spPr>
          <a:xfrm>
            <a:off x="6464808" y="4864608"/>
            <a:ext cx="4892040" cy="749808"/>
          </a:xfrm>
          <a:prstGeom prst="rect">
            <a:avLst/>
          </a:prstGeom>
          <a:noFill/>
          <a:ln/>
        </p:spPr>
        <p:txBody>
          <a:bodyPr wrap="square" lIns="0" tIns="0" rIns="0" bIns="0" rtlCol="0" anchor="t"/>
          <a:lstStyle/>
          <a:p>
            <a:pPr indent="0" marL="0">
              <a:buNone/>
            </a:pPr>
            <a:r>
              <a:rPr lang="en-US" sz="1400" dirty="0">
                <a:solidFill>
                  <a:schemeClr val="tx1"/>
                </a:solidFill>
              </a:rPr>
              <a:t>Hybrid keyword + embedding search; a review queue so a bad correction can't silently become a lesson for every task.</a:t>
            </a:r>
            <a:endParaRPr lang="en-US" sz="1400" dirty="0"/>
          </a:p>
        </p:txBody>
      </p:sp>
      <p:sp>
        <p:nvSpPr>
          <p:cNvPr id="34" name="Text 28"/>
          <p:cNvSpPr txBox="1"/>
          <p:nvPr/>
        </p:nvSpPr>
        <p:spPr>
          <a:xfrm>
            <a:off x="6464808" y="5614416"/>
            <a:ext cx="4892040" cy="274320"/>
          </a:xfrm>
          <a:prstGeom prst="rect">
            <a:avLst/>
          </a:prstGeom>
          <a:noFill/>
          <a:ln/>
        </p:spPr>
        <p:txBody>
          <a:bodyPr wrap="square" lIns="0" tIns="0" rIns="0" bIns="0" rtlCol="0" anchor="t"/>
          <a:lstStyle/>
          <a:p>
            <a:pPr indent="0" marL="0">
              <a:buNone/>
            </a:pPr>
            <a:r>
              <a:rPr lang="en-US" sz="1100" dirty="0">
                <a:solidFill>
                  <a:schemeClr val="accent4"/>
                </a:solidFill>
                <a:latin typeface="Courier New" pitchFamily="34" charset="0"/>
                <a:ea typeface="Courier New" pitchFamily="34" charset="-122"/>
                <a:cs typeface="Courier New" pitchFamily="34" charset="-120"/>
              </a:rPr>
              <a:t>search_chunks(), feedback()</a:t>
            </a:r>
            <a:endParaRPr lang="en-US" sz="11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Prove it: an experiment you can run this week</a:t>
            </a:r>
            <a:endParaRPr lang="en-US" sz="3400" dirty="0"/>
          </a:p>
        </p:txBody>
      </p:sp>
      <p:sp>
        <p:nvSpPr>
          <p:cNvPr id="3" name="Text 1"/>
          <p:cNvSpPr txBox="1"/>
          <p:nvPr/>
        </p:nvSpPr>
        <p:spPr>
          <a:xfrm>
            <a:off x="548640" y="1417320"/>
            <a:ext cx="5029200" cy="411480"/>
          </a:xfrm>
          <a:prstGeom prst="rect">
            <a:avLst/>
          </a:prstGeom>
          <a:noFill/>
          <a:ln/>
        </p:spPr>
        <p:txBody>
          <a:bodyPr wrap="square" lIns="0" tIns="0" rIns="0" bIns="0" rtlCol="0" anchor="t"/>
          <a:lstStyle/>
          <a:p>
            <a:pPr indent="0" marL="0">
              <a:buNone/>
            </a:pPr>
            <a:r>
              <a:rPr lang="en-US" sz="2000" b="1" dirty="0">
                <a:solidFill>
                  <a:schemeClr val="tx2"/>
                </a:solidFill>
              </a:rPr>
              <a:t>Protocol</a:t>
            </a:r>
            <a:endParaRPr lang="en-US" sz="2000" dirty="0"/>
          </a:p>
        </p:txBody>
      </p:sp>
      <p:sp>
        <p:nvSpPr>
          <p:cNvPr id="4" name="Protocol 1"/>
          <p:cNvSpPr/>
          <p:nvPr/>
        </p:nvSpPr>
        <p:spPr>
          <a:xfrm>
            <a:off x="548640" y="196596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548640" y="1965960"/>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6" name="Text 4"/>
          <p:cNvSpPr txBox="1"/>
          <p:nvPr/>
        </p:nvSpPr>
        <p:spPr>
          <a:xfrm>
            <a:off x="1234440" y="1920240"/>
            <a:ext cx="4480560" cy="594360"/>
          </a:xfrm>
          <a:prstGeom prst="rect">
            <a:avLst/>
          </a:prstGeom>
          <a:noFill/>
          <a:ln/>
        </p:spPr>
        <p:txBody>
          <a:bodyPr wrap="square" lIns="0" tIns="0" rIns="0" bIns="0" rtlCol="0" anchor="ctr"/>
          <a:lstStyle/>
          <a:p>
            <a:pPr indent="0" marL="0">
              <a:buNone/>
            </a:pPr>
            <a:r>
              <a:rPr lang="en-US" sz="1500" dirty="0">
                <a:solidFill>
                  <a:schemeClr val="tx1"/>
                </a:solidFill>
              </a:rPr>
              <a:t>Freeze 30 hand-checked refund examples: 20 dev, 10 holdout</a:t>
            </a:r>
            <a:endParaRPr lang="en-US" sz="1500" dirty="0"/>
          </a:p>
        </p:txBody>
      </p:sp>
      <p:sp>
        <p:nvSpPr>
          <p:cNvPr id="7" name="Protocol 2"/>
          <p:cNvSpPr/>
          <p:nvPr/>
        </p:nvSpPr>
        <p:spPr>
          <a:xfrm>
            <a:off x="548640" y="2715768"/>
            <a:ext cx="502920" cy="502920"/>
          </a:xfrm>
          <a:prstGeom prst="ellipse">
            <a:avLst/>
          </a:prstGeom>
          <a:solidFill>
            <a:schemeClr val="accent1"/>
          </a:solidFill>
          <a:ln w="12700">
            <a:solidFill>
              <a:schemeClr val="accent1"/>
            </a:solidFill>
            <a:prstDash val="solid"/>
          </a:ln>
        </p:spPr>
      </p:sp>
      <p:sp>
        <p:nvSpPr>
          <p:cNvPr id="8" name="Text 6"/>
          <p:cNvSpPr txBox="1"/>
          <p:nvPr/>
        </p:nvSpPr>
        <p:spPr>
          <a:xfrm>
            <a:off x="548640" y="2715768"/>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9" name="Text 7"/>
          <p:cNvSpPr txBox="1"/>
          <p:nvPr/>
        </p:nvSpPr>
        <p:spPr>
          <a:xfrm>
            <a:off x="1234440" y="2670048"/>
            <a:ext cx="4480560" cy="594360"/>
          </a:xfrm>
          <a:prstGeom prst="rect">
            <a:avLst/>
          </a:prstGeom>
          <a:noFill/>
          <a:ln/>
        </p:spPr>
        <p:txBody>
          <a:bodyPr wrap="square" lIns="0" tIns="0" rIns="0" bIns="0" rtlCol="0" anchor="ctr"/>
          <a:lstStyle/>
          <a:p>
            <a:pPr indent="0" marL="0">
              <a:buNone/>
            </a:pPr>
            <a:r>
              <a:rPr lang="en-US" sz="1500" dirty="0">
                <a:solidFill>
                  <a:schemeClr val="tx1"/>
                </a:solidFill>
              </a:rPr>
              <a:t>Add a checker for DECISION, AMOUNT and ESCALATION</a:t>
            </a:r>
            <a:endParaRPr lang="en-US" sz="1500" dirty="0"/>
          </a:p>
        </p:txBody>
      </p:sp>
      <p:sp>
        <p:nvSpPr>
          <p:cNvPr id="10" name="Protocol 3"/>
          <p:cNvSpPr/>
          <p:nvPr/>
        </p:nvSpPr>
        <p:spPr>
          <a:xfrm>
            <a:off x="548640" y="3465576"/>
            <a:ext cx="502920" cy="502920"/>
          </a:xfrm>
          <a:prstGeom prst="ellipse">
            <a:avLst/>
          </a:prstGeom>
          <a:solidFill>
            <a:schemeClr val="accent1"/>
          </a:solidFill>
          <a:ln w="12700">
            <a:solidFill>
              <a:schemeClr val="accent1"/>
            </a:solidFill>
            <a:prstDash val="solid"/>
          </a:ln>
        </p:spPr>
      </p:sp>
      <p:sp>
        <p:nvSpPr>
          <p:cNvPr id="11" name="Text 9"/>
          <p:cNvSpPr txBox="1"/>
          <p:nvPr/>
        </p:nvSpPr>
        <p:spPr>
          <a:xfrm>
            <a:off x="548640" y="3465576"/>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2" name="Text 10"/>
          <p:cNvSpPr txBox="1"/>
          <p:nvPr/>
        </p:nvSpPr>
        <p:spPr>
          <a:xfrm>
            <a:off x="1234440" y="3419856"/>
            <a:ext cx="4480560" cy="594360"/>
          </a:xfrm>
          <a:prstGeom prst="rect">
            <a:avLst/>
          </a:prstGeom>
          <a:noFill/>
          <a:ln/>
        </p:spPr>
        <p:txBody>
          <a:bodyPr wrap="square" lIns="0" tIns="0" rIns="0" bIns="0" rtlCol="0" anchor="ctr"/>
          <a:lstStyle/>
          <a:p>
            <a:pPr indent="0" marL="0">
              <a:buNone/>
            </a:pPr>
            <a:r>
              <a:rPr lang="en-US" sz="1500" dirty="0">
                <a:solidFill>
                  <a:schemeClr val="tx1"/>
                </a:solidFill>
              </a:rPr>
              <a:t>Run each arm 3 times from an empty database</a:t>
            </a:r>
            <a:endParaRPr lang="en-US" sz="1500" dirty="0"/>
          </a:p>
        </p:txBody>
      </p:sp>
      <p:sp>
        <p:nvSpPr>
          <p:cNvPr id="13" name="Protocol 4"/>
          <p:cNvSpPr/>
          <p:nvPr/>
        </p:nvSpPr>
        <p:spPr>
          <a:xfrm>
            <a:off x="548640" y="4215384"/>
            <a:ext cx="502920" cy="502920"/>
          </a:xfrm>
          <a:prstGeom prst="ellipse">
            <a:avLst/>
          </a:prstGeom>
          <a:solidFill>
            <a:schemeClr val="accent1"/>
          </a:solidFill>
          <a:ln w="12700">
            <a:solidFill>
              <a:schemeClr val="accent1"/>
            </a:solidFill>
            <a:prstDash val="solid"/>
          </a:ln>
        </p:spPr>
      </p:sp>
      <p:sp>
        <p:nvSpPr>
          <p:cNvPr id="14" name="Text 12"/>
          <p:cNvSpPr txBox="1"/>
          <p:nvPr/>
        </p:nvSpPr>
        <p:spPr>
          <a:xfrm>
            <a:off x="548640" y="4215384"/>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15" name="Text 13"/>
          <p:cNvSpPr txBox="1"/>
          <p:nvPr/>
        </p:nvSpPr>
        <p:spPr>
          <a:xfrm>
            <a:off x="1234440" y="4169664"/>
            <a:ext cx="4480560" cy="594360"/>
          </a:xfrm>
          <a:prstGeom prst="rect">
            <a:avLst/>
          </a:prstGeom>
          <a:noFill/>
          <a:ln/>
        </p:spPr>
        <p:txBody>
          <a:bodyPr wrap="square" lIns="0" tIns="0" rIns="0" bIns="0" rtlCol="0" anchor="ctr"/>
          <a:lstStyle/>
          <a:p>
            <a:pPr indent="0" marL="0">
              <a:buNone/>
            </a:pPr>
            <a:r>
              <a:rPr lang="en-US" sz="1500" dirty="0">
                <a:solidFill>
                  <a:schemeClr val="tx1"/>
                </a:solidFill>
              </a:rPr>
              <a:t>Report holdout mean ± 95% CI per arm</a:t>
            </a:r>
            <a:endParaRPr lang="en-US" sz="1500" dirty="0"/>
          </a:p>
        </p:txBody>
      </p:sp>
      <p:sp>
        <p:nvSpPr>
          <p:cNvPr id="16" name="Protocol 5"/>
          <p:cNvSpPr/>
          <p:nvPr/>
        </p:nvSpPr>
        <p:spPr>
          <a:xfrm>
            <a:off x="548640" y="4965192"/>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548640" y="4965192"/>
            <a:ext cx="502920" cy="50292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18" name="Text 16"/>
          <p:cNvSpPr txBox="1"/>
          <p:nvPr/>
        </p:nvSpPr>
        <p:spPr>
          <a:xfrm>
            <a:off x="1234440" y="4919472"/>
            <a:ext cx="4480560" cy="594360"/>
          </a:xfrm>
          <a:prstGeom prst="rect">
            <a:avLst/>
          </a:prstGeom>
          <a:noFill/>
          <a:ln/>
        </p:spPr>
        <p:txBody>
          <a:bodyPr wrap="square" lIns="0" tIns="0" rIns="0" bIns="0" rtlCol="0" anchor="ctr"/>
          <a:lstStyle/>
          <a:p>
            <a:pPr indent="0" marL="0">
              <a:buNone/>
            </a:pPr>
            <a:r>
              <a:rPr lang="en-US" sz="1500" dirty="0">
                <a:solidFill>
                  <a:schemeClr val="tx1"/>
                </a:solidFill>
              </a:rPr>
              <a:t>Claim improvement only if the CIs don't overlap</a:t>
            </a:r>
            <a:endParaRPr lang="en-US" sz="1500" dirty="0"/>
          </a:p>
        </p:txBody>
      </p:sp>
      <p:sp>
        <p:nvSpPr>
          <p:cNvPr id="19" name="Text 17"/>
          <p:cNvSpPr txBox="1"/>
          <p:nvPr/>
        </p:nvSpPr>
        <p:spPr>
          <a:xfrm>
            <a:off x="6263640" y="1417320"/>
            <a:ext cx="5303520" cy="411480"/>
          </a:xfrm>
          <a:prstGeom prst="rect">
            <a:avLst/>
          </a:prstGeom>
          <a:noFill/>
          <a:ln/>
        </p:spPr>
        <p:txBody>
          <a:bodyPr wrap="square" lIns="0" tIns="0" rIns="0" bIns="0" rtlCol="0" anchor="t"/>
          <a:lstStyle/>
          <a:p>
            <a:pPr indent="0" marL="0">
              <a:buNone/>
            </a:pPr>
            <a:r>
              <a:rPr lang="en-US" sz="2000" b="1" dirty="0">
                <a:solidFill>
                  <a:schemeClr val="tx2"/>
                </a:solidFill>
              </a:rPr>
              <a:t>Four arms (an ablation)</a:t>
            </a:r>
            <a:endParaRPr lang="en-US" sz="2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263640" y="1965960"/>
          <a:ext cx="5376672" cy="914400"/>
        </p:xfrm>
        <a:graphic>
          <a:graphicData uri="http://schemas.openxmlformats.org/drawingml/2006/table">
            <a:tbl>
              <a:tblPr/>
              <a:tblGrid>
                <a:gridCol w="640080"/>
                <a:gridCol w="914400"/>
                <a:gridCol w="1005840"/>
                <a:gridCol w="2816352"/>
              </a:tblGrid>
              <a:tr h="502920">
                <a:tc>
                  <a:txBody>
                    <a:bodyPr/>
                    <a:lstStyle/>
                    <a:p>
                      <a:pPr indent="0" marL="0">
                        <a:buNone/>
                      </a:pPr>
                      <a:r>
                        <a:rPr lang="en-US" sz="1400" b="1" dirty="0">
                          <a:solidFill>
                            <a:schemeClr val="bg1"/>
                          </a:solidFill>
                        </a:rPr>
                        <a:t>Arm</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Lessons</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Playbook</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Answers the question</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tx2"/>
                    </a:solidFill>
                  </a:tcPr>
                </a:tc>
              </a:tr>
              <a:tr h="502920">
                <a:tc>
                  <a:txBody>
                    <a:bodyPr/>
                    <a:lstStyle/>
                    <a:p>
                      <a:pPr indent="0" marL="0">
                        <a:buNone/>
                      </a:pPr>
                      <a:r>
                        <a:rPr lang="en-US" sz="1400" dirty="0">
                          <a:solidFill>
                            <a:schemeClr val="tx1"/>
                          </a:solidFill>
                        </a:rPr>
                        <a:t>A</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off</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off</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How good is the bare model + docs?</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B</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off</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Do lessons help?</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C</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off</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Does the playbook help?</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D</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Do they add up, or clash?</a:t>
                      </a:r>
                      <a:endParaRPr lang="en-US" sz="1400" dirty="0"/>
                    </a:p>
                  </a:txBody>
                  <a:tcPr marL="73152" marR="73152" marT="73152" marB="73152">
                    <a:lnL w="9525" cap="flat" cmpd="sng" algn="ctr">
                      <a:solidFill>
                        <a:srgbClr val="D5DAE1"/>
                      </a:solidFill>
                      <a:prstDash val="solid"/>
                      <a:round/>
                      <a:headEnd type="none" w="med" len="med"/>
                      <a:tailEnd type="none" w="med" len="med"/>
                    </a:lnL>
                    <a:lnR w="9525" cap="flat" cmpd="sng" algn="ctr">
                      <a:solidFill>
                        <a:srgbClr val="D5DAE1"/>
                      </a:solidFill>
                      <a:prstDash val="solid"/>
                      <a:round/>
                      <a:headEnd type="none" w="med" len="med"/>
                      <a:tailEnd type="none" w="med" len="med"/>
                    </a:lnR>
                    <a:lnT w="9525" cap="flat" cmpd="sng" algn="ctr">
                      <a:solidFill>
                        <a:srgbClr val="D5DAE1"/>
                      </a:solidFill>
                      <a:prstDash val="solid"/>
                      <a:round/>
                      <a:headEnd type="none" w="med" len="med"/>
                      <a:tailEnd type="none" w="med" len="med"/>
                    </a:lnT>
                    <a:lnB w="9525" cap="flat" cmpd="sng" algn="ctr">
                      <a:solidFill>
                        <a:srgbClr val="D5DAE1"/>
                      </a:solidFill>
                      <a:prstDash val="solid"/>
                      <a:round/>
                      <a:headEnd type="none" w="med" len="med"/>
                      <a:tailEnd type="none" w="med" len="med"/>
                    </a:lnB>
                    <a:solidFill>
                      <a:schemeClr val="bg1"/>
                    </a:solidFill>
                  </a:tcPr>
                </a:tc>
              </a:tr>
            </a:tbl>
          </a:graphicData>
        </a:graphic>
      </p:graphicFrame>
      <p:sp>
        <p:nvSpPr>
          <p:cNvPr id="21" name="Cost card"/>
          <p:cNvSpPr/>
          <p:nvPr/>
        </p:nvSpPr>
        <p:spPr>
          <a:xfrm>
            <a:off x="6263640" y="4800600"/>
            <a:ext cx="5376672"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6446520" y="4800600"/>
            <a:ext cx="5029200" cy="1051560"/>
          </a:xfrm>
          <a:prstGeom prst="rect">
            <a:avLst/>
          </a:prstGeom>
          <a:noFill/>
          <a:ln/>
        </p:spPr>
        <p:txBody>
          <a:bodyPr wrap="square" lIns="0" tIns="0" rIns="0" bIns="0" rtlCol="0" anchor="ctr"/>
          <a:lstStyle/>
          <a:p>
            <a:pPr indent="0" marL="0">
              <a:buNone/>
            </a:pPr>
            <a:r>
              <a:rPr lang="en-US" sz="1400" dirty="0">
                <a:solidFill>
                  <a:schemeClr val="accent4"/>
                </a:solidFill>
              </a:rPr>
              <a:t>Cost estimate: 4 arms × 3 runs × ~80 calls ≈ 1,000 free-tier calls. Spread it over 2–3 days of rate limits.</a:t>
            </a:r>
            <a:endParaRPr lang="en-US" sz="14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400" b="1" dirty="0">
                <a:solidFill>
                  <a:schemeClr val="tx1"/>
                </a:solidFill>
              </a:rPr>
              <a:t>Glossary</a:t>
            </a:r>
            <a:endParaRPr lang="en-US" sz="3400" dirty="0"/>
          </a:p>
        </p:txBody>
      </p:sp>
      <p:sp>
        <p:nvSpPr>
          <p:cNvPr id="3" name="Text 1"/>
          <p:cNvSpPr txBox="1"/>
          <p:nvPr/>
        </p:nvSpPr>
        <p:spPr>
          <a:xfrm>
            <a:off x="548640" y="1463040"/>
            <a:ext cx="1828800" cy="914400"/>
          </a:xfrm>
          <a:prstGeom prst="rect">
            <a:avLst/>
          </a:prstGeom>
          <a:noFill/>
          <a:ln/>
        </p:spPr>
        <p:txBody>
          <a:bodyPr wrap="square" lIns="0" tIns="0" rIns="0" bIns="0" rtlCol="0" anchor="ctr"/>
          <a:lstStyle/>
          <a:p>
            <a:pPr indent="0" marL="0">
              <a:buNone/>
            </a:pPr>
            <a:r>
              <a:rPr lang="en-US" sz="1700" b="1" dirty="0">
                <a:solidFill>
                  <a:schemeClr val="accent1"/>
                </a:solidFill>
              </a:rPr>
              <a:t>Episode</a:t>
            </a:r>
            <a:endParaRPr lang="en-US" sz="1700" dirty="0"/>
          </a:p>
        </p:txBody>
      </p:sp>
      <p:sp>
        <p:nvSpPr>
          <p:cNvPr id="4" name="Text 2"/>
          <p:cNvSpPr txBox="1"/>
          <p:nvPr/>
        </p:nvSpPr>
        <p:spPr>
          <a:xfrm>
            <a:off x="2423160" y="1463040"/>
            <a:ext cx="3566160" cy="914400"/>
          </a:xfrm>
          <a:prstGeom prst="rect">
            <a:avLst/>
          </a:prstGeom>
          <a:noFill/>
          <a:ln/>
        </p:spPr>
        <p:txBody>
          <a:bodyPr wrap="square" lIns="0" tIns="0" rIns="0" bIns="0" rtlCol="0" anchor="ctr"/>
          <a:lstStyle/>
          <a:p>
            <a:pPr indent="0" marL="0">
              <a:buNone/>
            </a:pPr>
            <a:r>
              <a:rPr lang="en-US" sz="1500" dirty="0">
                <a:solidFill>
                  <a:schemeClr val="tx1"/>
                </a:solidFill>
              </a:rPr>
              <a:t>one /run: task, answer, score, critique, lessons used</a:t>
            </a:r>
            <a:endParaRPr lang="en-US" sz="1500" dirty="0"/>
          </a:p>
        </p:txBody>
      </p:sp>
      <p:sp>
        <p:nvSpPr>
          <p:cNvPr id="5" name="Text 3"/>
          <p:cNvSpPr txBox="1"/>
          <p:nvPr/>
        </p:nvSpPr>
        <p:spPr>
          <a:xfrm>
            <a:off x="6190488" y="1463040"/>
            <a:ext cx="1828800" cy="914400"/>
          </a:xfrm>
          <a:prstGeom prst="rect">
            <a:avLst/>
          </a:prstGeom>
          <a:noFill/>
          <a:ln/>
        </p:spPr>
        <p:txBody>
          <a:bodyPr wrap="square" lIns="0" tIns="0" rIns="0" bIns="0" rtlCol="0" anchor="ctr"/>
          <a:lstStyle/>
          <a:p>
            <a:pPr indent="0" marL="0">
              <a:buNone/>
            </a:pPr>
            <a:r>
              <a:rPr lang="en-US" sz="1700" b="1" dirty="0">
                <a:solidFill>
                  <a:schemeClr val="accent1"/>
                </a:solidFill>
              </a:rPr>
              <a:t>Lesson</a:t>
            </a:r>
            <a:endParaRPr lang="en-US" sz="1700" dirty="0"/>
          </a:p>
        </p:txBody>
      </p:sp>
      <p:sp>
        <p:nvSpPr>
          <p:cNvPr id="6" name="Text 4"/>
          <p:cNvSpPr txBox="1"/>
          <p:nvPr/>
        </p:nvSpPr>
        <p:spPr>
          <a:xfrm>
            <a:off x="8065008" y="1463040"/>
            <a:ext cx="3566160" cy="914400"/>
          </a:xfrm>
          <a:prstGeom prst="rect">
            <a:avLst/>
          </a:prstGeom>
          <a:noFill/>
          <a:ln/>
        </p:spPr>
        <p:txBody>
          <a:bodyPr wrap="square" lIns="0" tIns="0" rIns="0" bIns="0" rtlCol="0" anchor="ctr"/>
          <a:lstStyle/>
          <a:p>
            <a:pPr indent="0" marL="0">
              <a:buNone/>
            </a:pPr>
            <a:r>
              <a:rPr lang="en-US" sz="1500" dirty="0">
                <a:solidFill>
                  <a:schemeClr val="tx1"/>
                </a:solidFill>
              </a:rPr>
              <a:t>a ≤ 30-word rule distilled from an episode or feedback</a:t>
            </a:r>
            <a:endParaRPr lang="en-US" sz="1500" dirty="0"/>
          </a:p>
        </p:txBody>
      </p:sp>
      <p:sp>
        <p:nvSpPr>
          <p:cNvPr id="7" name="Text 5"/>
          <p:cNvSpPr txBox="1"/>
          <p:nvPr/>
        </p:nvSpPr>
        <p:spPr>
          <a:xfrm>
            <a:off x="548640" y="2560320"/>
            <a:ext cx="1828800" cy="914400"/>
          </a:xfrm>
          <a:prstGeom prst="rect">
            <a:avLst/>
          </a:prstGeom>
          <a:noFill/>
          <a:ln/>
        </p:spPr>
        <p:txBody>
          <a:bodyPr wrap="square" lIns="0" tIns="0" rIns="0" bIns="0" rtlCol="0" anchor="ctr"/>
          <a:lstStyle/>
          <a:p>
            <a:pPr indent="0" marL="0">
              <a:buNone/>
            </a:pPr>
            <a:r>
              <a:rPr lang="en-US" sz="1700" b="1" dirty="0">
                <a:solidFill>
                  <a:schemeClr val="accent1"/>
                </a:solidFill>
              </a:rPr>
              <a:t>Utility</a:t>
            </a:r>
            <a:endParaRPr lang="en-US" sz="1700" dirty="0"/>
          </a:p>
        </p:txBody>
      </p:sp>
      <p:sp>
        <p:nvSpPr>
          <p:cNvPr id="8" name="Text 6"/>
          <p:cNvSpPr txBox="1"/>
          <p:nvPr/>
        </p:nvSpPr>
        <p:spPr>
          <a:xfrm>
            <a:off x="2423160" y="2560320"/>
            <a:ext cx="3566160" cy="914400"/>
          </a:xfrm>
          <a:prstGeom prst="rect">
            <a:avLst/>
          </a:prstGeom>
          <a:noFill/>
          <a:ln/>
        </p:spPr>
        <p:txBody>
          <a:bodyPr wrap="square" lIns="0" tIns="0" rIns="0" bIns="0" rtlCol="0" anchor="ctr"/>
          <a:lstStyle/>
          <a:p>
            <a:pPr indent="0" marL="0">
              <a:buNone/>
            </a:pPr>
            <a:r>
              <a:rPr lang="en-US" sz="1500" dirty="0">
                <a:solidFill>
                  <a:schemeClr val="tx1"/>
                </a:solidFill>
              </a:rPr>
              <a:t>a lesson's smoothed average score; decides rank and retirement</a:t>
            </a:r>
            <a:endParaRPr lang="en-US" sz="1500" dirty="0"/>
          </a:p>
        </p:txBody>
      </p:sp>
      <p:sp>
        <p:nvSpPr>
          <p:cNvPr id="9" name="Text 7"/>
          <p:cNvSpPr txBox="1"/>
          <p:nvPr/>
        </p:nvSpPr>
        <p:spPr>
          <a:xfrm>
            <a:off x="6190488" y="2560320"/>
            <a:ext cx="1828800" cy="914400"/>
          </a:xfrm>
          <a:prstGeom prst="rect">
            <a:avLst/>
          </a:prstGeom>
          <a:noFill/>
          <a:ln/>
        </p:spPr>
        <p:txBody>
          <a:bodyPr wrap="square" lIns="0" tIns="0" rIns="0" bIns="0" rtlCol="0" anchor="ctr"/>
          <a:lstStyle/>
          <a:p>
            <a:pPr indent="0" marL="0">
              <a:buNone/>
            </a:pPr>
            <a:r>
              <a:rPr lang="en-US" sz="1700" b="1" dirty="0">
                <a:solidFill>
                  <a:schemeClr val="accent1"/>
                </a:solidFill>
              </a:rPr>
              <a:t>Playbook</a:t>
            </a:r>
            <a:endParaRPr lang="en-US" sz="1700" dirty="0"/>
          </a:p>
        </p:txBody>
      </p:sp>
      <p:sp>
        <p:nvSpPr>
          <p:cNvPr id="10" name="Text 8"/>
          <p:cNvSpPr txBox="1"/>
          <p:nvPr/>
        </p:nvSpPr>
        <p:spPr>
          <a:xfrm>
            <a:off x="8065008" y="2560320"/>
            <a:ext cx="3566160" cy="914400"/>
          </a:xfrm>
          <a:prstGeom prst="rect">
            <a:avLst/>
          </a:prstGeom>
          <a:noFill/>
          <a:ln/>
        </p:spPr>
        <p:txBody>
          <a:bodyPr wrap="square" lIns="0" tIns="0" rIns="0" bIns="0" rtlCol="0" anchor="ctr"/>
          <a:lstStyle/>
          <a:p>
            <a:pPr indent="0" marL="0">
              <a:buNone/>
            </a:pPr>
            <a:r>
              <a:rPr lang="en-US" sz="1500" dirty="0">
                <a:solidFill>
                  <a:schemeClr val="tx1"/>
                </a:solidFill>
              </a:rPr>
              <a:t>the agent's strategy prompt, versioned, rewritten by improve()</a:t>
            </a:r>
            <a:endParaRPr lang="en-US" sz="1500" dirty="0"/>
          </a:p>
        </p:txBody>
      </p:sp>
      <p:sp>
        <p:nvSpPr>
          <p:cNvPr id="11" name="Text 9"/>
          <p:cNvSpPr txBox="1"/>
          <p:nvPr/>
        </p:nvSpPr>
        <p:spPr>
          <a:xfrm>
            <a:off x="548640" y="3657600"/>
            <a:ext cx="1828800" cy="914400"/>
          </a:xfrm>
          <a:prstGeom prst="rect">
            <a:avLst/>
          </a:prstGeom>
          <a:noFill/>
          <a:ln/>
        </p:spPr>
        <p:txBody>
          <a:bodyPr wrap="square" lIns="0" tIns="0" rIns="0" bIns="0" rtlCol="0" anchor="ctr"/>
          <a:lstStyle/>
          <a:p>
            <a:pPr indent="0" marL="0">
              <a:buNone/>
            </a:pPr>
            <a:r>
              <a:rPr lang="en-US" sz="1700" b="1" dirty="0">
                <a:solidFill>
                  <a:schemeClr val="accent1"/>
                </a:solidFill>
              </a:rPr>
              <a:t>Eval example</a:t>
            </a:r>
            <a:endParaRPr lang="en-US" sz="1700" dirty="0"/>
          </a:p>
        </p:txBody>
      </p:sp>
      <p:sp>
        <p:nvSpPr>
          <p:cNvPr id="12" name="Text 10"/>
          <p:cNvSpPr txBox="1"/>
          <p:nvPr/>
        </p:nvSpPr>
        <p:spPr>
          <a:xfrm>
            <a:off x="2423160" y="3657600"/>
            <a:ext cx="3566160" cy="914400"/>
          </a:xfrm>
          <a:prstGeom prst="rect">
            <a:avLst/>
          </a:prstGeom>
          <a:noFill/>
          <a:ln/>
        </p:spPr>
        <p:txBody>
          <a:bodyPr wrap="square" lIns="0" tIns="0" rIns="0" bIns="0" rtlCol="0" anchor="ctr"/>
          <a:lstStyle/>
          <a:p>
            <a:pPr indent="0" marL="0">
              <a:buNone/>
            </a:pPr>
            <a:r>
              <a:rPr lang="en-US" sz="1500" dirty="0">
                <a:solidFill>
                  <a:schemeClr val="tx1"/>
                </a:solidFill>
              </a:rPr>
              <a:t>input + expected answer; from user, feedback or study</a:t>
            </a:r>
            <a:endParaRPr lang="en-US" sz="1500" dirty="0"/>
          </a:p>
        </p:txBody>
      </p:sp>
      <p:sp>
        <p:nvSpPr>
          <p:cNvPr id="13" name="Text 11"/>
          <p:cNvSpPr txBox="1"/>
          <p:nvPr/>
        </p:nvSpPr>
        <p:spPr>
          <a:xfrm>
            <a:off x="6190488" y="3657600"/>
            <a:ext cx="1828800" cy="914400"/>
          </a:xfrm>
          <a:prstGeom prst="rect">
            <a:avLst/>
          </a:prstGeom>
          <a:noFill/>
          <a:ln/>
        </p:spPr>
        <p:txBody>
          <a:bodyPr wrap="square" lIns="0" tIns="0" rIns="0" bIns="0" rtlCol="0" anchor="ctr"/>
          <a:lstStyle/>
          <a:p>
            <a:pPr indent="0" marL="0">
              <a:buNone/>
            </a:pPr>
            <a:r>
              <a:rPr lang="en-US" sz="1700" b="1" dirty="0">
                <a:solidFill>
                  <a:schemeClr val="accent1"/>
                </a:solidFill>
              </a:rPr>
              <a:t>Trial</a:t>
            </a:r>
            <a:endParaRPr lang="en-US" sz="1700" dirty="0"/>
          </a:p>
        </p:txBody>
      </p:sp>
      <p:sp>
        <p:nvSpPr>
          <p:cNvPr id="14" name="Text 12"/>
          <p:cNvSpPr txBox="1"/>
          <p:nvPr/>
        </p:nvSpPr>
        <p:spPr>
          <a:xfrm>
            <a:off x="8065008" y="3657600"/>
            <a:ext cx="3566160" cy="914400"/>
          </a:xfrm>
          <a:prstGeom prst="rect">
            <a:avLst/>
          </a:prstGeom>
          <a:noFill/>
          <a:ln/>
        </p:spPr>
        <p:txBody>
          <a:bodyPr wrap="square" lIns="0" tIns="0" rIns="0" bIns="0" rtlCol="0" anchor="ctr"/>
          <a:lstStyle/>
          <a:p>
            <a:pPr indent="0" marL="0">
              <a:buNone/>
            </a:pPr>
            <a:r>
              <a:rPr lang="en-US" sz="1500" dirty="0">
                <a:solidFill>
                  <a:schemeClr val="tx1"/>
                </a:solidFill>
              </a:rPr>
              <a:t>one answer to one example; trials are averaged to cut noise</a:t>
            </a:r>
            <a:endParaRPr lang="en-US" sz="1500" dirty="0"/>
          </a:p>
        </p:txBody>
      </p:sp>
      <p:sp>
        <p:nvSpPr>
          <p:cNvPr id="15" name="Text 13"/>
          <p:cNvSpPr txBox="1"/>
          <p:nvPr/>
        </p:nvSpPr>
        <p:spPr>
          <a:xfrm>
            <a:off x="548640" y="4754880"/>
            <a:ext cx="1828800" cy="914400"/>
          </a:xfrm>
          <a:prstGeom prst="rect">
            <a:avLst/>
          </a:prstGeom>
          <a:noFill/>
          <a:ln/>
        </p:spPr>
        <p:txBody>
          <a:bodyPr wrap="square" lIns="0" tIns="0" rIns="0" bIns="0" rtlCol="0" anchor="ctr"/>
          <a:lstStyle/>
          <a:p>
            <a:pPr indent="0" marL="0">
              <a:buNone/>
            </a:pPr>
            <a:r>
              <a:rPr lang="en-US" sz="1700" b="1" dirty="0">
                <a:solidFill>
                  <a:schemeClr val="accent1"/>
                </a:solidFill>
              </a:rPr>
              <a:t>Standard error</a:t>
            </a:r>
            <a:endParaRPr lang="en-US" sz="1700" dirty="0"/>
          </a:p>
        </p:txBody>
      </p:sp>
      <p:sp>
        <p:nvSpPr>
          <p:cNvPr id="16" name="Text 14"/>
          <p:cNvSpPr txBox="1"/>
          <p:nvPr/>
        </p:nvSpPr>
        <p:spPr>
          <a:xfrm>
            <a:off x="2423160" y="4754880"/>
            <a:ext cx="3566160" cy="914400"/>
          </a:xfrm>
          <a:prstGeom prst="rect">
            <a:avLst/>
          </a:prstGeom>
          <a:noFill/>
          <a:ln/>
        </p:spPr>
        <p:txBody>
          <a:bodyPr wrap="square" lIns="0" tIns="0" rIns="0" bIns="0" rtlCol="0" anchor="ctr"/>
          <a:lstStyle/>
          <a:p>
            <a:pPr indent="0" marL="0">
              <a:buNone/>
            </a:pPr>
            <a:r>
              <a:rPr lang="en-US" sz="1500" dirty="0">
                <a:solidFill>
                  <a:schemeClr val="tx1"/>
                </a:solidFill>
              </a:rPr>
              <a:t>how much an average would bounce if you re-ran it</a:t>
            </a:r>
            <a:endParaRPr lang="en-US" sz="1500" dirty="0"/>
          </a:p>
        </p:txBody>
      </p:sp>
      <p:sp>
        <p:nvSpPr>
          <p:cNvPr id="17" name="Text 15"/>
          <p:cNvSpPr txBox="1"/>
          <p:nvPr/>
        </p:nvSpPr>
        <p:spPr>
          <a:xfrm>
            <a:off x="6190488" y="4754880"/>
            <a:ext cx="1828800" cy="914400"/>
          </a:xfrm>
          <a:prstGeom prst="rect">
            <a:avLst/>
          </a:prstGeom>
          <a:noFill/>
          <a:ln/>
        </p:spPr>
        <p:txBody>
          <a:bodyPr wrap="square" lIns="0" tIns="0" rIns="0" bIns="0" rtlCol="0" anchor="ctr"/>
          <a:lstStyle/>
          <a:p>
            <a:pPr indent="0" marL="0">
              <a:buNone/>
            </a:pPr>
            <a:r>
              <a:rPr lang="en-US" sz="1700" b="1" dirty="0">
                <a:solidFill>
                  <a:schemeClr val="accent1"/>
                </a:solidFill>
              </a:rPr>
              <a:t>Holdout set</a:t>
            </a:r>
            <a:endParaRPr lang="en-US" sz="1700" dirty="0"/>
          </a:p>
        </p:txBody>
      </p:sp>
      <p:sp>
        <p:nvSpPr>
          <p:cNvPr id="18" name="Text 16"/>
          <p:cNvSpPr txBox="1"/>
          <p:nvPr/>
        </p:nvSpPr>
        <p:spPr>
          <a:xfrm>
            <a:off x="8065008" y="4754880"/>
            <a:ext cx="3566160" cy="914400"/>
          </a:xfrm>
          <a:prstGeom prst="rect">
            <a:avLst/>
          </a:prstGeom>
          <a:noFill/>
          <a:ln/>
        </p:spPr>
        <p:txBody>
          <a:bodyPr wrap="square" lIns="0" tIns="0" rIns="0" bIns="0" rtlCol="0" anchor="ctr"/>
          <a:lstStyle/>
          <a:p>
            <a:pPr indent="0" marL="0">
              <a:buNone/>
            </a:pPr>
            <a:r>
              <a:rPr lang="en-US" sz="1500" dirty="0">
                <a:solidFill>
                  <a:schemeClr val="tx1"/>
                </a:solidFill>
              </a:rPr>
              <a:t>examples kept hidden from tuning, used only to confirm a gain</a:t>
            </a:r>
            <a:endParaRPr lang="en-US" sz="1500" dirty="0"/>
          </a:p>
        </p:txBody>
      </p:sp>
      <p:sp>
        <p:nvSpPr>
          <p:cNvPr id="25" name="Slide Number Placeholder 0"/>
          <p:cNvSpPr>
            <a:spLocks noGrp="1"/>
          </p:cNvSpPr>
          <p:nvPr>
            <p:ph type="sldNum" sz="quarter" idx="4294967295"/>
          </p:nvPr>
        </p:nvSpPr>
        <p:spPr>
          <a:xfrm>
            <a:off x="11185855"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7680960" cy="1737360"/>
          </a:xfrm>
          <a:prstGeom prst="rect">
            <a:avLst/>
          </a:prstGeom>
          <a:noFill/>
          <a:ln/>
        </p:spPr>
        <p:txBody>
          <a:bodyPr wrap="square" lIns="0" tIns="0" rIns="0" bIns="0" rtlCol="0" anchor="b"/>
          <a:lstStyle/>
          <a:p>
            <a:pPr algn="l" indent="0" marL="0">
              <a:buNone/>
            </a:pPr>
            <a:r>
              <a:rPr lang="en-US" sz="4400" b="1" dirty="0">
                <a:solidFill>
                  <a:schemeClr val="bg1"/>
                </a:solidFill>
              </a:rPr>
              <a:t>The main idea</a:t>
            </a:r>
            <a:endParaRPr lang="en-US" sz="4400" dirty="0"/>
          </a:p>
        </p:txBody>
      </p:sp>
      <p:sp>
        <p:nvSpPr>
          <p:cNvPr id="3" name="Text 0"/>
          <p:cNvSpPr/>
          <p:nvPr>
            <p:ph idx="101" type="body" hasCustomPrompt="1"/>
          </p:nvPr>
        </p:nvSpPr>
        <p:spPr>
          <a:xfrm>
            <a:off x="548640" y="3931920"/>
            <a:ext cx="7315200" cy="1005840"/>
          </a:xfrm>
          <a:prstGeom prst="rect">
            <a:avLst/>
          </a:prstGeom>
          <a:noFill/>
          <a:ln/>
        </p:spPr>
        <p:txBody>
          <a:bodyPr wrap="square" lIns="0" tIns="0" rIns="0" bIns="0" rtlCol="0" anchor="t"/>
          <a:lstStyle/>
          <a:p>
            <a:pPr algn="l" indent="0" marL="0">
              <a:buNone/>
            </a:pPr>
            <a:r>
              <a:rPr lang="en-US" sz="2000" dirty="0">
                <a:solidFill>
                  <a:schemeClr val="accent5"/>
                </a:solidFill>
              </a:rPr>
              <a:t>SIA's learning machinery works. Its measuring stick doesn't yet. Fix grading and evaluation before adding features.</a:t>
            </a:r>
            <a:endParaRPr lang="en-US" sz="2000" dirty="0"/>
          </a:p>
        </p:txBody>
      </p:sp>
      <p:sp>
        <p:nvSpPr>
          <p:cNvPr id="4" name="Text 2"/>
          <p:cNvSpPr txBox="1"/>
          <p:nvPr/>
        </p:nvSpPr>
        <p:spPr>
          <a:xfrm>
            <a:off x="8503920" y="2011680"/>
            <a:ext cx="3200400" cy="457200"/>
          </a:xfrm>
          <a:prstGeom prst="rect">
            <a:avLst/>
          </a:prstGeom>
          <a:noFill/>
          <a:ln/>
        </p:spPr>
        <p:txBody>
          <a:bodyPr wrap="square" lIns="0" tIns="0" rIns="0" bIns="0" rtlCol="0" anchor="t"/>
          <a:lstStyle/>
          <a:p>
            <a:pPr indent="0" marL="0">
              <a:buNone/>
            </a:pPr>
            <a:r>
              <a:rPr lang="en-US" sz="1800" b="1" dirty="0">
                <a:solidFill>
                  <a:schemeClr val="accent1"/>
                </a:solidFill>
              </a:rPr>
              <a:t>This week</a:t>
            </a:r>
            <a:endParaRPr lang="en-US" sz="1800" dirty="0"/>
          </a:p>
        </p:txBody>
      </p:sp>
      <p:sp>
        <p:nvSpPr>
          <p:cNvPr id="5" name="Text 3"/>
          <p:cNvSpPr txBox="1"/>
          <p:nvPr/>
        </p:nvSpPr>
        <p:spPr>
          <a:xfrm>
            <a:off x="8503920" y="2560320"/>
            <a:ext cx="3200400" cy="2926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Add a checker for the refund format and amount</a:t>
            </a:r>
            <a:endParaRPr lang="en-US" sz="1500" dirty="0"/>
          </a:p>
          <a:p>
            <a:pPr marL="342900" indent="-342900">
              <a:spcAft>
                <a:spcPts val="800"/>
              </a:spcAft>
              <a:buSzPct val="100000"/>
              <a:buChar char="•"/>
            </a:pPr>
            <a:r>
              <a:rPr lang="en-US" sz="1500" dirty="0">
                <a:solidFill>
                  <a:schemeClr val="bg1"/>
                </a:solidFill>
              </a:rPr>
              <a:t>Grow to 30 examples: 20 dev / 10 holdout</a:t>
            </a:r>
            <a:endParaRPr lang="en-US" sz="1500" dirty="0"/>
          </a:p>
          <a:p>
            <a:pPr marL="342900" indent="-342900">
              <a:spcAft>
                <a:spcPts val="800"/>
              </a:spcAft>
              <a:buSzPct val="100000"/>
              <a:buChar char="•"/>
            </a:pPr>
            <a:r>
              <a:rPr lang="en-US" sz="1500" dirty="0">
                <a:solidFill>
                  <a:schemeClr val="bg1"/>
                </a:solidFill>
              </a:rPr>
              <a:t>Run the 4-arm ablation, 3 seeds each</a:t>
            </a:r>
            <a:endParaRPr lang="en-US" sz="1500" dirty="0"/>
          </a:p>
        </p:txBody>
      </p:sp>
    </p:spTree>
  </p:cSld>
  <p:clrMapOvr>
    <a:masterClrMapping/>
  </p:clrMapOvr>
</p:sld>
</file>

<file path=ppt/theme/theme1.xml><?xml version="1.0" encoding="utf-8"?>
<a:theme xmlns:a="http://schemas.openxmlformats.org/drawingml/2006/main" name="SIA Loop">
  <a:themeElements>
    <a:clrScheme name="SIA Loop">
      <a:dk1>
        <a:srgbClr val="16202E"/>
      </a:dk1>
      <a:lt1>
        <a:srgbClr val="FFFFFF"/>
      </a:lt1>
      <a:dk2>
        <a:srgbClr val="22324D"/>
      </a:dk2>
      <a:lt2>
        <a:srgbClr val="F1F3F6"/>
      </a:lt2>
      <a:accent1>
        <a:srgbClr val="E39B2D"/>
      </a:accent1>
      <a:accent2>
        <a:srgbClr val="1F8A7A"/>
      </a:accent2>
      <a:accent3>
        <a:srgbClr val="C8463D"/>
      </a:accent3>
      <a:accent4>
        <a:srgbClr val="5E6B80"/>
      </a:accent4>
      <a:accent5>
        <a:srgbClr val="9FB7D3"/>
      </a:accent5>
      <a:accent6>
        <a:srgbClr val="F6D9A8"/>
      </a:accent6>
      <a:hlink>
        <a:srgbClr val="1F8A7A"/>
      </a:hlink>
      <a:folHlink>
        <a:srgbClr val="5E6B80"/>
      </a:folHlink>
    </a:clrScheme>
    <a:fontScheme name="SIA Loo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SIA: the Self-Improving Agent API</dc:title>
  <dc:subject>PptxGenJS Presentation</dc:subject>
  <dc:creator>Srijith</dc:creator>
  <cp:lastModifiedBy>Srijith</cp:lastModifiedBy>
  <cp:revision>1</cp:revision>
  <dcterms:created xsi:type="dcterms:W3CDTF">2026-10-20T08:09:23Z</dcterms:created>
  <dcterms:modified xsi:type="dcterms:W3CDTF">2026-10-20T08:09:23Z</dcterms:modified>
</cp:coreProperties>
</file>